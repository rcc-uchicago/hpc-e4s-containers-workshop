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398a703-92ea-7302-115a-24a036fa819b}">
          <p14:sldIdLst>
            <p14:sldId id="256"/>
            <p14:sldId id="257"/>
            <p14:sldId id="258"/>
            <p14:sldId id="259"/>
          </p14:sldIdLst>
        </p14:section>
        <p14:section name="Part 1: Containers on HPC" id="{41486c80-1262-1f73-030a-f81d71440303}">
          <p14:sldIdLst>
            <p14:sldId id="260"/>
            <p14:sldId id="261"/>
            <p14:sldId id="262"/>
            <p14:sldId id="263"/>
            <p14:sldId id="264"/>
            <p14:sldId id="265"/>
          </p14:sldIdLst>
        </p14:section>
        <p14:section name="Part 2: Pull, inspect, run" id="{a41394bb-191d-2784-20a1-6a5ca7cb620f}">
          <p14:sldIdLst>
            <p14:sldId id="266"/>
            <p14:sldId id="267"/>
            <p14:sldId id="268"/>
            <p14:sldId id="269"/>
            <p14:sldId id="270"/>
            <p14:sldId id="271"/>
            <p14:sldId id="272"/>
            <p14:sldId id="273"/>
          </p14:sldIdLst>
        </p14:section>
        <p14:section name="Part 3: e4s-cl and e4s-alc" id="{395e65fc-b548-99c9-e8d8-8180ff2e3ca7}">
          <p14:sldIdLst>
            <p14:sldId id="274"/>
            <p14:sldId id="275"/>
            <p14:sldId id="276"/>
            <p14:sldId id="277"/>
            <p14:sldId id="278"/>
            <p14:sldId id="279"/>
            <p14:sldId id="280"/>
            <p14:sldId id="281"/>
            <p14:sldId id="282"/>
            <p14:sldId id="283"/>
            <p14:sldId id="284"/>
          </p14:sldIdLst>
        </p14:section>
        <p14:section name="Wrap-up" id="{c43ad545-cb8a-4b17-c64c-8be6dfacd8a6}">
          <p14:sldIdLst>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631"/>
                </a:solidFill>
                <a:latin typeface="+mn-lt"/>
              </a:defRPr>
            </a:pPr>
            <a:r>
              <a:rPr sz="1600" b="0" i="0" u="none" strike="noStrike">
                <a:solidFill>
                  <a:srgbClr val="1B2631"/>
                </a:solidFill>
                <a:latin typeface="+mn-lt"/>
              </a:rPr>
              <a:t>8-byte latency, µs (lower is better)</a:t>
            </a:r>
          </a:p>
        </c:rich>
      </c:tx>
      <c:layout/>
      <c:overlay val="0"/>
    </c:title>
    <c:autoTitleDeleted val="0"/>
    <c:plotArea>
      <c:layout/>
      <c:barChart>
        <c:barDir val="bar"/>
        <c:grouping val="clustered"/>
        <c:varyColors val="0"/>
        <c:ser>
          <c:idx val="0"/>
          <c:order val="0"/>
          <c:tx>
            <c:strRef>
              <c:f>Sheet1!$B$1</c:f>
              <c:strCache>
                <c:ptCount val="1"/>
                <c:pt idx="0">
                  <c:v>Latency (µs)</c:v>
                </c:pt>
              </c:strCache>
            </c:strRef>
          </c:tx>
          <c:spPr>
            <a:solidFill>
              <a:srgbClr val="8996A3"/>
            </a:solidFill>
            <a:effectLst/>
          </c:spPr>
          <c:invertIfNegative val="0"/>
          <c:dLbls>
            <c:numFmt formatCode="0.0" sourceLinked="0"/>
            <c:txPr>
              <a:bodyPr/>
              <a:lstStyle/>
              <a:p>
                <a:pPr>
                  <a:defRPr b="0" i="0" strike="noStrike" sz="14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8996A3"/>
              </a:solidFill>
              <a:effectLst/>
            </c:spPr>
          </c:dPt>
          <c:dPt>
            <c:idx val="1"/>
            <c:invertIfNegative val="0"/>
            <c:bubble3D val="0"/>
            <c:spPr>
              <a:solidFill>
                <a:srgbClr val="E0731F"/>
              </a:solidFill>
              <a:effectLst/>
            </c:spPr>
          </c:dPt>
          <c:dPt>
            <c:idx val="2"/>
            <c:invertIfNegative val="0"/>
            <c:bubble3D val="0"/>
            <c:spPr>
              <a:solidFill>
                <a:srgbClr val="4E8A3C"/>
              </a:solidFill>
              <a:effectLst/>
            </c:spPr>
          </c:dPt>
          <c:cat>
            <c:multiLvlStrRef>
              <c:f>Sheet1!$A$2:$A$4</c:f>
              <c:multiLvlStrCache>
                <c:ptCount val="3"/>
                <c:lvl>
                  <c:pt idx="0">
                    <c:v>Container MPICH</c:v>
                  </c:pt>
                  <c:pt idx="1">
                    <c:v>e4s-cl + host Intel MPI</c:v>
                  </c:pt>
                  <c:pt idx="2">
                    <c:v>Host Intel MPI (native)</c:v>
                  </c:pt>
                </c:lvl>
              </c:multiLvlStrCache>
            </c:multiLvlStrRef>
          </c:cat>
          <c:val>
            <c:numRef>
              <c:f>Sheet1!$B$2:$B$4</c:f>
              <c:numCache>
                <c:formatCode>General</c:formatCode>
                <c:ptCount val="3"/>
                <c:pt idx="0">
                  <c:v>12.4</c:v>
                </c:pt>
                <c:pt idx="1">
                  <c:v>1.6</c:v>
                </c:pt>
                <c:pt idx="2">
                  <c:v>1.6</c:v>
                </c:pt>
              </c:numCache>
            </c:numRef>
          </c:val>
        </c:ser>
        <c:dLbls>
          <c:numFmt formatCode="0.0" sourceLinked="0"/>
          <c:txPr>
            <a:bodyPr/>
            <a:lstStyle/>
            <a:p>
              <a:pPr>
                <a:defRPr b="0" i="0" strike="noStrike" sz="1400" u="none">
                  <a:solidFill>
                    <a:srgbClr val="1B26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631"/>
                </a:solidFill>
                <a:latin typeface="+mn-lt"/>
              </a:defRPr>
            </a:pPr>
            <a:r>
              <a:rPr sz="1600" b="0" i="0" u="none" strike="noStrike">
                <a:solidFill>
                  <a:srgbClr val="1B2631"/>
                </a:solidFill>
                <a:latin typeface="+mn-lt"/>
              </a:rPr>
              <a:t>4 MB bandwidth, GB/s (higher is better)</a:t>
            </a:r>
          </a:p>
        </c:rich>
      </c:tx>
      <c:layout/>
      <c:overlay val="0"/>
    </c:title>
    <c:autoTitleDeleted val="0"/>
    <c:plotArea>
      <c:layout/>
      <c:barChart>
        <c:barDir val="bar"/>
        <c:grouping val="clustered"/>
        <c:varyColors val="0"/>
        <c:ser>
          <c:idx val="0"/>
          <c:order val="0"/>
          <c:tx>
            <c:strRef>
              <c:f>Sheet1!$B$1</c:f>
              <c:strCache>
                <c:ptCount val="1"/>
                <c:pt idx="0">
                  <c:v>Bandwidth (GB/s)</c:v>
                </c:pt>
              </c:strCache>
            </c:strRef>
          </c:tx>
          <c:spPr>
            <a:solidFill>
              <a:srgbClr val="8996A3"/>
            </a:solidFill>
            <a:effectLst/>
          </c:spPr>
          <c:invertIfNegative val="0"/>
          <c:dLbls>
            <c:numFmt formatCode="0.0" sourceLinked="0"/>
            <c:txPr>
              <a:bodyPr/>
              <a:lstStyle/>
              <a:p>
                <a:pPr>
                  <a:defRPr b="0" i="0" strike="noStrike" sz="14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8996A3"/>
              </a:solidFill>
              <a:effectLst/>
            </c:spPr>
          </c:dPt>
          <c:dPt>
            <c:idx val="1"/>
            <c:invertIfNegative val="0"/>
            <c:bubble3D val="0"/>
            <c:spPr>
              <a:solidFill>
                <a:srgbClr val="E0731F"/>
              </a:solidFill>
              <a:effectLst/>
            </c:spPr>
          </c:dPt>
          <c:dPt>
            <c:idx val="2"/>
            <c:invertIfNegative val="0"/>
            <c:bubble3D val="0"/>
            <c:spPr>
              <a:solidFill>
                <a:srgbClr val="4E8A3C"/>
              </a:solidFill>
              <a:effectLst/>
            </c:spPr>
          </c:dPt>
          <c:cat>
            <c:multiLvlStrRef>
              <c:f>Sheet1!$A$2:$A$4</c:f>
              <c:multiLvlStrCache>
                <c:ptCount val="3"/>
                <c:lvl>
                  <c:pt idx="0">
                    <c:v>Container MPICH</c:v>
                  </c:pt>
                  <c:pt idx="1">
                    <c:v>e4s-cl + host Intel MPI</c:v>
                  </c:pt>
                  <c:pt idx="2">
                    <c:v>Host Intel MPI (native)</c:v>
                  </c:pt>
                </c:lvl>
              </c:multiLvlStrCache>
            </c:multiLvlStrRef>
          </c:cat>
          <c:val>
            <c:numRef>
              <c:f>Sheet1!$B$2:$B$4</c:f>
              <c:numCache>
                <c:formatCode>General</c:formatCode>
                <c:ptCount val="3"/>
                <c:pt idx="0">
                  <c:v>2.2</c:v>
                </c:pt>
                <c:pt idx="1">
                  <c:v>11.8</c:v>
                </c:pt>
                <c:pt idx="2">
                  <c:v>11.7</c:v>
                </c:pt>
              </c:numCache>
            </c:numRef>
          </c:val>
        </c:ser>
        <c:dLbls>
          <c:numFmt formatCode="0.0" sourceLinked="0"/>
          <c:txPr>
            <a:bodyPr/>
            <a:lstStyle/>
            <a:p>
              <a:pPr>
                <a:defRPr b="0" i="0" strike="noStrike" sz="1400" u="none">
                  <a:solidFill>
                    <a:srgbClr val="1B26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hours, hands-on. Everyone should have a Midway3 account and a terminal open. Parts of today's material are adapted from E4S tutorials by Sameer Shende (University of Oregon / ParaTools), used with his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now: "Many of you came with a specific problem. Today we stay on the shared labs so everyone finishes; for your own case, email help@rcc.uchicago.edu with [E4S workshop] in the subject. That opens a ticket and I'll follow up this week." Timing (elapsed, for you): 0:00 welcome &amp; setup, 0:10 Part 1, 0:30 Part 2, ~1:05 short break, 1:10 Part 3a e4s-cl, 1:35 Part 3b e4s-alc, 1:55 wrap-up. The cards show each part's length (talk + hands-on); the hands-on pills show the hands-on share: Part 1 10 of 20 min, Part 2 25 of 35, Part 3a 15 of 25, Part 3b 15 of 20. Learning objectives: explain why Apptainer rather than Docker; pull and inspect E4S images; run containerized apps under Slurm; run a containerized MPI app with the host MPI via e4s-cl; customize an image with e4s-alc.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everyone 5 minutes. Common problems: no Slurm account with SUs on caslake (use the workshop account/reservation set in env.sh); forgetting to re-source env.sh inside the sinteractive shell; running out of home quota because APPTAINER_CACHEDIR was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Sameer Shende's framing from his MUG'26 E4S tutorial. Research groups pay the cost of building and maintaining software stacks over and over. E4S turns that into a download. The cost of today's approach is image size (tens of GB), which we will deal with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are 'chroot on steroids' (Sameer's phrase): a packaged userland, minus the kernel. Everything the program loads from disk comes from the image; everything it gets from the kernel (devices, network, scheduling) comes from the host. That's why hardware-specific pieces like the MPI network stack are interesting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 the objective 'explain why Apptainer rather than Docker'. On a shared system the security model is the deciding factor: membership in the docker group is effectively root. Apptainer runs as the user, has no daemon, keeps images as single files that suit parallel file systems, and integrates with Slurm, MPI and GPUs. Apptainer is the Linux Foundation continuation of Singularity; the 'singularity' command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participants will verify every one of these in Hands-on 1. On Midway3 there are no /etc/subuid entries, so --fakeroot uses a root-mapped user namespace plus the fakeroot command. That works for building from small base images; we'll see a limitation with the big E4S image in Part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commands cover today. Note 'run' executes the image's runscript; with the E4S images that sources the image's /etc/bash.bashrc, which writes npm settings into $HOME, so we prefer exec and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CentOS Linux 8 vs Ubuntu 24.04.4 LTS; same user; 'Read-only file system'; the tmpfs touch succeeds but the file disappears afterwards; home is writable; env shrinks from ~245 to 28 variables with --cleanenv. Mention that --cleanenv breaks MPI because it strips the PMI_* variables Slurm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E4S grew out of the DOE Exascale Computing Project and is now part of HPSF. The release decks say '125+ HPC-AI packages'; the e4s.io catalog lists 143 products (counted Oct 24, 2026). Semi-annual releases: 26.06 is current, 26.11 is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Sizes measured Oct 2026: e4s-cpu-x86_64-26.06.sif 25.5 GB, e4s-cuda80 34 GB, e4s-spack-cpu 1.5 GB, ecpe4s/ubuntu24.04 1.2 GB. The CUDA images also run on CPU nodes for most packages, but applications built with CUDA (e.g. LAMMPS +cuda) need libcuda.so from the driver, so they fail on CPU-only nodes. That's why we use the CPU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25 GB CPU image took ~33 minutes to download at ~13 MB/s from Oregon, which is why it is pre-staged. The cache-backed image pulls from Docker Hub in 1.7 min on a 32-core node and ~4 min on a 4-core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Counted with 'spack find -x' (127) and 'spack find' (685) inside the image. All built with gcc 13.3 for x86_64_v3 (AVX2), against MPICH 4.3.2. Point out that e4s-cl and e4s-alc are themselves inside the image, though today we run them from the host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Verifying the libraries you need — and how they were built — is one of the stated objectives. Real example from this image: there are two PETSc builds (3.21.6 and 3.25.1), so queries must name a version; 3.25.1 is ~superlu-dist, which breaks the ParaTools ex50 example's solver options. The PETSc challenge in Part 2 turns that into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'hybrid' model: the host launcher (srun) starts one container per MPI rank and the MPI inside the container talks to Slurm via PMI2. Within a node this is efficient (shared memory). Across nodes, the container's MPICH doesn't know Midway3's InfiniBand stack — that's Part 3a. Measured: LAMMPS LJ melt, 256,000 atoms, 8 ranks: 13.9 M atom-steps/s.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pull first (it takes 2-4 minutes), then inspect while it runs. The LAMMPS job takes seconds once scheduled. PETSc challenge: GAMG works; ask them to try '-pc_type lu -pc_factor_mat_solver_type superlu_dist' and explain the failure from 'spack find -v petsc@3.25.1'. Suggest a 5-minute break after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container's MPICH 4.3.2 uses libfabric but doesn't have Midway3's verbs/mlx5 provider stack configured, so between nodes it falls back to TCP: ~12 µs latency and ~2.2 GB/s. Midway3's Intel MPI uses InfiniBand HDR: 1.6 µs and 11.7 GB/s. e4s-cl gives the container binary the host's numbers. Within one node the container's MPICH is already fast (0.6 µs, 7.8 GB/s through shared memory): the gap is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MPICH ABI compatibility initiative means MPICH-family libraries share symbol names and type layouts, so a program linked against libmpi.so.12 can load any of them. Midway3's mpich modules are also ABI-compatible but use TCP between nodes in our tests; Intel MPI is the one with the fast verbs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e4s-cl is a thin wrapper over the launcher. On each node it resolves the profile's libraries (and their dependencies), binds them into the container, and preloads them so the host's libmpi wins even over RPATHs in the guest. glibc always comes from the container; host libraries built for an older glibc (CentOS 8: 2.28) run fine on the container's newer one (2.39).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kernel.yama.ptrace_scope=3 on Midway3 login and compute nodes, so 'e4s-cl init' and 'e4s-cl profile detect' cannot trace. The hand-built profile is equivalent, and it must include Intel MPI's etc directory (its tuning files): without it, 'e4s-cl launch srun --mpi=pmi2' hangs at Intel MPI startup, while mpirun runs either way. With it, srun works too. Midway3's Slurm has MpiDefault=none and only the pmi2 plugin, so srun needs --mpi=pmi2 and I_MPI_PMI_LIBRARY pointing at Slurm's libpmi2.so. We use mpirun, which is also the form in Sameer's slides (e4s-cl mpirun -np 4 ./a.out).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compile.sh builds pingpong and hypre_test (from the ParaTools tutorial) inside the image against its MPICH and hypre 3.1.0. 01 uses srun --mpi=pmi2 with the container's MPICH; 02 loads intelmpi/2021.5 and runs 'e4s-cl launch mpirun'. hypre_test: 120^3 Laplacian, AMG-PCG, 30 iterations, residual 9.5e-09.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e4s-chain-spack.sh is the fastest path for a single user — no image rebuild, packages land in $HOME and reuse the image's installs as an upstream. e4s-alc is the path to a reproducible artifact. Customizing the full 25 GB image works but is slow and needs ~80 GB of node-local disk; on Midway3 it also needs a sandbox step (see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Sameer's hypre example with one change: bootstrap from the shared local copy of ecpe4s/ubuntu24.04 instead of Docker Hub, so 30 people don't re-download it. e4s-alc also adds a list of default Ubuntu packages (build-essential, cmake, ...). Measured: 83 s on 32 cores, 2 min on 8 cores; result 1.2 GB with hypre 2.33.0 + MPICH 4.3.1.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build queue is slow, a pre-built hypre.sif can be copied from $E4S_WORKSHOP/images (if staged). The run job compiles hypre_test against the new image's hypre 2.33 and runs it with e4s-cl on 8 ranks / 2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pre-built result rather than building live: $E4S_WORKSHOP/images/demo-e4s-plus-app.sif. Try: apptainer exec $E4S_WORKSHOP/images/demo-e4s-plus-app.sif /opt/app/hypre_test -n 30 30 30, and apptainer exec ... which htop. Measured on the build partition (32 cores, local /tmp): sandbox unpack 118 s (76 GB), build from sandbox 736 s, output 25.6 GB. The direct --fakeroot build from the SIF fails on Midway3 because there are no /etc/subuid entries, so unsquashfs cannot restore files owned by other users (postfix, mail). Note the customized image also replaces the E4S runscript, so apptainer run no longer sources the npm-writing bashrc.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1-2 minutes, only if time allows. This is my own research on top of E4S: an accepted SC26 research poster, "Union of Containers: Layered Software Stacks with Cross-Container Dependency Reuse for HPC" (on display Tuesday Nov 17, 10 AM-5 PM, Skyline Ballroom North Pre-Function), part of a manuscript in preparation with Sameer Shende as second author. Idea: HPC stacks usually ship one container image per accelerator target, and each image duplicates the CPU-generic majority of the stack. Instead, a shared provider holds the architecture-generic dependencies and thin specialized layers hold only the GPU-compiled packages, reusing the provider's builds instead of recompiling them. The layers compose at run time through absolute RPATH entries under fixed paths, so no LD_LIBRARY_PATH or other search-path setup is needed. Results, as published in the poster abstract: with Spack and E4S recipes each specialized layer compiled 1 of 20 buildable packages, at both Midway3 and NSF ACCESS Anvil; on Anvil each further GPU target adds 1,412 files where a monolithic build adds 10,772, rebuilding a layer is 1.8 to 2.8 times faster, and application performance is unchanged on A100 and H100 GPUs; the same install trees run unmodified under Apptainer and Charliecloud. The poster also reports four constraints on where reuse holds. Contrast with Part 3b: e4s-alc produces a new full image, while layering rebuilds only the layer that changed. Invite anyone interested to the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Sameer Shende's conclusions (MUG'26): using E4S containers saves time; customize full-featured or base containers with e4s-alc; substitute the container's MPI with the system MPI using e4s-cl.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install stays in place after the workshop; participants can keep using env.sh and the image for their own work. Two SC26 follow-ups: Sameer Shende presents "E4S: An HPC-AI Software Ecosystem for Science" in the Sovereign AI Supercomputing Cloud Workshop on Monday Nov 16, 9:00-9:30 AM CST, room W175a (workshop or technical-program registration needed); my poster "Union of Containers" (the layered-E4S work on slide 29) is on display Tuesday Nov 17, 10 AM-5 PM, Skyline Ballroom North Pre-Function.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Credits slide. Then advance to the last slide and leave it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 When someone raises their own problem: if a lab part covers it, say which; if it takes under two minutes, do it at the end; otherwise ask them to email help@ with [E4S workshop] and note their name in instructor/followup_tracker.csv. Afterwards: rt_cli.py list --queue general --subject "E4S workshop" pulls every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2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49040"/>
            <a:ext cx="10698480" cy="73152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
        <p:nvSpPr>
          <p:cNvPr id="4" name="Text 0"/>
          <p:cNvSpPr/>
          <p:nvPr>
            <p:ph idx="102" type="body" hasCustomPrompt="1"/>
          </p:nvPr>
        </p:nvSpPr>
        <p:spPr>
          <a:xfrm>
            <a:off x="731520" y="4846320"/>
            <a:ext cx="10698480" cy="12801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pic>
        <p:nvPicPr>
          <p:cNvPr id="5" name="Image 0" descr="The University of Chicago, Office of Research and National Laboratories, Research Computing Center">    </p:cNvPr>
          <p:cNvPicPr>
            <a:picLocks noChangeAspect="1"/>
          </p:cNvPicPr>
          <p:nvPr/>
        </p:nvPicPr>
        <p:blipFill>
          <a:blip r:embed="rId1"/>
          <a:stretch>
            <a:fillRect/>
          </a:stretch>
        </p:blipFill>
        <p:spPr>
          <a:xfrm>
            <a:off x="731520" y="640080"/>
            <a:ext cx="4754880" cy="51352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2D3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rtlCol="0"/>
          <a:lstStyle>
            <a:lvl1pPr indent="0" marL="0">
              <a:buNone/>
              <a:defRPr lang="en-US" sz="2000" b="1" spc="400" kern="0" dirty="0">
                <a:solidFill>
                  <a:schemeClr val="accent1"/>
                </a:solidFill>
              </a:defRPr>
            </a:lvl1pPr>
          </a:lstStyle>
          <a:p>
            <a:pPr indent="0" marL="0">
              <a:buNone/>
            </a:pPr>
            <a:endParaRPr lang="en-US" sz="2000" dirty="0"/>
          </a:p>
        </p:txBody>
      </p:sp>
      <p:sp>
        <p:nvSpPr>
          <p:cNvPr id="3" name="Text 0"/>
          <p:cNvSpPr/>
          <p:nvPr>
            <p:ph idx="101" type="title" hasCustomPrompt="1"/>
          </p:nvPr>
        </p:nvSpPr>
        <p:spPr>
          <a:xfrm>
            <a:off x="731520" y="2560320"/>
            <a:ext cx="84124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206240"/>
            <a:ext cx="841248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7772400" cy="274320"/>
          </a:xfrm>
          <a:prstGeom prst="rect">
            <a:avLst/>
          </a:prstGeom>
          <a:noFill/>
          <a:ln/>
        </p:spPr>
        <p:txBody>
          <a:bodyPr wrap="square" lIns="0" tIns="0" rIns="0" bIns="0" rtlCol="0" anchor="ctr"/>
          <a:lstStyle/>
          <a:p>
            <a:pPr indent="0" marL="0">
              <a:buNone/>
            </a:pPr>
            <a:r>
              <a:rPr lang="en-US" sz="1000" dirty="0">
                <a:solidFill>
                  <a:schemeClr val="accent5"/>
                </a:solidFill>
              </a:rPr>
              <a:t>Containers for HPC with E4S  ·  RCC Midway3  ·  Oct 27, 2026</a:t>
            </a:r>
            <a:endParaRPr lang="en-US" sz="1000" dirty="0"/>
          </a:p>
        </p:txBody>
      </p:sp>
      <p:pic>
        <p:nvPicPr>
          <p:cNvPr id="4" name="Image 0" descr="The University of Chicago, Office of Research and National Laboratories, Research Computing Center">    </p:cNvPr>
          <p:cNvPicPr>
            <a:picLocks noChangeAspect="1"/>
          </p:cNvPicPr>
          <p:nvPr/>
        </p:nvPicPr>
        <p:blipFill>
          <a:blip r:embed="rId1"/>
          <a:stretch>
            <a:fillRect/>
          </a:stretch>
        </p:blipFill>
        <p:spPr>
          <a:xfrm>
            <a:off x="8732520" y="6462705"/>
            <a:ext cx="2240280" cy="241950"/>
          </a:xfrm>
          <a:prstGeom prst="rect">
            <a:avLst/>
          </a:prstGeom>
        </p:spPr>
      </p:pic>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Containers for HPC: Pre-built Scientific Software with E4S</a:t>
            </a:r>
            <a:endParaRPr lang="en-US" sz="4400" dirty="0"/>
          </a:p>
        </p:txBody>
      </p:sp>
      <p:sp>
        <p:nvSpPr>
          <p:cNvPr id="3" name="Text 0"/>
          <p:cNvSpPr/>
          <p:nvPr>
            <p:ph idx="101" type="body" hasCustomPrompt="1"/>
          </p:nvPr>
        </p:nvSpPr>
        <p:spPr>
          <a:xfrm>
            <a:off x="731520" y="3749040"/>
            <a:ext cx="10698480" cy="731520"/>
          </a:xfrm>
          <a:prstGeom prst="rect">
            <a:avLst/>
          </a:prstGeom>
          <a:noFill/>
          <a:ln/>
        </p:spPr>
        <p:txBody>
          <a:bodyPr wrap="square" lIns="0" tIns="0" rIns="0" bIns="0" rtlCol="0"/>
          <a:lstStyle/>
          <a:p>
            <a:pPr indent="0" marL="0">
              <a:buNone/>
            </a:pPr>
            <a:r>
              <a:rPr lang="en-US" sz="2200" dirty="0">
                <a:solidFill>
                  <a:schemeClr val="accent1"/>
                </a:solidFill>
              </a:rPr>
              <a:t>Apptainer · Slurm · MPI · E4S 26.06 on Midway3</a:t>
            </a:r>
            <a:endParaRPr lang="en-US" sz="2200" dirty="0"/>
          </a:p>
        </p:txBody>
      </p:sp>
      <p:sp>
        <p:nvSpPr>
          <p:cNvPr id="4" name="Text 0"/>
          <p:cNvSpPr/>
          <p:nvPr>
            <p:ph idx="102" type="body" hasCustomPrompt="1"/>
          </p:nvPr>
        </p:nvSpPr>
        <p:spPr>
          <a:xfrm>
            <a:off x="731520" y="4846320"/>
            <a:ext cx="10698480" cy="1280160"/>
          </a:xfrm>
          <a:prstGeom prst="rect">
            <a:avLst/>
          </a:prstGeom>
          <a:noFill/>
          <a:ln/>
        </p:spPr>
        <p:txBody>
          <a:bodyPr wrap="square" lIns="0" tIns="0" rIns="0" bIns="0" rtlCol="0" anchor="t"/>
          <a:lstStyle/>
          <a:p>
            <a:pPr indent="0" marL="0">
              <a:buNone/>
            </a:pPr>
            <a:r>
              <a:rPr lang="en-US" sz="1600" dirty="0">
                <a:solidFill>
                  <a:schemeClr val="bg2"/>
                </a:solidFill>
              </a:rPr>
              <a:t>Research Computing Center, University of Chicago</a:t>
            </a:r>
            <a:endParaRPr lang="en-US" sz="1600" dirty="0"/>
          </a:p>
          <a:p>
            <a:pPr indent="0" marL="0">
              <a:buNone/>
            </a:pPr>
            <a:r>
              <a:rPr lang="en-US" sz="1600" dirty="0">
                <a:solidFill>
                  <a:schemeClr val="bg2"/>
                </a:solidFill>
              </a:rPr>
              <a:t>John Crerar Library, Kathleen A. Zar Room  ·  Tuesday, October 27, 2026  ·  3–5 PM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Today: three parts, all hands-on</a:t>
            </a:r>
            <a:endParaRPr lang="en-US" sz="3400" dirty="0"/>
          </a:p>
        </p:txBody>
      </p:sp>
      <p:sp>
        <p:nvSpPr>
          <p:cNvPr id="3" name="part-card-0"/>
          <p:cNvSpPr/>
          <p:nvPr/>
        </p:nvSpPr>
        <p:spPr>
          <a:xfrm>
            <a:off x="548640" y="1417320"/>
            <a:ext cx="2606040" cy="3566160"/>
          </a:xfrm>
          <a:prstGeom prst="roundRect">
            <a:avLst>
              <a:gd name="adj" fmla="val 2807"/>
            </a:avLst>
          </a:prstGeom>
          <a:solidFill>
            <a:schemeClr val="bg2"/>
          </a:solidFill>
          <a:ln/>
        </p:spPr>
      </p:sp>
      <p:sp>
        <p:nvSpPr>
          <p:cNvPr id="4" name="part-0-circle"/>
          <p:cNvSpPr/>
          <p:nvPr/>
        </p:nvSpPr>
        <p:spPr>
          <a:xfrm>
            <a:off x="822960" y="1691640"/>
            <a:ext cx="822960" cy="822960"/>
          </a:xfrm>
          <a:prstGeom prst="ellipse">
            <a:avLst/>
          </a:prstGeom>
          <a:solidFill>
            <a:srgbClr val="2F6E9E"/>
          </a:solidFill>
          <a:ln/>
        </p:spPr>
      </p:sp>
      <p:pic>
        <p:nvPicPr>
          <p:cNvPr id="5" name="part-0-icon" descr="part-0">    </p:cNvPr>
          <p:cNvPicPr>
            <a:picLocks noChangeAspect="1"/>
          </p:cNvPicPr>
          <p:nvPr/>
        </p:nvPicPr>
        <p:blipFill>
          <a:blip r:embed="rId1"/>
          <a:stretch>
            <a:fillRect/>
          </a:stretch>
        </p:blipFill>
        <p:spPr>
          <a:xfrm>
            <a:off x="1020470" y="1889150"/>
            <a:ext cx="427939" cy="427939"/>
          </a:xfrm>
          <a:prstGeom prst="rect">
            <a:avLst/>
          </a:prstGeom>
        </p:spPr>
      </p:pic>
      <p:sp>
        <p:nvSpPr>
          <p:cNvPr id="6" name="Text 3"/>
          <p:cNvSpPr txBox="1"/>
          <p:nvPr/>
        </p:nvSpPr>
        <p:spPr>
          <a:xfrm>
            <a:off x="1828800" y="1783080"/>
            <a:ext cx="1188720" cy="640080"/>
          </a:xfrm>
          <a:prstGeom prst="rect">
            <a:avLst/>
          </a:prstGeom>
          <a:noFill/>
          <a:ln/>
        </p:spPr>
        <p:txBody>
          <a:bodyPr wrap="square" lIns="0" tIns="0" rIns="0" bIns="0" rtlCol="0" anchor="ctr"/>
          <a:lstStyle/>
          <a:p>
            <a:pPr algn="r" indent="0" marL="0">
              <a:buNone/>
            </a:pPr>
            <a:r>
              <a:rPr lang="en-US" sz="2200" b="1" dirty="0">
                <a:solidFill>
                  <a:schemeClr val="accent5"/>
                </a:solidFill>
              </a:rPr>
              <a:t>20 min</a:t>
            </a:r>
            <a:endParaRPr lang="en-US" sz="2200" dirty="0"/>
          </a:p>
        </p:txBody>
      </p:sp>
      <p:sp>
        <p:nvSpPr>
          <p:cNvPr id="7" name="Text 4"/>
          <p:cNvSpPr txBox="1"/>
          <p:nvPr/>
        </p:nvSpPr>
        <p:spPr>
          <a:xfrm>
            <a:off x="822960" y="2697480"/>
            <a:ext cx="2194560" cy="365760"/>
          </a:xfrm>
          <a:prstGeom prst="rect">
            <a:avLst/>
          </a:prstGeom>
          <a:noFill/>
          <a:ln/>
        </p:spPr>
        <p:txBody>
          <a:bodyPr wrap="square" lIns="0" tIns="0" rIns="0" bIns="0" rtlCol="0" anchor="ctr"/>
          <a:lstStyle/>
          <a:p>
            <a:pPr indent="0" marL="0">
              <a:buNone/>
            </a:pPr>
            <a:r>
              <a:rPr lang="en-US" sz="1600" b="1" dirty="0">
                <a:solidFill>
                  <a:schemeClr val="accent1"/>
                </a:solidFill>
              </a:rPr>
              <a:t>Part 1</a:t>
            </a:r>
            <a:endParaRPr lang="en-US" sz="1600" dirty="0"/>
          </a:p>
        </p:txBody>
      </p:sp>
      <p:sp>
        <p:nvSpPr>
          <p:cNvPr id="8" name="Text 5"/>
          <p:cNvSpPr txBox="1"/>
          <p:nvPr/>
        </p:nvSpPr>
        <p:spPr>
          <a:xfrm>
            <a:off x="822960" y="3063240"/>
            <a:ext cx="2194560" cy="822960"/>
          </a:xfrm>
          <a:prstGeom prst="rect">
            <a:avLst/>
          </a:prstGeom>
          <a:noFill/>
          <a:ln/>
        </p:spPr>
        <p:txBody>
          <a:bodyPr wrap="square" lIns="0" tIns="0" rIns="0" bIns="0" rtlCol="0" anchor="t"/>
          <a:lstStyle/>
          <a:p>
            <a:pPr indent="0" marL="0">
              <a:buNone/>
            </a:pPr>
            <a:r>
              <a:rPr lang="en-US" sz="2000" b="1" dirty="0">
                <a:solidFill>
                  <a:schemeClr val="tx1"/>
                </a:solidFill>
              </a:rPr>
              <a:t>Containers on shared HPC systems</a:t>
            </a:r>
            <a:endParaRPr lang="en-US" sz="2000" dirty="0"/>
          </a:p>
        </p:txBody>
      </p:sp>
      <p:sp>
        <p:nvSpPr>
          <p:cNvPr id="9" name="Text 6"/>
          <p:cNvSpPr txBox="1"/>
          <p:nvPr/>
        </p:nvSpPr>
        <p:spPr>
          <a:xfrm>
            <a:off x="822960" y="3931920"/>
            <a:ext cx="2194560" cy="914400"/>
          </a:xfrm>
          <a:prstGeom prst="rect">
            <a:avLst/>
          </a:prstGeom>
          <a:noFill/>
          <a:ln/>
        </p:spPr>
        <p:txBody>
          <a:bodyPr wrap="square" lIns="0" tIns="0" rIns="0" bIns="0" rtlCol="0" anchor="t"/>
          <a:lstStyle/>
          <a:p>
            <a:pPr indent="0" marL="0">
              <a:buNone/>
            </a:pPr>
            <a:r>
              <a:rPr lang="en-US" sz="1500" dirty="0">
                <a:solidFill>
                  <a:schemeClr val="tx1"/>
                </a:solidFill>
              </a:rPr>
              <a:t>Why Apptainer, not Docker; the rootless model</a:t>
            </a:r>
            <a:endParaRPr lang="en-US" sz="1500" dirty="0"/>
          </a:p>
        </p:txBody>
      </p:sp>
      <p:sp>
        <p:nvSpPr>
          <p:cNvPr id="10" name="part-card-1"/>
          <p:cNvSpPr/>
          <p:nvPr/>
        </p:nvSpPr>
        <p:spPr>
          <a:xfrm>
            <a:off x="3364992" y="1417320"/>
            <a:ext cx="2606040" cy="3566160"/>
          </a:xfrm>
          <a:prstGeom prst="roundRect">
            <a:avLst>
              <a:gd name="adj" fmla="val 2807"/>
            </a:avLst>
          </a:prstGeom>
          <a:solidFill>
            <a:schemeClr val="bg2"/>
          </a:solidFill>
          <a:ln/>
        </p:spPr>
      </p:sp>
      <p:sp>
        <p:nvSpPr>
          <p:cNvPr id="11" name="part-1-circle"/>
          <p:cNvSpPr/>
          <p:nvPr/>
        </p:nvSpPr>
        <p:spPr>
          <a:xfrm>
            <a:off x="3639312" y="1691640"/>
            <a:ext cx="822960" cy="822960"/>
          </a:xfrm>
          <a:prstGeom prst="ellipse">
            <a:avLst/>
          </a:prstGeom>
          <a:solidFill>
            <a:srgbClr val="4E8A3C"/>
          </a:solidFill>
          <a:ln/>
        </p:spPr>
      </p:sp>
      <p:pic>
        <p:nvPicPr>
          <p:cNvPr id="12" name="part-1-icon" descr="part-1">    </p:cNvPr>
          <p:cNvPicPr>
            <a:picLocks noChangeAspect="1"/>
          </p:cNvPicPr>
          <p:nvPr/>
        </p:nvPicPr>
        <p:blipFill>
          <a:blip r:embed="rId2"/>
          <a:stretch>
            <a:fillRect/>
          </a:stretch>
        </p:blipFill>
        <p:spPr>
          <a:xfrm>
            <a:off x="3836822" y="1889150"/>
            <a:ext cx="427939" cy="427939"/>
          </a:xfrm>
          <a:prstGeom prst="rect">
            <a:avLst/>
          </a:prstGeom>
        </p:spPr>
      </p:pic>
      <p:sp>
        <p:nvSpPr>
          <p:cNvPr id="13" name="Text 9"/>
          <p:cNvSpPr txBox="1"/>
          <p:nvPr/>
        </p:nvSpPr>
        <p:spPr>
          <a:xfrm>
            <a:off x="4645152" y="1783080"/>
            <a:ext cx="1188720" cy="640080"/>
          </a:xfrm>
          <a:prstGeom prst="rect">
            <a:avLst/>
          </a:prstGeom>
          <a:noFill/>
          <a:ln/>
        </p:spPr>
        <p:txBody>
          <a:bodyPr wrap="square" lIns="0" tIns="0" rIns="0" bIns="0" rtlCol="0" anchor="ctr"/>
          <a:lstStyle/>
          <a:p>
            <a:pPr algn="r" indent="0" marL="0">
              <a:buNone/>
            </a:pPr>
            <a:r>
              <a:rPr lang="en-US" sz="2200" b="1" dirty="0">
                <a:solidFill>
                  <a:schemeClr val="accent5"/>
                </a:solidFill>
              </a:rPr>
              <a:t>35 min</a:t>
            </a:r>
            <a:endParaRPr lang="en-US" sz="2200" dirty="0"/>
          </a:p>
        </p:txBody>
      </p:sp>
      <p:sp>
        <p:nvSpPr>
          <p:cNvPr id="14" name="Text 10"/>
          <p:cNvSpPr txBox="1"/>
          <p:nvPr/>
        </p:nvSpPr>
        <p:spPr>
          <a:xfrm>
            <a:off x="3639312" y="2697480"/>
            <a:ext cx="2194560" cy="365760"/>
          </a:xfrm>
          <a:prstGeom prst="rect">
            <a:avLst/>
          </a:prstGeom>
          <a:noFill/>
          <a:ln/>
        </p:spPr>
        <p:txBody>
          <a:bodyPr wrap="square" lIns="0" tIns="0" rIns="0" bIns="0" rtlCol="0" anchor="ctr"/>
          <a:lstStyle/>
          <a:p>
            <a:pPr indent="0" marL="0">
              <a:buNone/>
            </a:pPr>
            <a:r>
              <a:rPr lang="en-US" sz="1600" b="1" dirty="0">
                <a:solidFill>
                  <a:schemeClr val="accent1"/>
                </a:solidFill>
              </a:rPr>
              <a:t>Part 2</a:t>
            </a:r>
            <a:endParaRPr lang="en-US" sz="1600" dirty="0"/>
          </a:p>
        </p:txBody>
      </p:sp>
      <p:sp>
        <p:nvSpPr>
          <p:cNvPr id="15" name="Text 11"/>
          <p:cNvSpPr txBox="1"/>
          <p:nvPr/>
        </p:nvSpPr>
        <p:spPr>
          <a:xfrm>
            <a:off x="3639312" y="3063240"/>
            <a:ext cx="2194560" cy="822960"/>
          </a:xfrm>
          <a:prstGeom prst="rect">
            <a:avLst/>
          </a:prstGeom>
          <a:noFill/>
          <a:ln/>
        </p:spPr>
        <p:txBody>
          <a:bodyPr wrap="square" lIns="0" tIns="0" rIns="0" bIns="0" rtlCol="0" anchor="t"/>
          <a:lstStyle/>
          <a:p>
            <a:pPr indent="0" marL="0">
              <a:buNone/>
            </a:pPr>
            <a:r>
              <a:rPr lang="en-US" sz="2000" b="1" dirty="0">
                <a:solidFill>
                  <a:schemeClr val="tx1"/>
                </a:solidFill>
              </a:rPr>
              <a:t>Pull, inspect, run</a:t>
            </a:r>
            <a:endParaRPr lang="en-US" sz="2000" dirty="0"/>
          </a:p>
        </p:txBody>
      </p:sp>
      <p:sp>
        <p:nvSpPr>
          <p:cNvPr id="16" name="Text 12"/>
          <p:cNvSpPr txBox="1"/>
          <p:nvPr/>
        </p:nvSpPr>
        <p:spPr>
          <a:xfrm>
            <a:off x="3639312" y="3931920"/>
            <a:ext cx="2194560" cy="914400"/>
          </a:xfrm>
          <a:prstGeom prst="rect">
            <a:avLst/>
          </a:prstGeom>
          <a:noFill/>
          <a:ln/>
        </p:spPr>
        <p:txBody>
          <a:bodyPr wrap="square" lIns="0" tIns="0" rIns="0" bIns="0" rtlCol="0" anchor="t"/>
          <a:lstStyle/>
          <a:p>
            <a:pPr indent="0" marL="0">
              <a:buNone/>
            </a:pPr>
            <a:r>
              <a:rPr lang="en-US" sz="1500" dirty="0">
                <a:solidFill>
                  <a:schemeClr val="tx1"/>
                </a:solidFill>
              </a:rPr>
              <a:t>E4S images, what is inside, Slurm batch jobs</a:t>
            </a:r>
            <a:endParaRPr lang="en-US" sz="1500" dirty="0"/>
          </a:p>
        </p:txBody>
      </p:sp>
      <p:sp>
        <p:nvSpPr>
          <p:cNvPr id="17" name="part-card-2"/>
          <p:cNvSpPr/>
          <p:nvPr/>
        </p:nvSpPr>
        <p:spPr>
          <a:xfrm>
            <a:off x="6181344" y="1417320"/>
            <a:ext cx="2606040" cy="3566160"/>
          </a:xfrm>
          <a:prstGeom prst="roundRect">
            <a:avLst>
              <a:gd name="adj" fmla="val 2807"/>
            </a:avLst>
          </a:prstGeom>
          <a:solidFill>
            <a:schemeClr val="bg2"/>
          </a:solidFill>
          <a:ln/>
        </p:spPr>
      </p:sp>
      <p:sp>
        <p:nvSpPr>
          <p:cNvPr id="18" name="part-2-circle"/>
          <p:cNvSpPr/>
          <p:nvPr/>
        </p:nvSpPr>
        <p:spPr>
          <a:xfrm>
            <a:off x="6455664" y="1691640"/>
            <a:ext cx="822960" cy="822960"/>
          </a:xfrm>
          <a:prstGeom prst="ellipse">
            <a:avLst/>
          </a:prstGeom>
          <a:solidFill>
            <a:srgbClr val="E0731F"/>
          </a:solidFill>
          <a:ln/>
        </p:spPr>
      </p:sp>
      <p:pic>
        <p:nvPicPr>
          <p:cNvPr id="19" name="part-2-icon" descr="part-2">    </p:cNvPr>
          <p:cNvPicPr>
            <a:picLocks noChangeAspect="1"/>
          </p:cNvPicPr>
          <p:nvPr/>
        </p:nvPicPr>
        <p:blipFill>
          <a:blip r:embed="rId3"/>
          <a:stretch>
            <a:fillRect/>
          </a:stretch>
        </p:blipFill>
        <p:spPr>
          <a:xfrm>
            <a:off x="6653174" y="1889150"/>
            <a:ext cx="427939" cy="427939"/>
          </a:xfrm>
          <a:prstGeom prst="rect">
            <a:avLst/>
          </a:prstGeom>
        </p:spPr>
      </p:pic>
      <p:sp>
        <p:nvSpPr>
          <p:cNvPr id="20" name="Text 15"/>
          <p:cNvSpPr txBox="1"/>
          <p:nvPr/>
        </p:nvSpPr>
        <p:spPr>
          <a:xfrm>
            <a:off x="7461504" y="1783080"/>
            <a:ext cx="1188720" cy="640080"/>
          </a:xfrm>
          <a:prstGeom prst="rect">
            <a:avLst/>
          </a:prstGeom>
          <a:noFill/>
          <a:ln/>
        </p:spPr>
        <p:txBody>
          <a:bodyPr wrap="square" lIns="0" tIns="0" rIns="0" bIns="0" rtlCol="0" anchor="ctr"/>
          <a:lstStyle/>
          <a:p>
            <a:pPr algn="r" indent="0" marL="0">
              <a:buNone/>
            </a:pPr>
            <a:r>
              <a:rPr lang="en-US" sz="2200" b="1" dirty="0">
                <a:solidFill>
                  <a:schemeClr val="accent5"/>
                </a:solidFill>
              </a:rPr>
              <a:t>25 min</a:t>
            </a:r>
            <a:endParaRPr lang="en-US" sz="2200" dirty="0"/>
          </a:p>
        </p:txBody>
      </p:sp>
      <p:sp>
        <p:nvSpPr>
          <p:cNvPr id="21" name="Text 16"/>
          <p:cNvSpPr txBox="1"/>
          <p:nvPr/>
        </p:nvSpPr>
        <p:spPr>
          <a:xfrm>
            <a:off x="6455664" y="2697480"/>
            <a:ext cx="2194560" cy="365760"/>
          </a:xfrm>
          <a:prstGeom prst="rect">
            <a:avLst/>
          </a:prstGeom>
          <a:noFill/>
          <a:ln/>
        </p:spPr>
        <p:txBody>
          <a:bodyPr wrap="square" lIns="0" tIns="0" rIns="0" bIns="0" rtlCol="0" anchor="ctr"/>
          <a:lstStyle/>
          <a:p>
            <a:pPr indent="0" marL="0">
              <a:buNone/>
            </a:pPr>
            <a:r>
              <a:rPr lang="en-US" sz="1600" b="1" dirty="0">
                <a:solidFill>
                  <a:schemeClr val="accent1"/>
                </a:solidFill>
              </a:rPr>
              <a:t>Part 3a</a:t>
            </a:r>
            <a:endParaRPr lang="en-US" sz="1600" dirty="0"/>
          </a:p>
        </p:txBody>
      </p:sp>
      <p:sp>
        <p:nvSpPr>
          <p:cNvPr id="22" name="Text 17"/>
          <p:cNvSpPr txBox="1"/>
          <p:nvPr/>
        </p:nvSpPr>
        <p:spPr>
          <a:xfrm>
            <a:off x="6455664" y="3063240"/>
            <a:ext cx="2194560" cy="822960"/>
          </a:xfrm>
          <a:prstGeom prst="rect">
            <a:avLst/>
          </a:prstGeom>
          <a:noFill/>
          <a:ln/>
        </p:spPr>
        <p:txBody>
          <a:bodyPr wrap="square" lIns="0" tIns="0" rIns="0" bIns="0" rtlCol="0" anchor="t"/>
          <a:lstStyle/>
          <a:p>
            <a:pPr indent="0" marL="0">
              <a:buNone/>
            </a:pPr>
            <a:r>
              <a:rPr lang="en-US" sz="2000" b="1" dirty="0">
                <a:solidFill>
                  <a:schemeClr val="tx1"/>
                </a:solidFill>
              </a:rPr>
              <a:t>Swap MPI at launch</a:t>
            </a:r>
            <a:endParaRPr lang="en-US" sz="2000" dirty="0"/>
          </a:p>
        </p:txBody>
      </p:sp>
      <p:sp>
        <p:nvSpPr>
          <p:cNvPr id="23" name="Text 18"/>
          <p:cNvSpPr txBox="1"/>
          <p:nvPr/>
        </p:nvSpPr>
        <p:spPr>
          <a:xfrm>
            <a:off x="6455664" y="3931920"/>
            <a:ext cx="2194560" cy="914400"/>
          </a:xfrm>
          <a:prstGeom prst="rect">
            <a:avLst/>
          </a:prstGeom>
          <a:noFill/>
          <a:ln/>
        </p:spPr>
        <p:txBody>
          <a:bodyPr wrap="square" lIns="0" tIns="0" rIns="0" bIns="0" rtlCol="0" anchor="t"/>
          <a:lstStyle/>
          <a:p>
            <a:pPr indent="0" marL="0">
              <a:buNone/>
            </a:pPr>
            <a:r>
              <a:rPr lang="en-US" sz="1500" dirty="0">
                <a:solidFill>
                  <a:schemeClr val="tx1"/>
                </a:solidFill>
              </a:rPr>
              <a:t>e4s-cl: container binary, host MPI, full speed</a:t>
            </a:r>
            <a:endParaRPr lang="en-US" sz="1500" dirty="0"/>
          </a:p>
        </p:txBody>
      </p:sp>
      <p:sp>
        <p:nvSpPr>
          <p:cNvPr id="24" name="part-card-3"/>
          <p:cNvSpPr/>
          <p:nvPr/>
        </p:nvSpPr>
        <p:spPr>
          <a:xfrm>
            <a:off x="8997696" y="1417320"/>
            <a:ext cx="2606040" cy="3566160"/>
          </a:xfrm>
          <a:prstGeom prst="roundRect">
            <a:avLst>
              <a:gd name="adj" fmla="val 2807"/>
            </a:avLst>
          </a:prstGeom>
          <a:solidFill>
            <a:schemeClr val="bg2"/>
          </a:solidFill>
          <a:ln/>
        </p:spPr>
      </p:sp>
      <p:sp>
        <p:nvSpPr>
          <p:cNvPr id="25" name="part-3-circle"/>
          <p:cNvSpPr/>
          <p:nvPr/>
        </p:nvSpPr>
        <p:spPr>
          <a:xfrm>
            <a:off x="9272016" y="1691640"/>
            <a:ext cx="822960" cy="822960"/>
          </a:xfrm>
          <a:prstGeom prst="ellipse">
            <a:avLst/>
          </a:prstGeom>
          <a:solidFill>
            <a:srgbClr val="800000"/>
          </a:solidFill>
          <a:ln/>
        </p:spPr>
      </p:sp>
      <p:pic>
        <p:nvPicPr>
          <p:cNvPr id="26" name="part-3-icon" descr="part-3">    </p:cNvPr>
          <p:cNvPicPr>
            <a:picLocks noChangeAspect="1"/>
          </p:cNvPicPr>
          <p:nvPr/>
        </p:nvPicPr>
        <p:blipFill>
          <a:blip r:embed="rId4"/>
          <a:stretch>
            <a:fillRect/>
          </a:stretch>
        </p:blipFill>
        <p:spPr>
          <a:xfrm>
            <a:off x="9469526" y="1889150"/>
            <a:ext cx="427939" cy="427939"/>
          </a:xfrm>
          <a:prstGeom prst="rect">
            <a:avLst/>
          </a:prstGeom>
        </p:spPr>
      </p:pic>
      <p:sp>
        <p:nvSpPr>
          <p:cNvPr id="27" name="Text 21"/>
          <p:cNvSpPr txBox="1"/>
          <p:nvPr/>
        </p:nvSpPr>
        <p:spPr>
          <a:xfrm>
            <a:off x="10277856" y="1783080"/>
            <a:ext cx="1188720" cy="640080"/>
          </a:xfrm>
          <a:prstGeom prst="rect">
            <a:avLst/>
          </a:prstGeom>
          <a:noFill/>
          <a:ln/>
        </p:spPr>
        <p:txBody>
          <a:bodyPr wrap="square" lIns="0" tIns="0" rIns="0" bIns="0" rtlCol="0" anchor="ctr"/>
          <a:lstStyle/>
          <a:p>
            <a:pPr algn="r" indent="0" marL="0">
              <a:buNone/>
            </a:pPr>
            <a:r>
              <a:rPr lang="en-US" sz="2200" b="1" dirty="0">
                <a:solidFill>
                  <a:schemeClr val="accent5"/>
                </a:solidFill>
              </a:rPr>
              <a:t>20 min</a:t>
            </a:r>
            <a:endParaRPr lang="en-US" sz="2200" dirty="0"/>
          </a:p>
        </p:txBody>
      </p:sp>
      <p:sp>
        <p:nvSpPr>
          <p:cNvPr id="28" name="Text 22"/>
          <p:cNvSpPr txBox="1"/>
          <p:nvPr/>
        </p:nvSpPr>
        <p:spPr>
          <a:xfrm>
            <a:off x="9272016" y="2697480"/>
            <a:ext cx="2194560" cy="365760"/>
          </a:xfrm>
          <a:prstGeom prst="rect">
            <a:avLst/>
          </a:prstGeom>
          <a:noFill/>
          <a:ln/>
        </p:spPr>
        <p:txBody>
          <a:bodyPr wrap="square" lIns="0" tIns="0" rIns="0" bIns="0" rtlCol="0" anchor="ctr"/>
          <a:lstStyle/>
          <a:p>
            <a:pPr indent="0" marL="0">
              <a:buNone/>
            </a:pPr>
            <a:r>
              <a:rPr lang="en-US" sz="1600" b="1" dirty="0">
                <a:solidFill>
                  <a:schemeClr val="accent1"/>
                </a:solidFill>
              </a:rPr>
              <a:t>Part 3b</a:t>
            </a:r>
            <a:endParaRPr lang="en-US" sz="1600" dirty="0"/>
          </a:p>
        </p:txBody>
      </p:sp>
      <p:sp>
        <p:nvSpPr>
          <p:cNvPr id="29" name="Text 23"/>
          <p:cNvSpPr txBox="1"/>
          <p:nvPr/>
        </p:nvSpPr>
        <p:spPr>
          <a:xfrm>
            <a:off x="9272016" y="3063240"/>
            <a:ext cx="2194560" cy="822960"/>
          </a:xfrm>
          <a:prstGeom prst="rect">
            <a:avLst/>
          </a:prstGeom>
          <a:noFill/>
          <a:ln/>
        </p:spPr>
        <p:txBody>
          <a:bodyPr wrap="square" lIns="0" tIns="0" rIns="0" bIns="0" rtlCol="0" anchor="t"/>
          <a:lstStyle/>
          <a:p>
            <a:pPr indent="0" marL="0">
              <a:buNone/>
            </a:pPr>
            <a:r>
              <a:rPr lang="en-US" sz="2000" b="1" dirty="0">
                <a:solidFill>
                  <a:schemeClr val="tx1"/>
                </a:solidFill>
              </a:rPr>
              <a:t>Add software to an image</a:t>
            </a:r>
            <a:endParaRPr lang="en-US" sz="2000" dirty="0"/>
          </a:p>
        </p:txBody>
      </p:sp>
      <p:sp>
        <p:nvSpPr>
          <p:cNvPr id="30" name="Text 24"/>
          <p:cNvSpPr txBox="1"/>
          <p:nvPr/>
        </p:nvSpPr>
        <p:spPr>
          <a:xfrm>
            <a:off x="9272016" y="3931920"/>
            <a:ext cx="2194560" cy="914400"/>
          </a:xfrm>
          <a:prstGeom prst="rect">
            <a:avLst/>
          </a:prstGeom>
          <a:noFill/>
          <a:ln/>
        </p:spPr>
        <p:txBody>
          <a:bodyPr wrap="square" lIns="0" tIns="0" rIns="0" bIns="0" rtlCol="0" anchor="t"/>
          <a:lstStyle/>
          <a:p>
            <a:pPr indent="0" marL="0">
              <a:buNone/>
            </a:pPr>
            <a:r>
              <a:rPr lang="en-US" sz="1500" dirty="0">
                <a:solidFill>
                  <a:schemeClr val="tx1"/>
                </a:solidFill>
              </a:rPr>
              <a:t>e4s-alc: YAML → definition file → new image</a:t>
            </a:r>
            <a:endParaRPr lang="en-US" sz="1500" dirty="0"/>
          </a:p>
        </p:txBody>
      </p:sp>
      <p:sp>
        <p:nvSpPr>
          <p:cNvPr id="31" name="Text 25"/>
          <p:cNvSpPr txBox="1"/>
          <p:nvPr/>
        </p:nvSpPr>
        <p:spPr>
          <a:xfrm>
            <a:off x="548640" y="5166360"/>
            <a:ext cx="11064240" cy="365760"/>
          </a:xfrm>
          <a:prstGeom prst="rect">
            <a:avLst/>
          </a:prstGeom>
          <a:noFill/>
          <a:ln/>
        </p:spPr>
        <p:txBody>
          <a:bodyPr wrap="square" lIns="0" tIns="0" rIns="0" bIns="0" rtlCol="0" anchor="ctr"/>
          <a:lstStyle/>
          <a:p>
            <a:pPr indent="0" marL="0">
              <a:buNone/>
            </a:pPr>
            <a:r>
              <a:rPr lang="en-US" sz="1500" i="1" dirty="0">
                <a:solidFill>
                  <a:schemeClr val="accent5"/>
                </a:solidFill>
              </a:rPr>
              <a:t>Out of scope: building images from source — see RCC's general container workshops.</a:t>
            </a:r>
            <a:endParaRPr lang="en-US" sz="1500" dirty="0"/>
          </a:p>
        </p:txBody>
      </p:sp>
      <p:sp>
        <p:nvSpPr>
          <p:cNvPr id="32" name="own-problem"/>
          <p:cNvSpPr txBox="1"/>
          <p:nvPr/>
        </p:nvSpPr>
        <p:spPr>
          <a:xfrm>
            <a:off x="548640" y="5577840"/>
            <a:ext cx="11064240" cy="502920"/>
          </a:xfrm>
          <a:prstGeom prst="rect">
            <a:avLst/>
          </a:prstGeom>
          <a:noFill/>
          <a:ln/>
        </p:spPr>
        <p:txBody>
          <a:bodyPr wrap="square" lIns="0" tIns="0" rIns="0" bIns="0" rtlCol="0" anchor="t"/>
          <a:lstStyle/>
          <a:p>
            <a:pPr indent="0" marL="0">
              <a:buNone/>
            </a:pPr>
            <a:r>
              <a:rPr lang="en-US" sz="1500" b="1" dirty="0">
                <a:solidFill>
                  <a:schemeClr val="accent1"/>
                </a:solidFill>
              </a:rPr>
              <a:t>Your own research problem? </a:t>
            </a:r>
            <a:r>
              <a:rPr lang="en-US" sz="1500" dirty="0">
                <a:solidFill>
                  <a:schemeClr val="tx1"/>
                </a:solidFill>
              </a:rPr>
              <a:t>Note it. Today we stay on the shared labs; afterwards email help@rcc.uchicago.edu with [E4S workshop] in the subject and I'll follow up.</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Before we start: a compute node and the labs</a:t>
            </a:r>
            <a:endParaRPr lang="en-US" sz="3400" dirty="0"/>
          </a:p>
        </p:txBody>
      </p:sp>
      <p:sp>
        <p:nvSpPr>
          <p:cNvPr id="3" name="terminal"/>
          <p:cNvSpPr/>
          <p:nvPr/>
        </p:nvSpPr>
        <p:spPr>
          <a:xfrm>
            <a:off x="548640" y="1371600"/>
            <a:ext cx="6766560" cy="2373782"/>
          </a:xfrm>
          <a:prstGeom prst="roundRect">
            <a:avLst>
              <a:gd name="adj" fmla="val 3082"/>
            </a:avLst>
          </a:prstGeom>
          <a:solidFill>
            <a:schemeClr val="tx1"/>
          </a:solidFill>
          <a:ln/>
        </p:spPr>
      </p:sp>
      <p:sp>
        <p:nvSpPr>
          <p:cNvPr id="4" name="terminal-text"/>
          <p:cNvSpPr txBox="1"/>
          <p:nvPr/>
        </p:nvSpPr>
        <p:spPr>
          <a:xfrm>
            <a:off x="731520" y="1481328"/>
            <a:ext cx="6400800" cy="2154326"/>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ssh &lt;cnetid&gt;@midway3.rcc.uchicago.edu</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source /project/rcc/workshops/e4s/env.sh</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sinteractive -c 4 -t 2:00:00</a:t>
            </a:r>
            <a:endParaRPr lang="en-US" sz="1500" dirty="0"/>
          </a:p>
          <a:p>
            <a:pPr indent="0" marL="0">
              <a:spcAft>
                <a:spcPts val="200"/>
              </a:spcAft>
              <a:buNone/>
            </a:pPr>
            <a:r>
              <a:rPr lang="en-US" sz="1500" dirty="0">
                <a:solidFill>
                  <a:schemeClr val="accent5"/>
                </a:solidFill>
                <a:latin typeface="Courier New" pitchFamily="34" charset="0"/>
                <a:ea typeface="Courier New" pitchFamily="34" charset="-122"/>
                <a:cs typeface="Courier New" pitchFamily="34" charset="-120"/>
              </a:rPr>
              <a:t># ... now on a compute node: set up again</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source /project/rcc/workshops/e4s/env.sh</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cp -r $E4S_WORKSHOP/labs $E4S_SCRATCH/e4s-labs</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cd $E4S_SCRATCH/e4s-labs</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less LAB_GUIDE.md</a:t>
            </a:r>
            <a:endParaRPr lang="en-US" sz="1500" dirty="0"/>
          </a:p>
        </p:txBody>
      </p:sp>
      <p:sp>
        <p:nvSpPr>
          <p:cNvPr id="5" name="hands-on-pill"/>
          <p:cNvSpPr/>
          <p:nvPr/>
        </p:nvSpPr>
        <p:spPr>
          <a:xfrm>
            <a:off x="548640" y="5760720"/>
            <a:ext cx="1600200" cy="420624"/>
          </a:xfrm>
          <a:prstGeom prst="roundRect">
            <a:avLst>
              <a:gd name="adj" fmla="val 50000"/>
            </a:avLst>
          </a:prstGeom>
          <a:solidFill>
            <a:schemeClr val="accent1"/>
          </a:solidFill>
          <a:ln/>
        </p:spPr>
      </p:sp>
      <p:sp>
        <p:nvSpPr>
          <p:cNvPr id="6" name="hands-on-label"/>
          <p:cNvSpPr txBox="1"/>
          <p:nvPr/>
        </p:nvSpPr>
        <p:spPr>
          <a:xfrm>
            <a:off x="548640" y="5760720"/>
            <a:ext cx="1600200" cy="420624"/>
          </a:xfrm>
          <a:prstGeom prst="rect">
            <a:avLst/>
          </a:prstGeom>
          <a:noFill/>
          <a:ln/>
        </p:spPr>
        <p:txBody>
          <a:bodyPr wrap="square" lIns="0" tIns="0" rIns="0" bIns="0" rtlCol="0" anchor="ctr"/>
          <a:lstStyle/>
          <a:p>
            <a:pPr algn="ctr" indent="0" marL="0">
              <a:buNone/>
            </a:pPr>
            <a:r>
              <a:rPr lang="en-US" sz="1400" b="1" dirty="0">
                <a:solidFill>
                  <a:schemeClr val="bg1"/>
                </a:solidFill>
              </a:rPr>
              <a:t>HANDS-ON</a:t>
            </a:r>
            <a:endParaRPr lang="en-US" sz="1400" dirty="0"/>
          </a:p>
        </p:txBody>
      </p:sp>
      <p:sp>
        <p:nvSpPr>
          <p:cNvPr id="7" name="hands-on-where"/>
          <p:cNvSpPr txBox="1"/>
          <p:nvPr/>
        </p:nvSpPr>
        <p:spPr>
          <a:xfrm>
            <a:off x="2331720" y="5760720"/>
            <a:ext cx="7315200" cy="420624"/>
          </a:xfrm>
          <a:prstGeom prst="rect">
            <a:avLst/>
          </a:prstGeom>
          <a:noFill/>
          <a:ln/>
        </p:spPr>
        <p:txBody>
          <a:bodyPr wrap="square" lIns="0" tIns="0" rIns="0" bIns="0" rtlCol="0" anchor="ctr"/>
          <a:lstStyle/>
          <a:p>
            <a:pPr indent="0" marL="0">
              <a:buNone/>
            </a:pPr>
            <a:r>
              <a:rPr lang="en-US" sz="1500" b="1" dirty="0">
                <a:solidFill>
                  <a:schemeClr val="accent1"/>
                </a:solidFill>
              </a:rPr>
              <a:t>LAB_GUIDE.md · Part 0  ·  5 minutes</a:t>
            </a:r>
            <a:endParaRPr lang="en-US" sz="1500" dirty="0"/>
          </a:p>
        </p:txBody>
      </p:sp>
      <p:sp>
        <p:nvSpPr>
          <p:cNvPr id="8" name="bullets"/>
          <p:cNvSpPr txBox="1"/>
          <p:nvPr/>
        </p:nvSpPr>
        <p:spPr>
          <a:xfrm>
            <a:off x="7680960" y="1463040"/>
            <a:ext cx="3931920" cy="3474720"/>
          </a:xfrm>
          <a:prstGeom prst="rect">
            <a:avLst/>
          </a:prstGeom>
          <a:noFill/>
          <a:ln/>
        </p:spPr>
        <p:txBody>
          <a:bodyPr wrap="square" lIns="0" tIns="0" rIns="0" bIns="0" rtlCol="0" anchor="t"/>
          <a:lstStyle/>
          <a:p>
            <a:pPr marL="342900" indent="-342900">
              <a:spcAft>
                <a:spcPts val="1400"/>
              </a:spcAft>
              <a:buSzPct val="100000"/>
              <a:buChar char="•"/>
            </a:pPr>
            <a:r>
              <a:rPr lang="en-US" sz="1700" b="1" dirty="0">
                <a:solidFill>
                  <a:schemeClr val="tx1"/>
                </a:solidFill>
              </a:rPr>
              <a:t>env.sh </a:t>
            </a:r>
            <a:r>
              <a:rPr lang="en-US" sz="1700" dirty="0">
                <a:solidFill>
                  <a:schemeClr val="tx1"/>
                </a:solidFill>
              </a:rPr>
              <a:t>loads apptainer/1.4.1, puts e4s-cl and e4s-alc on your PATH, sets $E4S_IMAGE</a:t>
            </a:r>
            <a:endParaRPr lang="en-US" sz="1700" dirty="0"/>
          </a:p>
          <a:p>
            <a:pPr marL="342900" indent="-342900">
              <a:spcAft>
                <a:spcPts val="1400"/>
              </a:spcAft>
              <a:buSzPct val="100000"/>
              <a:buChar char="•"/>
            </a:pPr>
            <a:r>
              <a:rPr lang="en-US" sz="1700" b="1" dirty="0">
                <a:solidFill>
                  <a:schemeClr val="tx1"/>
                </a:solidFill>
              </a:rPr>
              <a:t>Image cache → scratch: </a:t>
            </a:r>
            <a:r>
              <a:rPr lang="en-US" sz="1700" dirty="0">
                <a:solidFill>
                  <a:schemeClr val="tx1"/>
                </a:solidFill>
              </a:rPr>
              <a:t>a single E4S image would fill your 30 GB home quota</a:t>
            </a:r>
            <a:endParaRPr lang="en-US" sz="1700" dirty="0"/>
          </a:p>
          <a:p>
            <a:pPr marL="342900" indent="-342900">
              <a:spcAft>
                <a:spcPts val="1400"/>
              </a:spcAft>
              <a:buSzPct val="100000"/>
              <a:buChar char="•"/>
            </a:pPr>
            <a:r>
              <a:rPr lang="en-US" sz="1700" b="1" dirty="0">
                <a:solidFill>
                  <a:schemeClr val="tx1"/>
                </a:solidFill>
              </a:rPr>
              <a:t>Run containers on compute nodes, </a:t>
            </a:r>
            <a:r>
              <a:rPr lang="en-US" sz="1700" dirty="0">
                <a:solidFill>
                  <a:schemeClr val="tx1"/>
                </a:solidFill>
              </a:rPr>
              <a:t>not login nodes</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Why pre-built scientific software?</a:t>
            </a:r>
            <a:endParaRPr lang="en-US" sz="3400" dirty="0"/>
          </a:p>
        </p:txBody>
      </p:sp>
      <p:sp>
        <p:nvSpPr>
          <p:cNvPr id="3" name="quote"/>
          <p:cNvSpPr txBox="1"/>
          <p:nvPr/>
        </p:nvSpPr>
        <p:spPr>
          <a:xfrm>
            <a:off x="548640" y="1188720"/>
            <a:ext cx="11064240" cy="548640"/>
          </a:xfrm>
          <a:prstGeom prst="rect">
            <a:avLst/>
          </a:prstGeom>
          <a:noFill/>
          <a:ln/>
        </p:spPr>
        <p:txBody>
          <a:bodyPr wrap="square" lIns="0" tIns="0" rIns="0" bIns="0" rtlCol="0" anchor="ctr"/>
          <a:lstStyle/>
          <a:p>
            <a:pPr indent="0" marL="0">
              <a:buNone/>
            </a:pPr>
            <a:r>
              <a:rPr lang="en-US" sz="2200" i="1" dirty="0">
                <a:solidFill>
                  <a:schemeClr val="accent4"/>
                </a:solidFill>
              </a:rPr>
              <a:t>“Your software environment should not be your first research project.”</a:t>
            </a:r>
            <a:endParaRPr lang="en-US" sz="2200" dirty="0"/>
          </a:p>
        </p:txBody>
      </p:sp>
      <p:sp>
        <p:nvSpPr>
          <p:cNvPr id="4" name="Text 2"/>
          <p:cNvSpPr txBox="1"/>
          <p:nvPr/>
        </p:nvSpPr>
        <p:spPr>
          <a:xfrm>
            <a:off x="548640" y="1874520"/>
            <a:ext cx="3474720" cy="914400"/>
          </a:xfrm>
          <a:prstGeom prst="rect">
            <a:avLst/>
          </a:prstGeom>
          <a:noFill/>
          <a:ln/>
        </p:spPr>
        <p:txBody>
          <a:bodyPr wrap="square" lIns="0" tIns="0" rIns="0" bIns="0" rtlCol="0" anchor="b"/>
          <a:lstStyle/>
          <a:p>
            <a:pPr indent="0" marL="0">
              <a:buNone/>
            </a:pPr>
            <a:r>
              <a:rPr lang="en-US" sz="4400" b="1" dirty="0">
                <a:solidFill>
                  <a:schemeClr val="accent1"/>
                </a:solidFill>
              </a:rPr>
              <a:t>Dozens</a:t>
            </a:r>
            <a:endParaRPr lang="en-US" sz="4400" dirty="0"/>
          </a:p>
        </p:txBody>
      </p:sp>
      <p:sp>
        <p:nvSpPr>
          <p:cNvPr id="5" name="Text 3"/>
          <p:cNvSpPr txBox="1"/>
          <p:nvPr/>
        </p:nvSpPr>
        <p:spPr>
          <a:xfrm>
            <a:off x="548640" y="2880360"/>
            <a:ext cx="3383280" cy="822960"/>
          </a:xfrm>
          <a:prstGeom prst="rect">
            <a:avLst/>
          </a:prstGeom>
          <a:noFill/>
          <a:ln/>
        </p:spPr>
        <p:txBody>
          <a:bodyPr wrap="square" lIns="0" tIns="0" rIns="0" bIns="0" rtlCol="0" anchor="t"/>
          <a:lstStyle/>
          <a:p>
            <a:pPr indent="0" marL="0">
              <a:buNone/>
            </a:pPr>
            <a:r>
              <a:rPr lang="en-US" sz="1700" dirty="0">
                <a:solidFill>
                  <a:schemeClr val="tx1"/>
                </a:solidFill>
              </a:rPr>
              <a:t>of interdependent libraries behind one scientific application</a:t>
            </a:r>
            <a:endParaRPr lang="en-US" sz="1700" dirty="0"/>
          </a:p>
        </p:txBody>
      </p:sp>
      <p:sp>
        <p:nvSpPr>
          <p:cNvPr id="6" name="Text 4"/>
          <p:cNvSpPr txBox="1"/>
          <p:nvPr/>
        </p:nvSpPr>
        <p:spPr>
          <a:xfrm>
            <a:off x="4297680" y="1874520"/>
            <a:ext cx="3474720" cy="914400"/>
          </a:xfrm>
          <a:prstGeom prst="rect">
            <a:avLst/>
          </a:prstGeom>
          <a:noFill/>
          <a:ln/>
        </p:spPr>
        <p:txBody>
          <a:bodyPr wrap="square" lIns="0" tIns="0" rIns="0" bIns="0" rtlCol="0" anchor="b"/>
          <a:lstStyle/>
          <a:p>
            <a:pPr indent="0" marL="0">
              <a:buNone/>
            </a:pPr>
            <a:r>
              <a:rPr lang="en-US" sz="2800" b="1" dirty="0">
                <a:solidFill>
                  <a:schemeClr val="accent1"/>
                </a:solidFill>
              </a:rPr>
              <a:t>× compiler × MPI × GPU</a:t>
            </a:r>
            <a:endParaRPr lang="en-US" sz="2800" dirty="0"/>
          </a:p>
        </p:txBody>
      </p:sp>
      <p:sp>
        <p:nvSpPr>
          <p:cNvPr id="7" name="Text 5"/>
          <p:cNvSpPr txBox="1"/>
          <p:nvPr/>
        </p:nvSpPr>
        <p:spPr>
          <a:xfrm>
            <a:off x="4297680" y="2880360"/>
            <a:ext cx="3383280" cy="822960"/>
          </a:xfrm>
          <a:prstGeom prst="rect">
            <a:avLst/>
          </a:prstGeom>
          <a:noFill/>
          <a:ln/>
        </p:spPr>
        <p:txBody>
          <a:bodyPr wrap="square" lIns="0" tIns="0" rIns="0" bIns="0" rtlCol="0" anchor="t"/>
          <a:lstStyle/>
          <a:p>
            <a:pPr indent="0" marL="0">
              <a:buNone/>
            </a:pPr>
            <a:r>
              <a:rPr lang="en-US" sz="1700" dirty="0">
                <a:solidFill>
                  <a:schemeClr val="tx1"/>
                </a:solidFill>
              </a:rPr>
              <a:t>every combination has to be built and tested again</a:t>
            </a:r>
            <a:endParaRPr lang="en-US" sz="1700" dirty="0"/>
          </a:p>
        </p:txBody>
      </p:sp>
      <p:sp>
        <p:nvSpPr>
          <p:cNvPr id="8" name="Text 6"/>
          <p:cNvSpPr txBox="1"/>
          <p:nvPr/>
        </p:nvSpPr>
        <p:spPr>
          <a:xfrm>
            <a:off x="8046720" y="1874520"/>
            <a:ext cx="3474720" cy="914400"/>
          </a:xfrm>
          <a:prstGeom prst="rect">
            <a:avLst/>
          </a:prstGeom>
          <a:noFill/>
          <a:ln/>
        </p:spPr>
        <p:txBody>
          <a:bodyPr wrap="square" lIns="0" tIns="0" rIns="0" bIns="0" rtlCol="0" anchor="b"/>
          <a:lstStyle/>
          <a:p>
            <a:pPr indent="0" marL="0">
              <a:buNone/>
            </a:pPr>
            <a:r>
              <a:rPr lang="en-US" sz="4400" b="1" dirty="0">
                <a:solidFill>
                  <a:schemeClr val="accent1"/>
                </a:solidFill>
              </a:rPr>
              <a:t>Days–weeks</a:t>
            </a:r>
            <a:endParaRPr lang="en-US" sz="4400" dirty="0"/>
          </a:p>
        </p:txBody>
      </p:sp>
      <p:sp>
        <p:nvSpPr>
          <p:cNvPr id="9" name="Text 7"/>
          <p:cNvSpPr txBox="1"/>
          <p:nvPr/>
        </p:nvSpPr>
        <p:spPr>
          <a:xfrm>
            <a:off x="8046720" y="2880360"/>
            <a:ext cx="3383280" cy="822960"/>
          </a:xfrm>
          <a:prstGeom prst="rect">
            <a:avLst/>
          </a:prstGeom>
          <a:noFill/>
          <a:ln/>
        </p:spPr>
        <p:txBody>
          <a:bodyPr wrap="square" lIns="0" tIns="0" rIns="0" bIns="0" rtlCol="0" anchor="t"/>
          <a:lstStyle/>
          <a:p>
            <a:pPr indent="0" marL="0">
              <a:buNone/>
            </a:pPr>
            <a:r>
              <a:rPr lang="en-US" sz="1700" dirty="0">
                <a:solidFill>
                  <a:schemeClr val="tx1"/>
                </a:solidFill>
              </a:rPr>
              <a:t>to configure a complex HPC software stack correctly</a:t>
            </a:r>
            <a:endParaRPr lang="en-US" sz="1700" dirty="0"/>
          </a:p>
        </p:txBody>
      </p:sp>
      <p:sp>
        <p:nvSpPr>
          <p:cNvPr id="10" name="answer-card"/>
          <p:cNvSpPr/>
          <p:nvPr/>
        </p:nvSpPr>
        <p:spPr>
          <a:xfrm>
            <a:off x="548640" y="4023360"/>
            <a:ext cx="11064240" cy="1737360"/>
          </a:xfrm>
          <a:prstGeom prst="roundRect">
            <a:avLst>
              <a:gd name="adj" fmla="val 4211"/>
            </a:avLst>
          </a:prstGeom>
          <a:solidFill>
            <a:schemeClr val="bg2"/>
          </a:solidFill>
          <a:ln/>
        </p:spPr>
      </p:sp>
      <p:sp>
        <p:nvSpPr>
          <p:cNvPr id="11" name="answer-circle"/>
          <p:cNvSpPr/>
          <p:nvPr/>
        </p:nvSpPr>
        <p:spPr>
          <a:xfrm>
            <a:off x="868680" y="4343400"/>
            <a:ext cx="1097280" cy="1097280"/>
          </a:xfrm>
          <a:prstGeom prst="ellipse">
            <a:avLst/>
          </a:prstGeom>
          <a:solidFill>
            <a:srgbClr val="4E8A3C"/>
          </a:solidFill>
          <a:ln/>
        </p:spPr>
      </p:sp>
      <p:pic>
        <p:nvPicPr>
          <p:cNvPr id="12" name="answer-icon" descr="answer">    </p:cNvPr>
          <p:cNvPicPr>
            <a:picLocks noChangeAspect="1"/>
          </p:cNvPicPr>
          <p:nvPr/>
        </p:nvPicPr>
        <p:blipFill>
          <a:blip r:embed="rId1"/>
          <a:stretch>
            <a:fillRect/>
          </a:stretch>
        </p:blipFill>
        <p:spPr>
          <a:xfrm>
            <a:off x="1132027" y="4606747"/>
            <a:ext cx="570586" cy="570586"/>
          </a:xfrm>
          <a:prstGeom prst="rect">
            <a:avLst/>
          </a:prstGeom>
        </p:spPr>
      </p:pic>
      <p:sp>
        <p:nvSpPr>
          <p:cNvPr id="13" name="Text 10"/>
          <p:cNvSpPr txBox="1"/>
          <p:nvPr/>
        </p:nvSpPr>
        <p:spPr>
          <a:xfrm>
            <a:off x="2240280" y="4206240"/>
            <a:ext cx="9144000" cy="1371600"/>
          </a:xfrm>
          <a:prstGeom prst="rect">
            <a:avLst/>
          </a:prstGeom>
          <a:noFill/>
          <a:ln/>
        </p:spPr>
        <p:txBody>
          <a:bodyPr wrap="square" lIns="0" tIns="0" rIns="0" bIns="0" rtlCol="0" anchor="ctr"/>
          <a:lstStyle/>
          <a:p>
            <a:pPr indent="0" marL="0">
              <a:buNone/>
            </a:pPr>
            <a:r>
              <a:rPr lang="en-US" sz="1900" b="1" dirty="0">
                <a:solidFill>
                  <a:schemeClr val="tx1"/>
                </a:solidFill>
              </a:rPr>
              <a:t>E4S answers with pre-built, co-tested images. </a:t>
            </a:r>
            <a:endParaRPr lang="en-US" sz="1900" dirty="0"/>
          </a:p>
          <a:p>
            <a:pPr indent="0" marL="0">
              <a:buNone/>
            </a:pPr>
            <a:r>
              <a:rPr lang="en-US" sz="1900" dirty="0">
                <a:solidFill>
                  <a:schemeClr val="tx1"/>
                </a:solidFill>
              </a:rPr>
              <a:t>Pull one file, and LAMMPS, GROMACS, PETSc, hypre, Trilinos and 600+ other packages are ready, built consistently against one compiler and MPI.</a:t>
            </a:r>
            <a:endParaRPr lang="en-US" sz="1900" dirty="0"/>
          </a:p>
        </p:txBody>
      </p:sp>
      <p:sp>
        <p:nvSpPr>
          <p:cNvPr id="14"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Message adapted from S. Shende, “E4S” tutorial, MVAPICH Users Group (MUG'26), Aug 2026.</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lIns="0" tIns="0" rIns="0" bIns="0" rtlCol="0"/>
          <a:lstStyle/>
          <a:p>
            <a:pPr indent="0" marL="0">
              <a:buNone/>
            </a:pPr>
            <a:r>
              <a:rPr lang="en-US" sz="2000" b="1" spc="400" kern="0" dirty="0">
                <a:solidFill>
                  <a:schemeClr val="accent1"/>
                </a:solidFill>
              </a:rPr>
              <a:t>PART 1  ·  20 MIN</a:t>
            </a:r>
            <a:endParaRPr lang="en-US" sz="2000" dirty="0"/>
          </a:p>
        </p:txBody>
      </p:sp>
      <p:sp>
        <p:nvSpPr>
          <p:cNvPr id="3" name="Text 0"/>
          <p:cNvSpPr/>
          <p:nvPr>
            <p:ph idx="101" type="title" hasCustomPrompt="1"/>
          </p:nvPr>
        </p:nvSpPr>
        <p:spPr>
          <a:xfrm>
            <a:off x="731520" y="2560320"/>
            <a:ext cx="8412480" cy="1554480"/>
          </a:xfrm>
          <a:prstGeom prst="rect">
            <a:avLst/>
          </a:prstGeom>
          <a:noFill/>
          <a:ln/>
        </p:spPr>
        <p:txBody>
          <a:bodyPr wrap="square" lIns="0" tIns="0" rIns="0" bIns="0" rtlCol="0" anchor="t"/>
          <a:lstStyle/>
          <a:p>
            <a:pPr algn="l" indent="0" marL="0">
              <a:buNone/>
            </a:pPr>
            <a:r>
              <a:rPr lang="en-US" sz="4400" b="1" dirty="0">
                <a:solidFill>
                  <a:schemeClr val="bg1"/>
                </a:solidFill>
              </a:rPr>
              <a:t>Containers on shared HPC systems</a:t>
            </a:r>
            <a:endParaRPr lang="en-US" sz="4400" dirty="0"/>
          </a:p>
        </p:txBody>
      </p:sp>
      <p:sp>
        <p:nvSpPr>
          <p:cNvPr id="4" name="Text 0"/>
          <p:cNvSpPr/>
          <p:nvPr>
            <p:ph idx="102" type="body" hasCustomPrompt="1"/>
          </p:nvPr>
        </p:nvSpPr>
        <p:spPr>
          <a:xfrm>
            <a:off x="731520" y="4206240"/>
            <a:ext cx="8412480" cy="1280160"/>
          </a:xfrm>
          <a:prstGeom prst="rect">
            <a:avLst/>
          </a:prstGeom>
          <a:noFill/>
          <a:ln/>
        </p:spPr>
        <p:txBody>
          <a:bodyPr wrap="square" lIns="0" tIns="0" rIns="0" bIns="0" rtlCol="0" anchor="t"/>
          <a:lstStyle/>
          <a:p>
            <a:pPr indent="0" marL="0">
              <a:buNone/>
            </a:pPr>
            <a:r>
              <a:rPr lang="en-US" sz="2000" dirty="0">
                <a:solidFill>
                  <a:schemeClr val="bg2"/>
                </a:solidFill>
              </a:rPr>
              <a:t>What a container is, why HPC centers use Apptainer instead of Docker, and what “rootless” means in practice.</a:t>
            </a:r>
            <a:endParaRPr lang="en-US" sz="2000" dirty="0"/>
          </a:p>
        </p:txBody>
      </p:sp>
      <p:pic>
        <p:nvPicPr>
          <p:cNvPr id="5" name="section-icon" descr="preencoded.png">    </p:cNvPr>
          <p:cNvPicPr>
            <a:picLocks noChangeAspect="1"/>
          </p:cNvPicPr>
          <p:nvPr/>
        </p:nvPicPr>
        <p:blipFill>
          <a:blip r:embed="rId1"/>
          <a:stretch>
            <a:fillRect/>
          </a:stretch>
        </p:blipFill>
        <p:spPr>
          <a:xfrm>
            <a:off x="9509760" y="2377440"/>
            <a:ext cx="1828800" cy="182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 container is a different userland on the same kernel</a:t>
            </a:r>
            <a:endParaRPr lang="en-US" sz="3400" dirty="0"/>
          </a:p>
        </p:txBody>
      </p:sp>
      <p:sp>
        <p:nvSpPr>
          <p:cNvPr id="3" name="Text 1"/>
          <p:cNvSpPr txBox="1"/>
          <p:nvPr/>
        </p:nvSpPr>
        <p:spPr>
          <a:xfrm>
            <a:off x="548640" y="1325880"/>
            <a:ext cx="3291840" cy="365760"/>
          </a:xfrm>
          <a:prstGeom prst="rect">
            <a:avLst/>
          </a:prstGeom>
          <a:noFill/>
          <a:ln/>
        </p:spPr>
        <p:txBody>
          <a:bodyPr wrap="square" lIns="0" tIns="0" rIns="0" bIns="0" rtlCol="0" anchor="ctr"/>
          <a:lstStyle/>
          <a:p>
            <a:pPr algn="ctr" indent="0" marL="0">
              <a:buNone/>
            </a:pPr>
            <a:r>
              <a:rPr lang="en-US" sz="1600" b="1" dirty="0">
                <a:solidFill>
                  <a:schemeClr val="tx1"/>
                </a:solidFill>
              </a:rPr>
              <a:t>Virtual machine</a:t>
            </a:r>
            <a:endParaRPr lang="en-US" sz="1600" dirty="0"/>
          </a:p>
        </p:txBody>
      </p:sp>
      <p:sp>
        <p:nvSpPr>
          <p:cNvPr id="4" name="Virtual machine-0"/>
          <p:cNvSpPr/>
          <p:nvPr/>
        </p:nvSpPr>
        <p:spPr>
          <a:xfrm>
            <a:off x="548640" y="1783080"/>
            <a:ext cx="3291840" cy="603504"/>
          </a:xfrm>
          <a:prstGeom prst="roundRect">
            <a:avLst>
              <a:gd name="adj" fmla="val 9091"/>
            </a:avLst>
          </a:prstGeom>
          <a:solidFill>
            <a:srgbClr val="4E8A3C"/>
          </a:solidFill>
          <a:ln/>
        </p:spPr>
      </p:sp>
      <p:sp>
        <p:nvSpPr>
          <p:cNvPr id="5" name="Text 3"/>
          <p:cNvSpPr txBox="1"/>
          <p:nvPr/>
        </p:nvSpPr>
        <p:spPr>
          <a:xfrm>
            <a:off x="548640" y="1783080"/>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App + libraries</a:t>
            </a:r>
            <a:endParaRPr lang="en-US" sz="1500" dirty="0"/>
          </a:p>
        </p:txBody>
      </p:sp>
      <p:sp>
        <p:nvSpPr>
          <p:cNvPr id="6" name="Virtual machine-1"/>
          <p:cNvSpPr/>
          <p:nvPr/>
        </p:nvSpPr>
        <p:spPr>
          <a:xfrm>
            <a:off x="548640" y="2496312"/>
            <a:ext cx="3291840" cy="603504"/>
          </a:xfrm>
          <a:prstGeom prst="roundRect">
            <a:avLst>
              <a:gd name="adj" fmla="val 9091"/>
            </a:avLst>
          </a:prstGeom>
          <a:solidFill>
            <a:srgbClr val="8996A3"/>
          </a:solidFill>
          <a:ln/>
        </p:spPr>
      </p:sp>
      <p:sp>
        <p:nvSpPr>
          <p:cNvPr id="7" name="Text 5"/>
          <p:cNvSpPr txBox="1"/>
          <p:nvPr/>
        </p:nvSpPr>
        <p:spPr>
          <a:xfrm>
            <a:off x="548640" y="2496312"/>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Guest OS + kernel</a:t>
            </a:r>
            <a:endParaRPr lang="en-US" sz="1500" dirty="0"/>
          </a:p>
        </p:txBody>
      </p:sp>
      <p:sp>
        <p:nvSpPr>
          <p:cNvPr id="8" name="Virtual machine-2"/>
          <p:cNvSpPr/>
          <p:nvPr/>
        </p:nvSpPr>
        <p:spPr>
          <a:xfrm>
            <a:off x="548640" y="3209544"/>
            <a:ext cx="3291840" cy="603504"/>
          </a:xfrm>
          <a:prstGeom prst="roundRect">
            <a:avLst>
              <a:gd name="adj" fmla="val 9091"/>
            </a:avLst>
          </a:prstGeom>
          <a:solidFill>
            <a:srgbClr val="8996A3"/>
          </a:solidFill>
          <a:ln/>
        </p:spPr>
      </p:sp>
      <p:sp>
        <p:nvSpPr>
          <p:cNvPr id="9" name="Text 7"/>
          <p:cNvSpPr txBox="1"/>
          <p:nvPr/>
        </p:nvSpPr>
        <p:spPr>
          <a:xfrm>
            <a:off x="548640" y="3209544"/>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Hypervisor</a:t>
            </a:r>
            <a:endParaRPr lang="en-US" sz="1500" dirty="0"/>
          </a:p>
        </p:txBody>
      </p:sp>
      <p:sp>
        <p:nvSpPr>
          <p:cNvPr id="10" name="Virtual machine-3"/>
          <p:cNvSpPr/>
          <p:nvPr/>
        </p:nvSpPr>
        <p:spPr>
          <a:xfrm>
            <a:off x="548640" y="3922776"/>
            <a:ext cx="3291840" cy="603504"/>
          </a:xfrm>
          <a:prstGeom prst="roundRect">
            <a:avLst>
              <a:gd name="adj" fmla="val 9091"/>
            </a:avLst>
          </a:prstGeom>
          <a:solidFill>
            <a:srgbClr val="1F2D3A"/>
          </a:solidFill>
          <a:ln/>
        </p:spPr>
      </p:sp>
      <p:sp>
        <p:nvSpPr>
          <p:cNvPr id="11" name="Text 9"/>
          <p:cNvSpPr txBox="1"/>
          <p:nvPr/>
        </p:nvSpPr>
        <p:spPr>
          <a:xfrm>
            <a:off x="548640" y="3922776"/>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Host kernel</a:t>
            </a:r>
            <a:endParaRPr lang="en-US" sz="1500" dirty="0"/>
          </a:p>
        </p:txBody>
      </p:sp>
      <p:sp>
        <p:nvSpPr>
          <p:cNvPr id="12" name="Virtual machine-4"/>
          <p:cNvSpPr/>
          <p:nvPr/>
        </p:nvSpPr>
        <p:spPr>
          <a:xfrm>
            <a:off x="548640" y="4636008"/>
            <a:ext cx="3291840" cy="603504"/>
          </a:xfrm>
          <a:prstGeom prst="roundRect">
            <a:avLst>
              <a:gd name="adj" fmla="val 9091"/>
            </a:avLst>
          </a:prstGeom>
          <a:solidFill>
            <a:srgbClr val="1B2631"/>
          </a:solidFill>
          <a:ln/>
        </p:spPr>
      </p:sp>
      <p:sp>
        <p:nvSpPr>
          <p:cNvPr id="13" name="Text 11"/>
          <p:cNvSpPr txBox="1"/>
          <p:nvPr/>
        </p:nvSpPr>
        <p:spPr>
          <a:xfrm>
            <a:off x="548640" y="4636008"/>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Hardware</a:t>
            </a:r>
            <a:endParaRPr lang="en-US" sz="1500" dirty="0"/>
          </a:p>
        </p:txBody>
      </p:sp>
      <p:sp>
        <p:nvSpPr>
          <p:cNvPr id="14" name="Text 12"/>
          <p:cNvSpPr txBox="1"/>
          <p:nvPr/>
        </p:nvSpPr>
        <p:spPr>
          <a:xfrm>
            <a:off x="4206240" y="2039112"/>
            <a:ext cx="3291840" cy="365760"/>
          </a:xfrm>
          <a:prstGeom prst="rect">
            <a:avLst/>
          </a:prstGeom>
          <a:noFill/>
          <a:ln/>
        </p:spPr>
        <p:txBody>
          <a:bodyPr wrap="square" lIns="0" tIns="0" rIns="0" bIns="0" rtlCol="0" anchor="ctr"/>
          <a:lstStyle/>
          <a:p>
            <a:pPr algn="ctr" indent="0" marL="0">
              <a:buNone/>
            </a:pPr>
            <a:r>
              <a:rPr lang="en-US" sz="1600" b="1" dirty="0">
                <a:solidFill>
                  <a:schemeClr val="tx1"/>
                </a:solidFill>
              </a:rPr>
              <a:t>Container (Apptainer)</a:t>
            </a:r>
            <a:endParaRPr lang="en-US" sz="1600" dirty="0"/>
          </a:p>
        </p:txBody>
      </p:sp>
      <p:sp>
        <p:nvSpPr>
          <p:cNvPr id="15" name="Container (Apptainer)-0"/>
          <p:cNvSpPr/>
          <p:nvPr/>
        </p:nvSpPr>
        <p:spPr>
          <a:xfrm>
            <a:off x="4206240" y="2496312"/>
            <a:ext cx="3291840" cy="603504"/>
          </a:xfrm>
          <a:prstGeom prst="roundRect">
            <a:avLst>
              <a:gd name="adj" fmla="val 9091"/>
            </a:avLst>
          </a:prstGeom>
          <a:solidFill>
            <a:srgbClr val="4E8A3C"/>
          </a:solidFill>
          <a:ln/>
        </p:spPr>
      </p:sp>
      <p:sp>
        <p:nvSpPr>
          <p:cNvPr id="16" name="Text 14"/>
          <p:cNvSpPr txBox="1"/>
          <p:nvPr/>
        </p:nvSpPr>
        <p:spPr>
          <a:xfrm>
            <a:off x="4206240" y="2496312"/>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App + libraries</a:t>
            </a:r>
            <a:endParaRPr lang="en-US" sz="1500" dirty="0"/>
          </a:p>
        </p:txBody>
      </p:sp>
      <p:sp>
        <p:nvSpPr>
          <p:cNvPr id="17" name="Container (Apptainer)-1"/>
          <p:cNvSpPr/>
          <p:nvPr/>
        </p:nvSpPr>
        <p:spPr>
          <a:xfrm>
            <a:off x="4206240" y="3209544"/>
            <a:ext cx="3291840" cy="603504"/>
          </a:xfrm>
          <a:prstGeom prst="roundRect">
            <a:avLst>
              <a:gd name="adj" fmla="val 9091"/>
            </a:avLst>
          </a:prstGeom>
          <a:solidFill>
            <a:srgbClr val="E0731F"/>
          </a:solidFill>
          <a:ln/>
        </p:spPr>
      </p:sp>
      <p:sp>
        <p:nvSpPr>
          <p:cNvPr id="18" name="Text 16"/>
          <p:cNvSpPr txBox="1"/>
          <p:nvPr/>
        </p:nvSpPr>
        <p:spPr>
          <a:xfrm>
            <a:off x="4206240" y="3209544"/>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Ubuntu 24.04 userland</a:t>
            </a:r>
            <a:endParaRPr lang="en-US" sz="1500" dirty="0"/>
          </a:p>
        </p:txBody>
      </p:sp>
      <p:sp>
        <p:nvSpPr>
          <p:cNvPr id="19" name="Container (Apptainer)-2"/>
          <p:cNvSpPr/>
          <p:nvPr/>
        </p:nvSpPr>
        <p:spPr>
          <a:xfrm>
            <a:off x="4206240" y="3922776"/>
            <a:ext cx="3291840" cy="603504"/>
          </a:xfrm>
          <a:prstGeom prst="roundRect">
            <a:avLst>
              <a:gd name="adj" fmla="val 9091"/>
            </a:avLst>
          </a:prstGeom>
          <a:solidFill>
            <a:srgbClr val="1F2D3A"/>
          </a:solidFill>
          <a:ln/>
        </p:spPr>
      </p:sp>
      <p:sp>
        <p:nvSpPr>
          <p:cNvPr id="20" name="Text 18"/>
          <p:cNvSpPr txBox="1"/>
          <p:nvPr/>
        </p:nvSpPr>
        <p:spPr>
          <a:xfrm>
            <a:off x="4206240" y="3922776"/>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Host kernel  (Midway3)</a:t>
            </a:r>
            <a:endParaRPr lang="en-US" sz="1500" dirty="0"/>
          </a:p>
        </p:txBody>
      </p:sp>
      <p:sp>
        <p:nvSpPr>
          <p:cNvPr id="21" name="Container (Apptainer)-3"/>
          <p:cNvSpPr/>
          <p:nvPr/>
        </p:nvSpPr>
        <p:spPr>
          <a:xfrm>
            <a:off x="4206240" y="4636008"/>
            <a:ext cx="3291840" cy="603504"/>
          </a:xfrm>
          <a:prstGeom prst="roundRect">
            <a:avLst>
              <a:gd name="adj" fmla="val 9091"/>
            </a:avLst>
          </a:prstGeom>
          <a:solidFill>
            <a:srgbClr val="1B2631"/>
          </a:solidFill>
          <a:ln/>
        </p:spPr>
      </p:sp>
      <p:sp>
        <p:nvSpPr>
          <p:cNvPr id="22" name="Text 20"/>
          <p:cNvSpPr txBox="1"/>
          <p:nvPr/>
        </p:nvSpPr>
        <p:spPr>
          <a:xfrm>
            <a:off x="4206240" y="4636008"/>
            <a:ext cx="3291840" cy="603504"/>
          </a:xfrm>
          <a:prstGeom prst="rect">
            <a:avLst/>
          </a:prstGeom>
          <a:noFill/>
          <a:ln/>
        </p:spPr>
        <p:txBody>
          <a:bodyPr wrap="square" lIns="0" tIns="0" rIns="0" bIns="0" rtlCol="0" anchor="ctr"/>
          <a:lstStyle/>
          <a:p>
            <a:pPr algn="ctr" indent="0" marL="0">
              <a:buNone/>
            </a:pPr>
            <a:r>
              <a:rPr lang="en-US" sz="1500" b="1" dirty="0">
                <a:solidFill>
                  <a:schemeClr val="bg1"/>
                </a:solidFill>
              </a:rPr>
              <a:t>Hardware: CPUs, IB, GPUs</a:t>
            </a:r>
            <a:endParaRPr lang="en-US" sz="1500" dirty="0"/>
          </a:p>
        </p:txBody>
      </p:sp>
      <p:sp>
        <p:nvSpPr>
          <p:cNvPr id="23" name="bullets"/>
          <p:cNvSpPr txBox="1"/>
          <p:nvPr/>
        </p:nvSpPr>
        <p:spPr>
          <a:xfrm>
            <a:off x="7955280" y="1463040"/>
            <a:ext cx="3657600" cy="4206240"/>
          </a:xfrm>
          <a:prstGeom prst="rect">
            <a:avLst/>
          </a:prstGeom>
          <a:noFill/>
          <a:ln/>
        </p:spPr>
        <p:txBody>
          <a:bodyPr wrap="square" lIns="0" tIns="0" rIns="0" bIns="0" rtlCol="0" anchor="t"/>
          <a:lstStyle/>
          <a:p>
            <a:pPr marL="342900" indent="-342900">
              <a:spcAft>
                <a:spcPts val="1400"/>
              </a:spcAft>
              <a:buSzPct val="100000"/>
              <a:buChar char="•"/>
            </a:pPr>
            <a:r>
              <a:rPr lang="en-US" sz="1700" b="1" dirty="0">
                <a:solidFill>
                  <a:schemeClr val="tx1"/>
                </a:solidFill>
              </a:rPr>
              <a:t>Inside: </a:t>
            </a:r>
            <a:r>
              <a:rPr lang="en-US" sz="1700" dirty="0">
                <a:solidFill>
                  <a:schemeClr val="tx1"/>
                </a:solidFill>
              </a:rPr>
              <a:t>files — OS libraries, compilers, MPI, applications</a:t>
            </a:r>
            <a:endParaRPr lang="en-US" sz="1700" dirty="0"/>
          </a:p>
          <a:p>
            <a:pPr marL="342900" indent="-342900">
              <a:spcAft>
                <a:spcPts val="1400"/>
              </a:spcAft>
              <a:buSzPct val="100000"/>
              <a:buChar char="•"/>
            </a:pPr>
            <a:r>
              <a:rPr lang="en-US" sz="1700" b="1" dirty="0">
                <a:solidFill>
                  <a:schemeClr val="tx1"/>
                </a:solidFill>
              </a:rPr>
              <a:t>Outside: </a:t>
            </a:r>
            <a:r>
              <a:rPr lang="en-US" sz="1700" dirty="0">
                <a:solidFill>
                  <a:schemeClr val="tx1"/>
                </a:solidFill>
              </a:rPr>
              <a:t>kernel, CPUs, memory, network, GPUs, file systems</a:t>
            </a:r>
            <a:endParaRPr lang="en-US" sz="1700" dirty="0"/>
          </a:p>
          <a:p>
            <a:pPr marL="342900" indent="-342900">
              <a:spcAft>
                <a:spcPts val="1400"/>
              </a:spcAft>
              <a:buSzPct val="100000"/>
              <a:buChar char="•"/>
            </a:pPr>
            <a:r>
              <a:rPr lang="en-US" sz="1700" b="1" dirty="0">
                <a:solidFill>
                  <a:schemeClr val="tx1"/>
                </a:solidFill>
              </a:rPr>
              <a:t>No hypervisor, </a:t>
            </a:r>
            <a:r>
              <a:rPr lang="en-US" sz="1700" dirty="0">
                <a:solidFill>
                  <a:schemeClr val="tx1"/>
                </a:solidFill>
              </a:rPr>
              <a:t>so no performance tax: processes run directly on the hardware</a:t>
            </a:r>
            <a:endParaRPr lang="en-US" sz="1700" dirty="0"/>
          </a:p>
          <a:p>
            <a:pPr marL="342900" indent="-342900">
              <a:spcAft>
                <a:spcPts val="1400"/>
              </a:spcAft>
              <a:buSzPct val="100000"/>
              <a:buChar char="•"/>
            </a:pPr>
            <a:r>
              <a:rPr lang="en-US" sz="1700" b="1" dirty="0">
                <a:solidFill>
                  <a:schemeClr val="tx1"/>
                </a:solidFill>
              </a:rPr>
              <a:t>Portable, </a:t>
            </a:r>
            <a:r>
              <a:rPr lang="en-US" sz="1700" dirty="0">
                <a:solidFill>
                  <a:schemeClr val="tx1"/>
                </a:solidFill>
              </a:rPr>
              <a:t>with a caveat: the kernel and drivers come from the host</a:t>
            </a:r>
            <a:endParaRPr lang="en-US" sz="1700" dirty="0"/>
          </a:p>
        </p:txBody>
      </p:sp>
      <p:sp>
        <p:nvSpPr>
          <p:cNvPr id="24"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After S. Shende, “What are containers / Hypervisors and Containers”, MUG'24.</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Why Apptainer, not Docker, on a shared cluster</a:t>
            </a:r>
            <a:endParaRPr lang="en-US" sz="3400" dirty="0"/>
          </a:p>
        </p:txBody>
      </p:sp>
      <p:graphicFrame>
        <p:nvGraphicFramePr>
          <p:cNvPr id="8" name="docker-vs-apptainer"/>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434840"/>
                <a:gridCol w="4434840"/>
              </a:tblGrid>
              <a:tr h="566928">
                <a:tc>
                  <a:txBody>
                    <a:bodyPr/>
                    <a:lstStyle/>
                    <a:p>
                      <a:pPr indent="0" marL="0">
                        <a:buNone/>
                      </a:pP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Docker</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8996A3"/>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Apptainer</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4E8A3C"/>
                    </a:solidFill>
                  </a:tcPr>
                </a:tc>
              </a:tr>
              <a:tr h="566928">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Who runs it</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A root-owned daemon starts your container</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You do; it is just your process</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566928">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Privileges</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docker group ≈ root on the node</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Same UID inside and out; no escalation</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566928">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Image format</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Layers under /var/lib/docker</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One read-only .sif file on GPFS</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566928">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Scheduler</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Outside Slurm's view</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srun / sbatch launch it like any program</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566928">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MPI and GPUs</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Network namespace gets in the way</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1B2631"/>
                          </a:solidFill>
                          <a:latin typeface="Calibri" pitchFamily="34" charset="0"/>
                          <a:ea typeface="Calibri" pitchFamily="34" charset="-122"/>
                          <a:cs typeface="Calibri" pitchFamily="34" charset="-120"/>
                        </a:rPr>
                        <a:t>Host network and devices; --nv / --rocm</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bl>
          </a:graphicData>
        </a:graphic>
      </p:graphicFrame>
      <p:sp>
        <p:nvSpPr>
          <p:cNvPr id="4" name="Text 1"/>
          <p:cNvSpPr txBox="1"/>
          <p:nvPr/>
        </p:nvSpPr>
        <p:spPr>
          <a:xfrm>
            <a:off x="548640" y="5120640"/>
            <a:ext cx="11064240" cy="640080"/>
          </a:xfrm>
          <a:prstGeom prst="rect">
            <a:avLst/>
          </a:prstGeom>
          <a:noFill/>
          <a:ln/>
        </p:spPr>
        <p:txBody>
          <a:bodyPr wrap="square" lIns="0" tIns="0" rIns="0" bIns="0" rtlCol="0" anchor="ctr"/>
          <a:lstStyle/>
          <a:p>
            <a:pPr indent="0" marL="0">
              <a:buNone/>
            </a:pPr>
            <a:r>
              <a:rPr lang="en-US" sz="1600" i="1" dirty="0">
                <a:solidFill>
                  <a:schemeClr val="tx1"/>
                </a:solidFill>
              </a:rPr>
              <a:t>Docker images still matter: apptainer pull docker://… converts them, so everything on Docker Hub (including E4S) is usable.</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rootless execution model</a:t>
            </a:r>
            <a:endParaRPr lang="en-US" sz="3400" dirty="0"/>
          </a:p>
        </p:txBody>
      </p:sp>
      <p:sp>
        <p:nvSpPr>
          <p:cNvPr id="3" name="fact-0-circle"/>
          <p:cNvSpPr/>
          <p:nvPr/>
        </p:nvSpPr>
        <p:spPr>
          <a:xfrm>
            <a:off x="548640" y="1371600"/>
            <a:ext cx="685800" cy="685800"/>
          </a:xfrm>
          <a:prstGeom prst="ellipse">
            <a:avLst/>
          </a:prstGeom>
          <a:solidFill>
            <a:srgbClr val="2F6E9E"/>
          </a:solidFill>
          <a:ln/>
        </p:spPr>
      </p:sp>
      <p:pic>
        <p:nvPicPr>
          <p:cNvPr id="4" name="fact-0-icon" descr="fact-0">    </p:cNvPr>
          <p:cNvPicPr>
            <a:picLocks noChangeAspect="1"/>
          </p:cNvPicPr>
          <p:nvPr/>
        </p:nvPicPr>
        <p:blipFill>
          <a:blip r:embed="rId1"/>
          <a:stretch>
            <a:fillRect/>
          </a:stretch>
        </p:blipFill>
        <p:spPr>
          <a:xfrm>
            <a:off x="713232" y="1536192"/>
            <a:ext cx="356616" cy="356616"/>
          </a:xfrm>
          <a:prstGeom prst="rect">
            <a:avLst/>
          </a:prstGeom>
        </p:spPr>
      </p:pic>
      <p:sp>
        <p:nvSpPr>
          <p:cNvPr id="5" name="Text 2"/>
          <p:cNvSpPr txBox="1"/>
          <p:nvPr/>
        </p:nvSpPr>
        <p:spPr>
          <a:xfrm>
            <a:off x="1463040" y="1371600"/>
            <a:ext cx="2926080" cy="685800"/>
          </a:xfrm>
          <a:prstGeom prst="rect">
            <a:avLst/>
          </a:prstGeom>
          <a:noFill/>
          <a:ln/>
        </p:spPr>
        <p:txBody>
          <a:bodyPr wrap="square" lIns="0" tIns="0" rIns="0" bIns="0" rtlCol="0" anchor="ctr"/>
          <a:lstStyle/>
          <a:p>
            <a:pPr indent="0" marL="0">
              <a:buNone/>
            </a:pPr>
            <a:r>
              <a:rPr lang="en-US" sz="1900" b="1" dirty="0">
                <a:solidFill>
                  <a:schemeClr val="tx1"/>
                </a:solidFill>
              </a:rPr>
              <a:t>Same user</a:t>
            </a:r>
            <a:endParaRPr lang="en-US" sz="1900" dirty="0"/>
          </a:p>
        </p:txBody>
      </p:sp>
      <p:sp>
        <p:nvSpPr>
          <p:cNvPr id="6" name="Text 3"/>
          <p:cNvSpPr txBox="1"/>
          <p:nvPr/>
        </p:nvSpPr>
        <p:spPr>
          <a:xfrm>
            <a:off x="4389120" y="1371600"/>
            <a:ext cx="7223760" cy="685800"/>
          </a:xfrm>
          <a:prstGeom prst="rect">
            <a:avLst/>
          </a:prstGeom>
          <a:noFill/>
          <a:ln/>
        </p:spPr>
        <p:txBody>
          <a:bodyPr wrap="square" lIns="0" tIns="0" rIns="0" bIns="0" rtlCol="0" anchor="ctr"/>
          <a:lstStyle/>
          <a:p>
            <a:pPr indent="0" marL="0">
              <a:buNone/>
            </a:pPr>
            <a:r>
              <a:rPr lang="en-US" sz="1600" dirty="0">
                <a:solidFill>
                  <a:schemeClr val="tx1"/>
                </a:solidFill>
              </a:rPr>
              <a:t>id -un inside = outside. Files you create are yours; Slurm accounting just works.</a:t>
            </a:r>
            <a:endParaRPr lang="en-US" sz="1600" dirty="0"/>
          </a:p>
        </p:txBody>
      </p:sp>
      <p:sp>
        <p:nvSpPr>
          <p:cNvPr id="7" name="fact-1-circle"/>
          <p:cNvSpPr/>
          <p:nvPr/>
        </p:nvSpPr>
        <p:spPr>
          <a:xfrm>
            <a:off x="548640" y="2322576"/>
            <a:ext cx="685800" cy="685800"/>
          </a:xfrm>
          <a:prstGeom prst="ellipse">
            <a:avLst/>
          </a:prstGeom>
          <a:solidFill>
            <a:srgbClr val="800000"/>
          </a:solidFill>
          <a:ln/>
        </p:spPr>
      </p:sp>
      <p:pic>
        <p:nvPicPr>
          <p:cNvPr id="8" name="fact-1-icon" descr="fact-1">    </p:cNvPr>
          <p:cNvPicPr>
            <a:picLocks noChangeAspect="1"/>
          </p:cNvPicPr>
          <p:nvPr/>
        </p:nvPicPr>
        <p:blipFill>
          <a:blip r:embed="rId2"/>
          <a:stretch>
            <a:fillRect/>
          </a:stretch>
        </p:blipFill>
        <p:spPr>
          <a:xfrm>
            <a:off x="713232" y="2487168"/>
            <a:ext cx="356616" cy="356616"/>
          </a:xfrm>
          <a:prstGeom prst="rect">
            <a:avLst/>
          </a:prstGeom>
        </p:spPr>
      </p:pic>
      <p:sp>
        <p:nvSpPr>
          <p:cNvPr id="9" name="Text 5"/>
          <p:cNvSpPr txBox="1"/>
          <p:nvPr/>
        </p:nvSpPr>
        <p:spPr>
          <a:xfrm>
            <a:off x="1463040" y="2322576"/>
            <a:ext cx="2926080" cy="685800"/>
          </a:xfrm>
          <a:prstGeom prst="rect">
            <a:avLst/>
          </a:prstGeom>
          <a:noFill/>
          <a:ln/>
        </p:spPr>
        <p:txBody>
          <a:bodyPr wrap="square" lIns="0" tIns="0" rIns="0" bIns="0" rtlCol="0" anchor="ctr"/>
          <a:lstStyle/>
          <a:p>
            <a:pPr indent="0" marL="0">
              <a:buNone/>
            </a:pPr>
            <a:r>
              <a:rPr lang="en-US" sz="1900" b="1" dirty="0">
                <a:solidFill>
                  <a:schemeClr val="tx1"/>
                </a:solidFill>
              </a:rPr>
              <a:t>Read-only image</a:t>
            </a:r>
            <a:endParaRPr lang="en-US" sz="1900" dirty="0"/>
          </a:p>
        </p:txBody>
      </p:sp>
      <p:sp>
        <p:nvSpPr>
          <p:cNvPr id="10" name="Text 6"/>
          <p:cNvSpPr txBox="1"/>
          <p:nvPr/>
        </p:nvSpPr>
        <p:spPr>
          <a:xfrm>
            <a:off x="4389120" y="2322576"/>
            <a:ext cx="7223760" cy="685800"/>
          </a:xfrm>
          <a:prstGeom prst="rect">
            <a:avLst/>
          </a:prstGeom>
          <a:noFill/>
          <a:ln/>
        </p:spPr>
        <p:txBody>
          <a:bodyPr wrap="square" lIns="0" tIns="0" rIns="0" bIns="0" rtlCol="0" anchor="ctr"/>
          <a:lstStyle/>
          <a:p>
            <a:pPr indent="0" marL="0">
              <a:buNone/>
            </a:pPr>
            <a:r>
              <a:rPr lang="en-US" sz="1600" dirty="0">
                <a:solidFill>
                  <a:schemeClr val="tx1"/>
                </a:solidFill>
              </a:rPr>
              <a:t>The .sif is mounted read-only. --writable-tmpfs adds a throwaway layer in RAM.</a:t>
            </a:r>
            <a:endParaRPr lang="en-US" sz="1600" dirty="0"/>
          </a:p>
        </p:txBody>
      </p:sp>
      <p:sp>
        <p:nvSpPr>
          <p:cNvPr id="11" name="fact-2-circle"/>
          <p:cNvSpPr/>
          <p:nvPr/>
        </p:nvSpPr>
        <p:spPr>
          <a:xfrm>
            <a:off x="548640" y="3273552"/>
            <a:ext cx="685800" cy="685800"/>
          </a:xfrm>
          <a:prstGeom prst="ellipse">
            <a:avLst/>
          </a:prstGeom>
          <a:solidFill>
            <a:srgbClr val="4E8A3C"/>
          </a:solidFill>
          <a:ln/>
        </p:spPr>
      </p:sp>
      <p:pic>
        <p:nvPicPr>
          <p:cNvPr id="12" name="fact-2-icon" descr="fact-2">    </p:cNvPr>
          <p:cNvPicPr>
            <a:picLocks noChangeAspect="1"/>
          </p:cNvPicPr>
          <p:nvPr/>
        </p:nvPicPr>
        <p:blipFill>
          <a:blip r:embed="rId3"/>
          <a:stretch>
            <a:fillRect/>
          </a:stretch>
        </p:blipFill>
        <p:spPr>
          <a:xfrm>
            <a:off x="713232" y="3438144"/>
            <a:ext cx="356616" cy="356616"/>
          </a:xfrm>
          <a:prstGeom prst="rect">
            <a:avLst/>
          </a:prstGeom>
        </p:spPr>
      </p:pic>
      <p:sp>
        <p:nvSpPr>
          <p:cNvPr id="13" name="Text 8"/>
          <p:cNvSpPr txBox="1"/>
          <p:nvPr/>
        </p:nvSpPr>
        <p:spPr>
          <a:xfrm>
            <a:off x="1463040" y="3273552"/>
            <a:ext cx="2926080" cy="685800"/>
          </a:xfrm>
          <a:prstGeom prst="rect">
            <a:avLst/>
          </a:prstGeom>
          <a:noFill/>
          <a:ln/>
        </p:spPr>
        <p:txBody>
          <a:bodyPr wrap="square" lIns="0" tIns="0" rIns="0" bIns="0" rtlCol="0" anchor="ctr"/>
          <a:lstStyle/>
          <a:p>
            <a:pPr indent="0" marL="0">
              <a:buNone/>
            </a:pPr>
            <a:r>
              <a:rPr lang="en-US" sz="1900" b="1" dirty="0">
                <a:solidFill>
                  <a:schemeClr val="tx1"/>
                </a:solidFill>
              </a:rPr>
              <a:t>Your files are mounted</a:t>
            </a:r>
            <a:endParaRPr lang="en-US" sz="1900" dirty="0"/>
          </a:p>
        </p:txBody>
      </p:sp>
      <p:sp>
        <p:nvSpPr>
          <p:cNvPr id="14" name="Text 9"/>
          <p:cNvSpPr txBox="1"/>
          <p:nvPr/>
        </p:nvSpPr>
        <p:spPr>
          <a:xfrm>
            <a:off x="4389120" y="3273552"/>
            <a:ext cx="7223760" cy="685800"/>
          </a:xfrm>
          <a:prstGeom prst="rect">
            <a:avLst/>
          </a:prstGeom>
          <a:noFill/>
          <a:ln/>
        </p:spPr>
        <p:txBody>
          <a:bodyPr wrap="square" lIns="0" tIns="0" rIns="0" bIns="0" rtlCol="0" anchor="ctr"/>
          <a:lstStyle/>
          <a:p>
            <a:pPr indent="0" marL="0">
              <a:buNone/>
            </a:pPr>
            <a:r>
              <a:rPr lang="en-US" sz="1600" dirty="0">
                <a:solidFill>
                  <a:schemeClr val="tx1"/>
                </a:solidFill>
              </a:rPr>
              <a:t>$HOME, /tmp and the current directory appear automatically; add more with -B.</a:t>
            </a:r>
            <a:endParaRPr lang="en-US" sz="1600" dirty="0"/>
          </a:p>
        </p:txBody>
      </p:sp>
      <p:sp>
        <p:nvSpPr>
          <p:cNvPr id="15" name="fact-3-circle"/>
          <p:cNvSpPr/>
          <p:nvPr/>
        </p:nvSpPr>
        <p:spPr>
          <a:xfrm>
            <a:off x="548640" y="4224528"/>
            <a:ext cx="685800" cy="685800"/>
          </a:xfrm>
          <a:prstGeom prst="ellipse">
            <a:avLst/>
          </a:prstGeom>
          <a:solidFill>
            <a:srgbClr val="E0731F"/>
          </a:solidFill>
          <a:ln/>
        </p:spPr>
      </p:sp>
      <p:pic>
        <p:nvPicPr>
          <p:cNvPr id="16" name="fact-3-icon" descr="fact-3">    </p:cNvPr>
          <p:cNvPicPr>
            <a:picLocks noChangeAspect="1"/>
          </p:cNvPicPr>
          <p:nvPr/>
        </p:nvPicPr>
        <p:blipFill>
          <a:blip r:embed="rId4"/>
          <a:stretch>
            <a:fillRect/>
          </a:stretch>
        </p:blipFill>
        <p:spPr>
          <a:xfrm>
            <a:off x="713232" y="4389120"/>
            <a:ext cx="356616" cy="356616"/>
          </a:xfrm>
          <a:prstGeom prst="rect">
            <a:avLst/>
          </a:prstGeom>
        </p:spPr>
      </p:pic>
      <p:sp>
        <p:nvSpPr>
          <p:cNvPr id="17" name="Text 11"/>
          <p:cNvSpPr txBox="1"/>
          <p:nvPr/>
        </p:nvSpPr>
        <p:spPr>
          <a:xfrm>
            <a:off x="1463040" y="4224528"/>
            <a:ext cx="2926080" cy="685800"/>
          </a:xfrm>
          <a:prstGeom prst="rect">
            <a:avLst/>
          </a:prstGeom>
          <a:noFill/>
          <a:ln/>
        </p:spPr>
        <p:txBody>
          <a:bodyPr wrap="square" lIns="0" tIns="0" rIns="0" bIns="0" rtlCol="0" anchor="ctr"/>
          <a:lstStyle/>
          <a:p>
            <a:pPr indent="0" marL="0">
              <a:buNone/>
            </a:pPr>
            <a:r>
              <a:rPr lang="en-US" sz="1900" b="1" dirty="0">
                <a:solidFill>
                  <a:schemeClr val="tx1"/>
                </a:solidFill>
              </a:rPr>
              <a:t>Environment flows in</a:t>
            </a:r>
            <a:endParaRPr lang="en-US" sz="1900" dirty="0"/>
          </a:p>
        </p:txBody>
      </p:sp>
      <p:sp>
        <p:nvSpPr>
          <p:cNvPr id="18" name="Text 12"/>
          <p:cNvSpPr txBox="1"/>
          <p:nvPr/>
        </p:nvSpPr>
        <p:spPr>
          <a:xfrm>
            <a:off x="4389120" y="4224528"/>
            <a:ext cx="7223760" cy="685800"/>
          </a:xfrm>
          <a:prstGeom prst="rect">
            <a:avLst/>
          </a:prstGeom>
          <a:noFill/>
          <a:ln/>
        </p:spPr>
        <p:txBody>
          <a:bodyPr wrap="square" lIns="0" tIns="0" rIns="0" bIns="0" rtlCol="0" anchor="ctr"/>
          <a:lstStyle/>
          <a:p>
            <a:pPr indent="0" marL="0">
              <a:buNone/>
            </a:pPr>
            <a:r>
              <a:rPr lang="en-US" sz="1600" dirty="0">
                <a:solidFill>
                  <a:schemeClr val="tx1"/>
                </a:solidFill>
              </a:rPr>
              <a:t>Host variables pass through (needed by MPI); --cleanenv starts from a minimal set.</a:t>
            </a:r>
            <a:endParaRPr lang="en-US" sz="1600" dirty="0"/>
          </a:p>
        </p:txBody>
      </p:sp>
      <p:sp>
        <p:nvSpPr>
          <p:cNvPr id="19" name="fact-4-circle"/>
          <p:cNvSpPr/>
          <p:nvPr/>
        </p:nvSpPr>
        <p:spPr>
          <a:xfrm>
            <a:off x="548640" y="5175504"/>
            <a:ext cx="685800" cy="685800"/>
          </a:xfrm>
          <a:prstGeom prst="ellipse">
            <a:avLst/>
          </a:prstGeom>
          <a:solidFill>
            <a:srgbClr val="8996A3"/>
          </a:solidFill>
          <a:ln/>
        </p:spPr>
      </p:sp>
      <p:pic>
        <p:nvPicPr>
          <p:cNvPr id="20" name="fact-4-icon" descr="fact-4">    </p:cNvPr>
          <p:cNvPicPr>
            <a:picLocks noChangeAspect="1"/>
          </p:cNvPicPr>
          <p:nvPr/>
        </p:nvPicPr>
        <p:blipFill>
          <a:blip r:embed="rId5"/>
          <a:stretch>
            <a:fillRect/>
          </a:stretch>
        </p:blipFill>
        <p:spPr>
          <a:xfrm>
            <a:off x="713232" y="5340096"/>
            <a:ext cx="356616" cy="356616"/>
          </a:xfrm>
          <a:prstGeom prst="rect">
            <a:avLst/>
          </a:prstGeom>
        </p:spPr>
      </p:pic>
      <p:sp>
        <p:nvSpPr>
          <p:cNvPr id="21" name="Text 14"/>
          <p:cNvSpPr txBox="1"/>
          <p:nvPr/>
        </p:nvSpPr>
        <p:spPr>
          <a:xfrm>
            <a:off x="1463040" y="5175504"/>
            <a:ext cx="2926080" cy="685800"/>
          </a:xfrm>
          <a:prstGeom prst="rect">
            <a:avLst/>
          </a:prstGeom>
          <a:noFill/>
          <a:ln/>
        </p:spPr>
        <p:txBody>
          <a:bodyPr wrap="square" lIns="0" tIns="0" rIns="0" bIns="0" rtlCol="0" anchor="ctr"/>
          <a:lstStyle/>
          <a:p>
            <a:pPr indent="0" marL="0">
              <a:buNone/>
            </a:pPr>
            <a:r>
              <a:rPr lang="en-US" sz="1900" b="1" dirty="0">
                <a:solidFill>
                  <a:schemeClr val="tx1"/>
                </a:solidFill>
              </a:rPr>
              <a:t>Root only in builds</a:t>
            </a:r>
            <a:endParaRPr lang="en-US" sz="1900" dirty="0"/>
          </a:p>
        </p:txBody>
      </p:sp>
      <p:sp>
        <p:nvSpPr>
          <p:cNvPr id="22" name="Text 15"/>
          <p:cNvSpPr txBox="1"/>
          <p:nvPr/>
        </p:nvSpPr>
        <p:spPr>
          <a:xfrm>
            <a:off x="4389120" y="5175504"/>
            <a:ext cx="7223760" cy="685800"/>
          </a:xfrm>
          <a:prstGeom prst="rect">
            <a:avLst/>
          </a:prstGeom>
          <a:noFill/>
          <a:ln/>
        </p:spPr>
        <p:txBody>
          <a:bodyPr wrap="square" lIns="0" tIns="0" rIns="0" bIns="0" rtlCol="0" anchor="ctr"/>
          <a:lstStyle/>
          <a:p>
            <a:pPr indent="0" marL="0">
              <a:buNone/>
            </a:pPr>
            <a:r>
              <a:rPr lang="en-US" sz="1600" dirty="0">
                <a:solidFill>
                  <a:schemeClr val="tx1"/>
                </a:solidFill>
              </a:rPr>
              <a:t>--fakeroot maps you to root inside a build namespace, so apt-get works; the host is untouched.</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Apptainer in six commands</a:t>
            </a:r>
            <a:endParaRPr lang="en-US" sz="3400" dirty="0"/>
          </a:p>
        </p:txBody>
      </p:sp>
      <p:sp>
        <p:nvSpPr>
          <p:cNvPr id="3" name="terminal"/>
          <p:cNvSpPr/>
          <p:nvPr/>
        </p:nvSpPr>
        <p:spPr>
          <a:xfrm>
            <a:off x="548640" y="1371600"/>
            <a:ext cx="6949440" cy="1858061"/>
          </a:xfrm>
          <a:prstGeom prst="roundRect">
            <a:avLst>
              <a:gd name="adj" fmla="val 3937"/>
            </a:avLst>
          </a:prstGeom>
          <a:solidFill>
            <a:schemeClr val="tx1"/>
          </a:solidFill>
          <a:ln/>
        </p:spPr>
      </p:sp>
      <p:sp>
        <p:nvSpPr>
          <p:cNvPr id="4" name="terminal-text"/>
          <p:cNvSpPr txBox="1"/>
          <p:nvPr/>
        </p:nvSpPr>
        <p:spPr>
          <a:xfrm>
            <a:off x="731520" y="1481328"/>
            <a:ext cx="6583680" cy="1638605"/>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apptainer pull e4s.sif docker://ecpe4s/e4s-cpu:26.06</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apptainer exec e4s.sif &lt;command&gt;</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apptainer shell e4s.sif</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apptainer run e4s.sif</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apptainer inspect e4s.sif</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apptainer build --fakeroot new.sif recipe.def</a:t>
            </a:r>
            <a:endParaRPr lang="en-US" sz="1500" dirty="0"/>
          </a:p>
        </p:txBody>
      </p:sp>
      <p:sp>
        <p:nvSpPr>
          <p:cNvPr id="5" name="bullets"/>
          <p:cNvSpPr txBox="1"/>
          <p:nvPr/>
        </p:nvSpPr>
        <p:spPr>
          <a:xfrm>
            <a:off x="7863840" y="1417320"/>
            <a:ext cx="3749040" cy="265176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pull: </a:t>
            </a:r>
            <a:r>
              <a:rPr lang="en-US" sz="1700" dirty="0">
                <a:solidFill>
                  <a:schemeClr val="tx1"/>
                </a:solidFill>
              </a:rPr>
              <a:t>Docker/OCI image → single SIF file</a:t>
            </a:r>
            <a:endParaRPr lang="en-US" sz="1700" dirty="0"/>
          </a:p>
          <a:p>
            <a:pPr marL="342900" indent="-342900">
              <a:spcAft>
                <a:spcPts val="600"/>
              </a:spcAft>
              <a:buSzPct val="100000"/>
              <a:buChar char="•"/>
            </a:pPr>
            <a:r>
              <a:rPr lang="en-US" sz="1700" b="1" dirty="0">
                <a:solidFill>
                  <a:schemeClr val="tx1"/>
                </a:solidFill>
              </a:rPr>
              <a:t>exec: </a:t>
            </a:r>
            <a:r>
              <a:rPr lang="en-US" sz="1700" dirty="0">
                <a:solidFill>
                  <a:schemeClr val="tx1"/>
                </a:solidFill>
              </a:rPr>
              <a:t>run one command inside</a:t>
            </a:r>
            <a:endParaRPr lang="en-US" sz="1700" dirty="0"/>
          </a:p>
          <a:p>
            <a:pPr marL="342900" indent="-342900">
              <a:spcAft>
                <a:spcPts val="600"/>
              </a:spcAft>
              <a:buSzPct val="100000"/>
              <a:buChar char="•"/>
            </a:pPr>
            <a:r>
              <a:rPr lang="en-US" sz="1700" b="1" dirty="0">
                <a:solidFill>
                  <a:schemeClr val="tx1"/>
                </a:solidFill>
              </a:rPr>
              <a:t>shell: </a:t>
            </a:r>
            <a:r>
              <a:rPr lang="en-US" sz="1700" dirty="0">
                <a:solidFill>
                  <a:schemeClr val="tx1"/>
                </a:solidFill>
              </a:rPr>
              <a:t>interactive shell inside</a:t>
            </a:r>
            <a:endParaRPr lang="en-US" sz="1700" dirty="0"/>
          </a:p>
          <a:p>
            <a:pPr marL="342900" indent="-342900">
              <a:spcAft>
                <a:spcPts val="600"/>
              </a:spcAft>
              <a:buSzPct val="100000"/>
              <a:buChar char="•"/>
            </a:pPr>
            <a:r>
              <a:rPr lang="en-US" sz="1700" b="1" dirty="0">
                <a:solidFill>
                  <a:schemeClr val="tx1"/>
                </a:solidFill>
              </a:rPr>
              <a:t>run: </a:t>
            </a:r>
            <a:r>
              <a:rPr lang="en-US" sz="1700" dirty="0">
                <a:solidFill>
                  <a:schemeClr val="tx1"/>
                </a:solidFill>
              </a:rPr>
              <a:t>the image's default action (runscript)</a:t>
            </a:r>
            <a:endParaRPr lang="en-US" sz="1700" dirty="0"/>
          </a:p>
          <a:p>
            <a:pPr marL="342900" indent="-342900">
              <a:spcAft>
                <a:spcPts val="600"/>
              </a:spcAft>
              <a:buSzPct val="100000"/>
              <a:buChar char="•"/>
            </a:pPr>
            <a:r>
              <a:rPr lang="en-US" sz="1700" b="1" dirty="0">
                <a:solidFill>
                  <a:schemeClr val="tx1"/>
                </a:solidFill>
              </a:rPr>
              <a:t>inspect: </a:t>
            </a:r>
            <a:r>
              <a:rPr lang="en-US" sz="1700" dirty="0">
                <a:solidFill>
                  <a:schemeClr val="tx1"/>
                </a:solidFill>
              </a:rPr>
              <a:t>labels, runscript, definition</a:t>
            </a:r>
            <a:endParaRPr lang="en-US" sz="1700" dirty="0"/>
          </a:p>
          <a:p>
            <a:pPr marL="342900" indent="-342900">
              <a:spcAft>
                <a:spcPts val="600"/>
              </a:spcAft>
              <a:buSzPct val="100000"/>
              <a:buChar char="•"/>
            </a:pPr>
            <a:r>
              <a:rPr lang="en-US" sz="1700" b="1" dirty="0">
                <a:solidFill>
                  <a:schemeClr val="tx1"/>
                </a:solidFill>
              </a:rPr>
              <a:t>build: </a:t>
            </a:r>
            <a:r>
              <a:rPr lang="en-US" sz="1700" dirty="0">
                <a:solidFill>
                  <a:schemeClr val="tx1"/>
                </a:solidFill>
              </a:rPr>
              <a:t>new image from a recipe (Part 3b)</a:t>
            </a:r>
            <a:endParaRPr lang="en-US" sz="1700" dirty="0"/>
          </a:p>
        </p:txBody>
      </p:sp>
      <p:sp>
        <p:nvSpPr>
          <p:cNvPr id="6" name="flags"/>
          <p:cNvSpPr/>
          <p:nvPr/>
        </p:nvSpPr>
        <p:spPr>
          <a:xfrm>
            <a:off x="548640" y="4343400"/>
            <a:ext cx="11064240" cy="1032906"/>
          </a:xfrm>
          <a:prstGeom prst="roundRect">
            <a:avLst>
              <a:gd name="adj" fmla="val 7082"/>
            </a:avLst>
          </a:prstGeom>
          <a:solidFill>
            <a:schemeClr val="tx1"/>
          </a:solidFill>
          <a:ln/>
        </p:spPr>
      </p:sp>
      <p:sp>
        <p:nvSpPr>
          <p:cNvPr id="7" name="flags-text"/>
          <p:cNvSpPr txBox="1"/>
          <p:nvPr/>
        </p:nvSpPr>
        <p:spPr>
          <a:xfrm>
            <a:off x="731520" y="4453128"/>
            <a:ext cx="10698480" cy="813450"/>
          </a:xfrm>
          <a:prstGeom prst="rect">
            <a:avLst/>
          </a:prstGeom>
          <a:noFill/>
          <a:ln/>
        </p:spPr>
        <p:txBody>
          <a:bodyPr wrap="square" lIns="0" tIns="0" rIns="0" bIns="0" rtlCol="0" anchor="t"/>
          <a:lstStyle/>
          <a:p>
            <a:pPr indent="0" marL="0">
              <a:spcAft>
                <a:spcPts val="200"/>
              </a:spcAft>
              <a:buNone/>
            </a:pPr>
            <a:r>
              <a:rPr lang="en-US" sz="1400" dirty="0">
                <a:solidFill>
                  <a:schemeClr val="accent5"/>
                </a:solidFill>
                <a:latin typeface="Courier New" pitchFamily="34" charset="0"/>
                <a:ea typeface="Courier New" pitchFamily="34" charset="-122"/>
                <a:cs typeface="Courier New" pitchFamily="34" charset="-120"/>
              </a:rPr>
              <a:t># useful flags</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-B /host:/ctr      bind a directory      --cleanenv       don't pass host env</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--writable-tmpfs   scratch layer in RAM   --nv / --rocm   NVIDIA / AMD GPUs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Hands-on 1: poke at the E4S image</a:t>
            </a:r>
            <a:endParaRPr lang="en-US" sz="3400" dirty="0"/>
          </a:p>
        </p:txBody>
      </p:sp>
      <p:sp>
        <p:nvSpPr>
          <p:cNvPr id="3" name="terminal"/>
          <p:cNvSpPr/>
          <p:nvPr/>
        </p:nvSpPr>
        <p:spPr>
          <a:xfrm>
            <a:off x="548640" y="1371600"/>
            <a:ext cx="7680960" cy="2863718"/>
          </a:xfrm>
          <a:prstGeom prst="roundRect">
            <a:avLst>
              <a:gd name="adj" fmla="val 2554"/>
            </a:avLst>
          </a:prstGeom>
          <a:solidFill>
            <a:schemeClr val="tx1"/>
          </a:solidFill>
          <a:ln/>
        </p:spPr>
      </p:sp>
      <p:sp>
        <p:nvSpPr>
          <p:cNvPr id="4" name="terminal-text"/>
          <p:cNvSpPr txBox="1"/>
          <p:nvPr/>
        </p:nvSpPr>
        <p:spPr>
          <a:xfrm>
            <a:off x="731520" y="1481328"/>
            <a:ext cx="7315200" cy="2644262"/>
          </a:xfrm>
          <a:prstGeom prst="rect">
            <a:avLst/>
          </a:prstGeom>
          <a:noFill/>
          <a:ln/>
        </p:spPr>
        <p:txBody>
          <a:bodyPr wrap="square" lIns="0" tIns="0" rIns="0" bIns="0" rtlCol="0" anchor="t"/>
          <a:lstStyle/>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apptainer exec $E4S_IMAGE grep PRETTY_NAME /etc/os-release</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PRETTY_NAME="Ubuntu 24.04.4 LTS"      # host: CentOS Linux 8</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id -un; apptainer exec $E4S_IMAGE id -un</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&lt;cnetid&gt; / &lt;cnetid&gt;                     # same user, same UID</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apptainer exec $E4S_IMAGE touch /opt/hello</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touch: cannot touch '/opt/hello': Read-only file system</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apptainer exec --writable-tmpfs $E4S_IMAGE touch /opt/hello</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apptainer exec $E4S_IMAGE touch ~/hi &amp;&amp; ls ~/hi</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apptainer exec --cleanenv $E4S_IMAGE env | wc -l</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28                                      # instead of ~245</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apptainer inspect --runscript $E4S_IMAGE</a:t>
            </a:r>
            <a:endParaRPr lang="en-US" sz="1350" dirty="0"/>
          </a:p>
        </p:txBody>
      </p:sp>
      <p:sp>
        <p:nvSpPr>
          <p:cNvPr id="5" name="bullets"/>
          <p:cNvSpPr txBox="1"/>
          <p:nvPr/>
        </p:nvSpPr>
        <p:spPr>
          <a:xfrm>
            <a:off x="8595360" y="1463040"/>
            <a:ext cx="3017520" cy="402336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A different Linux, the same kernel and hardware</a:t>
            </a:r>
            <a:endParaRPr lang="en-US" sz="1700" dirty="0"/>
          </a:p>
          <a:p>
            <a:pPr marL="342900" indent="-342900">
              <a:spcAft>
                <a:spcPts val="1600"/>
              </a:spcAft>
              <a:buSzPct val="100000"/>
              <a:buChar char="•"/>
            </a:pPr>
            <a:r>
              <a:rPr lang="en-US" sz="1700" dirty="0">
                <a:solidFill>
                  <a:schemeClr val="tx1"/>
                </a:solidFill>
              </a:rPr>
              <a:t>No root: you are you, inside and out</a:t>
            </a:r>
            <a:endParaRPr lang="en-US" sz="1700" dirty="0"/>
          </a:p>
          <a:p>
            <a:pPr marL="342900" indent="-342900">
              <a:spcAft>
                <a:spcPts val="1600"/>
              </a:spcAft>
              <a:buSzPct val="100000"/>
              <a:buChar char="•"/>
            </a:pPr>
            <a:r>
              <a:rPr lang="en-US" sz="1700" dirty="0">
                <a:solidFill>
                  <a:schemeClr val="tx1"/>
                </a:solidFill>
              </a:rPr>
              <a:t>The image never changes; your home does</a:t>
            </a:r>
            <a:endParaRPr lang="en-US" sz="1700" dirty="0"/>
          </a:p>
          <a:p>
            <a:pPr marL="342900" indent="-342900">
              <a:spcAft>
                <a:spcPts val="1600"/>
              </a:spcAft>
              <a:buSzPct val="100000"/>
              <a:buChar char="•"/>
            </a:pPr>
            <a:r>
              <a:rPr lang="en-US" sz="1700" dirty="0">
                <a:solidFill>
                  <a:schemeClr val="tx1"/>
                </a:solidFill>
              </a:rPr>
              <a:t>--cleanenv: tidy, but breaks MPI</a:t>
            </a:r>
            <a:endParaRPr lang="en-US" sz="1700" dirty="0"/>
          </a:p>
        </p:txBody>
      </p:sp>
      <p:sp>
        <p:nvSpPr>
          <p:cNvPr id="6" name="hands-on-pill"/>
          <p:cNvSpPr/>
          <p:nvPr/>
        </p:nvSpPr>
        <p:spPr>
          <a:xfrm>
            <a:off x="548640" y="5760720"/>
            <a:ext cx="1600200" cy="420624"/>
          </a:xfrm>
          <a:prstGeom prst="roundRect">
            <a:avLst>
              <a:gd name="adj" fmla="val 50000"/>
            </a:avLst>
          </a:prstGeom>
          <a:solidFill>
            <a:schemeClr val="accent1"/>
          </a:solidFill>
          <a:ln/>
        </p:spPr>
      </p:sp>
      <p:sp>
        <p:nvSpPr>
          <p:cNvPr id="7" name="hands-on-label"/>
          <p:cNvSpPr txBox="1"/>
          <p:nvPr/>
        </p:nvSpPr>
        <p:spPr>
          <a:xfrm>
            <a:off x="548640" y="5760720"/>
            <a:ext cx="1600200" cy="420624"/>
          </a:xfrm>
          <a:prstGeom prst="rect">
            <a:avLst/>
          </a:prstGeom>
          <a:noFill/>
          <a:ln/>
        </p:spPr>
        <p:txBody>
          <a:bodyPr wrap="square" lIns="0" tIns="0" rIns="0" bIns="0" rtlCol="0" anchor="ctr"/>
          <a:lstStyle/>
          <a:p>
            <a:pPr algn="ctr" indent="0" marL="0">
              <a:buNone/>
            </a:pPr>
            <a:r>
              <a:rPr lang="en-US" sz="1400" b="1" dirty="0">
                <a:solidFill>
                  <a:schemeClr val="bg1"/>
                </a:solidFill>
              </a:rPr>
              <a:t>HANDS-ON</a:t>
            </a:r>
            <a:endParaRPr lang="en-US" sz="1400" dirty="0"/>
          </a:p>
        </p:txBody>
      </p:sp>
      <p:sp>
        <p:nvSpPr>
          <p:cNvPr id="8" name="hands-on-where"/>
          <p:cNvSpPr txBox="1"/>
          <p:nvPr/>
        </p:nvSpPr>
        <p:spPr>
          <a:xfrm>
            <a:off x="2331720" y="5760720"/>
            <a:ext cx="7315200" cy="420624"/>
          </a:xfrm>
          <a:prstGeom prst="rect">
            <a:avLst/>
          </a:prstGeom>
          <a:noFill/>
          <a:ln/>
        </p:spPr>
        <p:txBody>
          <a:bodyPr wrap="square" lIns="0" tIns="0" rIns="0" bIns="0" rtlCol="0" anchor="ctr"/>
          <a:lstStyle/>
          <a:p>
            <a:pPr indent="0" marL="0">
              <a:buNone/>
            </a:pPr>
            <a:r>
              <a:rPr lang="en-US" sz="1500" b="1" dirty="0">
                <a:solidFill>
                  <a:schemeClr val="accent1"/>
                </a:solidFill>
              </a:rPr>
              <a:t>LAB_GUIDE.md · Part 1  ·  10 minutes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lIns="0" tIns="0" rIns="0" bIns="0" rtlCol="0"/>
          <a:lstStyle/>
          <a:p>
            <a:pPr indent="0" marL="0">
              <a:buNone/>
            </a:pPr>
            <a:r>
              <a:rPr lang="en-US" sz="2000" b="1" spc="400" kern="0" dirty="0">
                <a:solidFill>
                  <a:schemeClr val="accent1"/>
                </a:solidFill>
              </a:rPr>
              <a:t>PART 2  ·  35 MIN</a:t>
            </a:r>
            <a:endParaRPr lang="en-US" sz="2000" dirty="0"/>
          </a:p>
        </p:txBody>
      </p:sp>
      <p:sp>
        <p:nvSpPr>
          <p:cNvPr id="3" name="Text 0"/>
          <p:cNvSpPr/>
          <p:nvPr>
            <p:ph idx="101" type="title" hasCustomPrompt="1"/>
          </p:nvPr>
        </p:nvSpPr>
        <p:spPr>
          <a:xfrm>
            <a:off x="731520" y="2560320"/>
            <a:ext cx="8412480" cy="1554480"/>
          </a:xfrm>
          <a:prstGeom prst="rect">
            <a:avLst/>
          </a:prstGeom>
          <a:noFill/>
          <a:ln/>
        </p:spPr>
        <p:txBody>
          <a:bodyPr wrap="square" lIns="0" tIns="0" rIns="0" bIns="0" rtlCol="0" anchor="t"/>
          <a:lstStyle/>
          <a:p>
            <a:pPr algn="l" indent="0" marL="0">
              <a:buNone/>
            </a:pPr>
            <a:r>
              <a:rPr lang="en-US" sz="4400" b="1" dirty="0">
                <a:solidFill>
                  <a:schemeClr val="bg1"/>
                </a:solidFill>
              </a:rPr>
              <a:t>E4S images: pull, inspect, run under Slurm</a:t>
            </a:r>
            <a:endParaRPr lang="en-US" sz="4400" dirty="0"/>
          </a:p>
        </p:txBody>
      </p:sp>
      <p:sp>
        <p:nvSpPr>
          <p:cNvPr id="4" name="Text 0"/>
          <p:cNvSpPr/>
          <p:nvPr>
            <p:ph idx="102" type="body" hasCustomPrompt="1"/>
          </p:nvPr>
        </p:nvSpPr>
        <p:spPr>
          <a:xfrm>
            <a:off x="731520" y="4206240"/>
            <a:ext cx="8412480" cy="1280160"/>
          </a:xfrm>
          <a:prstGeom prst="rect">
            <a:avLst/>
          </a:prstGeom>
          <a:noFill/>
          <a:ln/>
        </p:spPr>
        <p:txBody>
          <a:bodyPr wrap="square" lIns="0" tIns="0" rIns="0" bIns="0" rtlCol="0" anchor="t"/>
          <a:lstStyle/>
          <a:p>
            <a:pPr indent="0" marL="0">
              <a:buNone/>
            </a:pPr>
            <a:r>
              <a:rPr lang="en-US" sz="2000" dirty="0">
                <a:solidFill>
                  <a:schemeClr val="bg2"/>
                </a:solidFill>
              </a:rPr>
              <a:t>Get an image, find out exactly what is inside it, and run an application as a batch job.</a:t>
            </a:r>
            <a:endParaRPr lang="en-US" sz="2000" dirty="0"/>
          </a:p>
        </p:txBody>
      </p:sp>
      <p:pic>
        <p:nvPicPr>
          <p:cNvPr id="5" name="section-icon" descr="preencoded.png">    </p:cNvPr>
          <p:cNvPicPr>
            <a:picLocks noChangeAspect="1"/>
          </p:cNvPicPr>
          <p:nvPr/>
        </p:nvPicPr>
        <p:blipFill>
          <a:blip r:embed="rId1"/>
          <a:stretch>
            <a:fillRect/>
          </a:stretch>
        </p:blipFill>
        <p:spPr>
          <a:xfrm>
            <a:off x="9509760" y="2377440"/>
            <a:ext cx="1828800" cy="1828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E4S: the Extreme-scale Scientific Software Stack</a:t>
            </a:r>
            <a:endParaRPr lang="en-US" sz="3400" dirty="0"/>
          </a:p>
        </p:txBody>
      </p:sp>
      <p:sp>
        <p:nvSpPr>
          <p:cNvPr id="3" name="Text 1"/>
          <p:cNvSpPr txBox="1"/>
          <p:nvPr/>
        </p:nvSpPr>
        <p:spPr>
          <a:xfrm>
            <a:off x="548640" y="1325880"/>
            <a:ext cx="3474720" cy="914400"/>
          </a:xfrm>
          <a:prstGeom prst="rect">
            <a:avLst/>
          </a:prstGeom>
          <a:noFill/>
          <a:ln/>
        </p:spPr>
        <p:txBody>
          <a:bodyPr wrap="square" lIns="0" tIns="0" rIns="0" bIns="0" rtlCol="0" anchor="b"/>
          <a:lstStyle/>
          <a:p>
            <a:pPr indent="0" marL="0">
              <a:buNone/>
            </a:pPr>
            <a:r>
              <a:rPr lang="en-US" sz="5400" b="1" dirty="0">
                <a:solidFill>
                  <a:schemeClr val="accent1"/>
                </a:solidFill>
              </a:rPr>
              <a:t>140+</a:t>
            </a:r>
            <a:endParaRPr lang="en-US" sz="5400" dirty="0"/>
          </a:p>
        </p:txBody>
      </p:sp>
      <p:sp>
        <p:nvSpPr>
          <p:cNvPr id="4" name="Text 2"/>
          <p:cNvSpPr txBox="1"/>
          <p:nvPr/>
        </p:nvSpPr>
        <p:spPr>
          <a:xfrm>
            <a:off x="548640" y="2286000"/>
            <a:ext cx="3291840" cy="640080"/>
          </a:xfrm>
          <a:prstGeom prst="rect">
            <a:avLst/>
          </a:prstGeom>
          <a:noFill/>
          <a:ln/>
        </p:spPr>
        <p:txBody>
          <a:bodyPr wrap="square" lIns="0" tIns="0" rIns="0" bIns="0" rtlCol="0" anchor="t"/>
          <a:lstStyle/>
          <a:p>
            <a:pPr indent="0" marL="0">
              <a:buNone/>
            </a:pPr>
            <a:r>
              <a:rPr lang="en-US" sz="1600" dirty="0">
                <a:solidFill>
                  <a:schemeClr val="tx1"/>
                </a:solidFill>
              </a:rPr>
              <a:t>HPC and AI products in the E4S catalog</a:t>
            </a:r>
            <a:endParaRPr lang="en-US" sz="1600" dirty="0"/>
          </a:p>
        </p:txBody>
      </p:sp>
      <p:sp>
        <p:nvSpPr>
          <p:cNvPr id="5" name="Text 3"/>
          <p:cNvSpPr txBox="1"/>
          <p:nvPr/>
        </p:nvSpPr>
        <p:spPr>
          <a:xfrm>
            <a:off x="4297680" y="1325880"/>
            <a:ext cx="3474720" cy="914400"/>
          </a:xfrm>
          <a:prstGeom prst="rect">
            <a:avLst/>
          </a:prstGeom>
          <a:noFill/>
          <a:ln/>
        </p:spPr>
        <p:txBody>
          <a:bodyPr wrap="square" lIns="0" tIns="0" rIns="0" bIns="0" rtlCol="0" anchor="b"/>
          <a:lstStyle/>
          <a:p>
            <a:pPr indent="0" marL="0">
              <a:buNone/>
            </a:pPr>
            <a:r>
              <a:rPr lang="en-US" sz="5400" b="1" dirty="0">
                <a:solidFill>
                  <a:schemeClr val="accent1"/>
                </a:solidFill>
              </a:rPr>
              <a:t>26.06</a:t>
            </a:r>
            <a:endParaRPr lang="en-US" sz="5400" dirty="0"/>
          </a:p>
        </p:txBody>
      </p:sp>
      <p:sp>
        <p:nvSpPr>
          <p:cNvPr id="6" name="Text 4"/>
          <p:cNvSpPr txBox="1"/>
          <p:nvPr/>
        </p:nvSpPr>
        <p:spPr>
          <a:xfrm>
            <a:off x="4297680" y="2286000"/>
            <a:ext cx="3291840" cy="640080"/>
          </a:xfrm>
          <a:prstGeom prst="rect">
            <a:avLst/>
          </a:prstGeom>
          <a:noFill/>
          <a:ln/>
        </p:spPr>
        <p:txBody>
          <a:bodyPr wrap="square" lIns="0" tIns="0" rIns="0" bIns="0" rtlCol="0" anchor="t"/>
          <a:lstStyle/>
          <a:p>
            <a:pPr indent="0" marL="0">
              <a:buNone/>
            </a:pPr>
            <a:r>
              <a:rPr lang="en-US" sz="1600" dirty="0">
                <a:solidFill>
                  <a:schemeClr val="tx1"/>
                </a:solidFill>
              </a:rPr>
              <a:t>current release, June 22, 2026</a:t>
            </a:r>
            <a:endParaRPr lang="en-US" sz="1600" dirty="0"/>
          </a:p>
        </p:txBody>
      </p:sp>
      <p:sp>
        <p:nvSpPr>
          <p:cNvPr id="7" name="Text 5"/>
          <p:cNvSpPr txBox="1"/>
          <p:nvPr/>
        </p:nvSpPr>
        <p:spPr>
          <a:xfrm>
            <a:off x="8046720" y="1325880"/>
            <a:ext cx="3474720" cy="914400"/>
          </a:xfrm>
          <a:prstGeom prst="rect">
            <a:avLst/>
          </a:prstGeom>
          <a:noFill/>
          <a:ln/>
        </p:spPr>
        <p:txBody>
          <a:bodyPr wrap="square" lIns="0" tIns="0" rIns="0" bIns="0" rtlCol="0" anchor="b"/>
          <a:lstStyle/>
          <a:p>
            <a:pPr indent="0" marL="0">
              <a:buNone/>
            </a:pPr>
            <a:r>
              <a:rPr lang="en-US" sz="5400" b="1" dirty="0">
                <a:solidFill>
                  <a:schemeClr val="accent1"/>
                </a:solidFill>
              </a:rPr>
              <a:t>2 / yr</a:t>
            </a:r>
            <a:endParaRPr lang="en-US" sz="5400" dirty="0"/>
          </a:p>
        </p:txBody>
      </p:sp>
      <p:sp>
        <p:nvSpPr>
          <p:cNvPr id="8" name="Text 6"/>
          <p:cNvSpPr txBox="1"/>
          <p:nvPr/>
        </p:nvSpPr>
        <p:spPr>
          <a:xfrm>
            <a:off x="8046720" y="2286000"/>
            <a:ext cx="3291840" cy="640080"/>
          </a:xfrm>
          <a:prstGeom prst="rect">
            <a:avLst/>
          </a:prstGeom>
          <a:noFill/>
          <a:ln/>
        </p:spPr>
        <p:txBody>
          <a:bodyPr wrap="square" lIns="0" tIns="0" rIns="0" bIns="0" rtlCol="0" anchor="t"/>
          <a:lstStyle/>
          <a:p>
            <a:pPr indent="0" marL="0">
              <a:buNone/>
            </a:pPr>
            <a:r>
              <a:rPr lang="en-US" sz="1600" dirty="0">
                <a:solidFill>
                  <a:schemeClr val="tx1"/>
                </a:solidFill>
              </a:rPr>
              <a:t>co-tested releases, frozen Spack environments</a:t>
            </a:r>
            <a:endParaRPr lang="en-US" sz="1600" dirty="0"/>
          </a:p>
        </p:txBody>
      </p:sp>
      <p:sp>
        <p:nvSpPr>
          <p:cNvPr id="9" name="bullets"/>
          <p:cNvSpPr txBox="1"/>
          <p:nvPr/>
        </p:nvSpPr>
        <p:spPr>
          <a:xfrm>
            <a:off x="548640" y="3200400"/>
            <a:ext cx="11064240" cy="2743200"/>
          </a:xfrm>
          <a:prstGeom prst="rect">
            <a:avLst/>
          </a:prstGeom>
          <a:noFill/>
          <a:ln/>
        </p:spPr>
        <p:txBody>
          <a:bodyPr wrap="square" lIns="0" tIns="0" rIns="0" bIns="0" rtlCol="0" anchor="t"/>
          <a:lstStyle/>
          <a:p>
            <a:pPr marL="342900" indent="-342900">
              <a:spcAft>
                <a:spcPts val="1200"/>
              </a:spcAft>
              <a:buSzPct val="100000"/>
              <a:buChar char="•"/>
            </a:pPr>
            <a:r>
              <a:rPr lang="en-US" sz="1800" b="1" dirty="0">
                <a:solidFill>
                  <a:schemeClr val="tx1"/>
                </a:solidFill>
              </a:rPr>
              <a:t>A curated Spack distribution: </a:t>
            </a:r>
            <a:r>
              <a:rPr lang="en-US" sz="1800" dirty="0">
                <a:solidFill>
                  <a:schemeClr val="tx1"/>
                </a:solidFill>
              </a:rPr>
              <a:t>math libraries, data &amp; I/O, performance tools, programming models, AI frameworks, and applications</a:t>
            </a:r>
            <a:endParaRPr lang="en-US" sz="1800" dirty="0"/>
          </a:p>
          <a:p>
            <a:pPr marL="342900" indent="-342900">
              <a:spcAft>
                <a:spcPts val="1200"/>
              </a:spcAft>
              <a:buSzPct val="100000"/>
              <a:buChar char="•"/>
            </a:pPr>
            <a:r>
              <a:rPr lang="en-US" sz="1800" b="1" dirty="0">
                <a:solidFill>
                  <a:schemeClr val="tx1"/>
                </a:solidFill>
              </a:rPr>
              <a:t>Delivered as binaries: </a:t>
            </a:r>
            <a:r>
              <a:rPr lang="en-US" sz="1800" dirty="0">
                <a:solidFill>
                  <a:schemeClr val="tx1"/>
                </a:solidFill>
              </a:rPr>
              <a:t>Docker/Apptainer images and a Spack build cache (cache.e4s.io)</a:t>
            </a:r>
            <a:endParaRPr lang="en-US" sz="1800" dirty="0"/>
          </a:p>
          <a:p>
            <a:pPr marL="342900" indent="-342900">
              <a:spcAft>
                <a:spcPts val="1200"/>
              </a:spcAft>
              <a:buSzPct val="100000"/>
              <a:buChar char="•"/>
            </a:pPr>
            <a:r>
              <a:rPr lang="en-US" sz="1800" b="1" dirty="0">
                <a:solidFill>
                  <a:schemeClr val="tx1"/>
                </a:solidFill>
              </a:rPr>
              <a:t>26.06: </a:t>
            </a:r>
            <a:r>
              <a:rPr lang="en-US" sz="1800" dirty="0">
                <a:solidFill>
                  <a:schemeClr val="tx1"/>
                </a:solidFill>
              </a:rPr>
              <a:t>Spack 1.1.1 · CUDA 13.2 · ROCm 7.2.3 · oneAPI 2026.0 · Ubuntu 24.04 and Rocky 9 · x86_64, aarch64, ppc64le</a:t>
            </a:r>
            <a:endParaRPr lang="en-US" sz="1800" dirty="0"/>
          </a:p>
          <a:p>
            <a:pPr marL="342900" indent="-342900">
              <a:spcAft>
                <a:spcPts val="1200"/>
              </a:spcAft>
              <a:buSzPct val="100000"/>
              <a:buChar char="•"/>
            </a:pPr>
            <a:r>
              <a:rPr lang="en-US" sz="1800" b="1" dirty="0">
                <a:solidFill>
                  <a:schemeClr val="tx1"/>
                </a:solidFill>
              </a:rPr>
              <a:t>Community-maintained, </a:t>
            </a:r>
            <a:r>
              <a:rPr lang="en-US" sz="1800" dirty="0">
                <a:solidFill>
                  <a:schemeClr val="tx1"/>
                </a:solidFill>
              </a:rPr>
              <a:t>led by Sameer Shende (U. Oregon); part of the High Performance Software Foundation</a:t>
            </a:r>
            <a:endParaRPr lang="en-US" sz="1800" dirty="0"/>
          </a:p>
        </p:txBody>
      </p:sp>
      <p:sp>
        <p:nvSpPr>
          <p:cNvPr id="10"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Sources: e4s.io product catalog; S. Shende, “E4S 26.06 release” slides, June 2026.</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Which E4S image? Full, base, or cache-backed</a:t>
            </a:r>
            <a:endParaRPr lang="en-US" sz="3400" dirty="0"/>
          </a:p>
        </p:txBody>
      </p:sp>
      <p:graphicFrame>
        <p:nvGraphicFramePr>
          <p:cNvPr id="14" name="image-family"/>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4480560"/>
                <a:gridCol w="1280160"/>
                <a:gridCol w="2011680"/>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Image</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1F2D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is inside</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1F2D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Size</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1F2D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Today</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1F2D3A"/>
                    </a:solidFill>
                  </a:tcPr>
                </a:tc>
              </a:tr>
              <a:tr h="640080">
                <a:tc>
                  <a:txBody>
                    <a:bodyPr/>
                    <a:lstStyle/>
                    <a:p>
                      <a:pPr indent="0" marL="0">
                        <a:buNone/>
                      </a:pPr>
                      <a:r>
                        <a:rPr lang="en-US" sz="1600" b="1" dirty="0">
                          <a:solidFill>
                            <a:srgbClr val="1B2631"/>
                          </a:solidFill>
                          <a:latin typeface="Calibri" pitchFamily="34" charset="0"/>
                          <a:ea typeface="Calibri" pitchFamily="34" charset="-122"/>
                          <a:cs typeface="Calibri" pitchFamily="34" charset="-120"/>
                        </a:rPr>
                        <a:t>Full  (cpu, cuda, rocm, oneapi)</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The whole stack: 600+ Spack packages, apps, tools</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22–34 GB</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b="1" dirty="0">
                          <a:solidFill>
                            <a:srgbClr val="4E8A3C"/>
                          </a:solidFill>
                          <a:latin typeface="Calibri" pitchFamily="34" charset="0"/>
                          <a:ea typeface="Calibri" pitchFamily="34" charset="-122"/>
                          <a:cs typeface="Calibri" pitchFamily="34" charset="-120"/>
                        </a:rPr>
                        <a:t>e4s-cpu 26.06, pre-pulled</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640080">
                <a:tc>
                  <a:txBody>
                    <a:bodyPr/>
                    <a:lstStyle/>
                    <a:p>
                      <a:pPr indent="0" marL="0">
                        <a:buNone/>
                      </a:pPr>
                      <a:r>
                        <a:rPr lang="en-US" sz="1600" b="1" dirty="0">
                          <a:solidFill>
                            <a:srgbClr val="1B2631"/>
                          </a:solidFill>
                          <a:latin typeface="Calibri" pitchFamily="34" charset="0"/>
                          <a:ea typeface="Calibri" pitchFamily="34" charset="-122"/>
                          <a:cs typeface="Calibri" pitchFamily="34" charset="-120"/>
                        </a:rPr>
                        <a:t>Base  (e4s-base-*)</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MPICH, CMake and a GPU SDK, for building your own</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5–8 GB</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640080">
                <a:tc>
                  <a:txBody>
                    <a:bodyPr/>
                    <a:lstStyle/>
                    <a:p>
                      <a:pPr indent="0" marL="0">
                        <a:buNone/>
                      </a:pPr>
                      <a:r>
                        <a:rPr lang="en-US" sz="1600" b="1" dirty="0">
                          <a:solidFill>
                            <a:srgbClr val="1B2631"/>
                          </a:solidFill>
                          <a:latin typeface="Calibri" pitchFamily="34" charset="0"/>
                          <a:ea typeface="Calibri" pitchFamily="34" charset="-122"/>
                          <a:cs typeface="Calibri" pitchFamily="34" charset="-120"/>
                        </a:rPr>
                        <a:t>Cache-backed  (e4s-spack-cpu)</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Spack + MPICH; install anything else from the build cache</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1.5 GB</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b="1" dirty="0">
                          <a:solidFill>
                            <a:srgbClr val="4E8A3C"/>
                          </a:solidFill>
                          <a:latin typeface="Calibri" pitchFamily="34" charset="0"/>
                          <a:ea typeface="Calibri" pitchFamily="34" charset="-122"/>
                          <a:cs typeface="Calibri" pitchFamily="34" charset="-120"/>
                        </a:rPr>
                        <a:t>You pull it</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640080">
                <a:tc>
                  <a:txBody>
                    <a:bodyPr/>
                    <a:lstStyle/>
                    <a:p>
                      <a:pPr indent="0" marL="0">
                        <a:buNone/>
                      </a:pPr>
                      <a:r>
                        <a:rPr lang="en-US" sz="1600" b="1" dirty="0">
                          <a:solidFill>
                            <a:srgbClr val="1B2631"/>
                          </a:solidFill>
                          <a:latin typeface="Calibri" pitchFamily="34" charset="0"/>
                          <a:ea typeface="Calibri" pitchFamily="34" charset="-122"/>
                          <a:cs typeface="Calibri" pitchFamily="34" charset="-120"/>
                        </a:rPr>
                        <a:t>Minimal  (ecpe4s/ubuntu24.04)</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Ubuntu + Spack, a starting point for e4s-alc</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dirty="0">
                          <a:solidFill>
                            <a:srgbClr val="1B2631"/>
                          </a:solidFill>
                          <a:latin typeface="Calibri" pitchFamily="34" charset="0"/>
                          <a:ea typeface="Calibri" pitchFamily="34" charset="-122"/>
                          <a:cs typeface="Calibri" pitchFamily="34" charset="-120"/>
                        </a:rPr>
                        <a:t>1.2 GB</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600" b="1" dirty="0">
                          <a:solidFill>
                            <a:srgbClr val="4E8A3C"/>
                          </a:solidFill>
                          <a:latin typeface="Calibri" pitchFamily="34" charset="0"/>
                          <a:ea typeface="Calibri" pitchFamily="34" charset="-122"/>
                          <a:cs typeface="Calibri" pitchFamily="34" charset="-120"/>
                        </a:rPr>
                        <a:t>Part 3b base</a:t>
                      </a:r>
                      <a:endParaRPr lang="en-US" sz="16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bl>
          </a:graphicData>
        </a:graphic>
      </p:graphicFrame>
      <p:sp>
        <p:nvSpPr>
          <p:cNvPr id="4" name="bullets"/>
          <p:cNvSpPr txBox="1"/>
          <p:nvPr/>
        </p:nvSpPr>
        <p:spPr>
          <a:xfrm>
            <a:off x="548640" y="4800600"/>
            <a:ext cx="11064240" cy="1188720"/>
          </a:xfrm>
          <a:prstGeom prst="rect">
            <a:avLst/>
          </a:prstGeom>
          <a:noFill/>
          <a:ln/>
        </p:spPr>
        <p:txBody>
          <a:bodyPr wrap="square" lIns="0" tIns="0" rIns="0" bIns="0" rtlCol="0" anchor="t"/>
          <a:lstStyle/>
          <a:p>
            <a:pPr marL="342900" indent="-342900">
              <a:spcAft>
                <a:spcPts val="1000"/>
              </a:spcAft>
              <a:buSzPct val="100000"/>
              <a:buChar char="•"/>
            </a:pPr>
            <a:r>
              <a:rPr lang="en-US" sz="1700" b="1" dirty="0">
                <a:solidFill>
                  <a:schemeClr val="tx1"/>
                </a:solidFill>
              </a:rPr>
              <a:t>Where: </a:t>
            </a:r>
            <a:r>
              <a:rPr lang="en-US" sz="1700" dirty="0">
                <a:solidFill>
                  <a:schemeClr val="tx1"/>
                </a:solidFill>
              </a:rPr>
              <a:t>Docker Hub (docker://ecpe4s/…) or ready-made SIFs at e4s.io/container-download</a:t>
            </a:r>
            <a:endParaRPr lang="en-US" sz="1700" dirty="0"/>
          </a:p>
          <a:p>
            <a:pPr marL="342900" indent="-342900">
              <a:spcAft>
                <a:spcPts val="1000"/>
              </a:spcAft>
              <a:buSzPct val="100000"/>
              <a:buChar char="•"/>
            </a:pPr>
            <a:r>
              <a:rPr lang="en-US" sz="1700" b="1" dirty="0">
                <a:solidFill>
                  <a:schemeClr val="tx1"/>
                </a:solidFill>
              </a:rPr>
              <a:t>Match your hardware: </a:t>
            </a:r>
            <a:r>
              <a:rPr lang="en-US" sz="1700" dirty="0">
                <a:solidFill>
                  <a:schemeClr val="tx1"/>
                </a:solidFill>
              </a:rPr>
              <a:t>cuda80 = A100, cuda90 = H100; Midway3 caslake nodes are CPU-only, hence e4s-cpu</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Getting the images</a:t>
            </a:r>
            <a:endParaRPr lang="en-US" sz="3400" dirty="0"/>
          </a:p>
        </p:txBody>
      </p:sp>
      <p:pic>
        <p:nvPicPr>
          <p:cNvPr id="3" name="download-page" descr="Screenshot of the E4S container download page at e4s.io">    </p:cNvPr>
          <p:cNvPicPr>
            <a:picLocks noChangeAspect="1"/>
          </p:cNvPicPr>
          <p:nvPr/>
        </p:nvPicPr>
        <p:blipFill>
          <a:blip r:embed="rId1"/>
          <a:stretch>
            <a:fillRect/>
          </a:stretch>
        </p:blipFill>
        <p:spPr>
          <a:xfrm>
            <a:off x="548640" y="1325880"/>
            <a:ext cx="3874454" cy="4572000"/>
          </a:xfrm>
          <a:prstGeom prst="rect">
            <a:avLst/>
          </a:prstGeom>
        </p:spPr>
      </p:pic>
      <p:sp>
        <p:nvSpPr>
          <p:cNvPr id="4" name="terminal"/>
          <p:cNvSpPr/>
          <p:nvPr/>
        </p:nvSpPr>
        <p:spPr>
          <a:xfrm>
            <a:off x="4846320" y="1371600"/>
            <a:ext cx="6766560" cy="1995587"/>
          </a:xfrm>
          <a:prstGeom prst="roundRect">
            <a:avLst>
              <a:gd name="adj" fmla="val 3666"/>
            </a:avLst>
          </a:prstGeom>
          <a:solidFill>
            <a:schemeClr val="tx1"/>
          </a:solidFill>
          <a:ln/>
        </p:spPr>
      </p:sp>
      <p:sp>
        <p:nvSpPr>
          <p:cNvPr id="5" name="terminal-text"/>
          <p:cNvSpPr txBox="1"/>
          <p:nvPr/>
        </p:nvSpPr>
        <p:spPr>
          <a:xfrm>
            <a:off x="5029200" y="1481328"/>
            <a:ext cx="6400800" cy="1776131"/>
          </a:xfrm>
          <a:prstGeom prst="rect">
            <a:avLst/>
          </a:prstGeom>
          <a:noFill/>
          <a:ln/>
        </p:spPr>
        <p:txBody>
          <a:bodyPr wrap="square" lIns="0" tIns="0" rIns="0" bIns="0" rtlCol="0" anchor="t"/>
          <a:lstStyle/>
          <a:p>
            <a:pPr indent="0" marL="0">
              <a:spcAft>
                <a:spcPts val="200"/>
              </a:spcAft>
              <a:buNone/>
            </a:pPr>
            <a:r>
              <a:rPr lang="en-US" sz="1400" dirty="0">
                <a:solidFill>
                  <a:schemeClr val="accent5"/>
                </a:solidFill>
                <a:latin typeface="Courier New" pitchFamily="34" charset="0"/>
                <a:ea typeface="Courier New" pitchFamily="34" charset="-122"/>
                <a:cs typeface="Courier New" pitchFamily="34" charset="-120"/>
              </a:rPr>
              <a:t># Docker Hub -&gt; SIF (2-4 min for 1.5 GB)</a:t>
            </a:r>
            <a:endParaRPr lang="en-US" sz="1400" dirty="0"/>
          </a:p>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apptainer pull e4s-spack-cpu_26.06.sif \</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docker://ecpe4s/e4s-spack-cpu:26.06</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accent5"/>
                </a:solidFill>
                <a:latin typeface="Courier New" pitchFamily="34" charset="0"/>
                <a:ea typeface="Courier New" pitchFamily="34" charset="-122"/>
                <a:cs typeface="Courier New" pitchFamily="34" charset="-120"/>
              </a:rPr>
              <a:t># Ready-made SIF from the E4S project</a:t>
            </a:r>
            <a:endParaRPr lang="en-US" sz="1400" dirty="0"/>
          </a:p>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curl -LO https://oaciss.nic.uoregon.edu/\</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e4s/images/26.06/e4s-cpu-x86_64-26.06.sif</a:t>
            </a:r>
            <a:endParaRPr lang="en-US" sz="1400" dirty="0"/>
          </a:p>
        </p:txBody>
      </p:sp>
      <p:sp>
        <p:nvSpPr>
          <p:cNvPr id="6" name="bullets"/>
          <p:cNvSpPr txBox="1"/>
          <p:nvPr/>
        </p:nvSpPr>
        <p:spPr>
          <a:xfrm>
            <a:off x="4846320" y="3657600"/>
            <a:ext cx="6766560" cy="2011680"/>
          </a:xfrm>
          <a:prstGeom prst="rect">
            <a:avLst/>
          </a:prstGeom>
          <a:noFill/>
          <a:ln/>
        </p:spPr>
        <p:txBody>
          <a:bodyPr wrap="square" lIns="0" tIns="0" rIns="0" bIns="0" rtlCol="0" anchor="t"/>
          <a:lstStyle/>
          <a:p>
            <a:pPr marL="342900" indent="-342900">
              <a:spcAft>
                <a:spcPts val="1400"/>
              </a:spcAft>
              <a:buSzPct val="100000"/>
              <a:buChar char="•"/>
            </a:pPr>
            <a:r>
              <a:rPr lang="en-US" sz="1700" b="1" dirty="0">
                <a:solidFill>
                  <a:schemeClr val="tx1"/>
                </a:solidFill>
              </a:rPr>
              <a:t>pull = </a:t>
            </a:r>
            <a:r>
              <a:rPr lang="en-US" sz="1700" dirty="0">
                <a:solidFill>
                  <a:schemeClr val="tx1"/>
                </a:solidFill>
              </a:rPr>
              <a:t>download layers into $APPTAINER_CACHEDIR, then squash into one SIF (CPU-heavy: use a compute node)</a:t>
            </a:r>
            <a:endParaRPr lang="en-US" sz="1700" dirty="0"/>
          </a:p>
          <a:p>
            <a:pPr marL="342900" indent="-342900">
              <a:spcAft>
                <a:spcPts val="1400"/>
              </a:spcAft>
              <a:buSzPct val="100000"/>
              <a:buChar char="•"/>
            </a:pPr>
            <a:r>
              <a:rPr lang="en-US" sz="1700" b="1" dirty="0">
                <a:solidFill>
                  <a:schemeClr val="tx1"/>
                </a:solidFill>
              </a:rPr>
              <a:t>Docker Hub limit: </a:t>
            </a:r>
            <a:r>
              <a:rPr lang="en-US" sz="1700" dirty="0">
                <a:solidFill>
                  <a:schemeClr val="tx1"/>
                </a:solidFill>
              </a:rPr>
              <a:t>100 anonymous pulls / hour / IP — a room of 30 is fine, a script in a loop is not</a:t>
            </a:r>
            <a:endParaRPr lang="en-US" sz="1700" dirty="0"/>
          </a:p>
        </p:txBody>
      </p:sp>
      <p:sp>
        <p:nvSpPr>
          <p:cNvPr id="7"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Screenshot: e4s.io/container-download, from S. Shende, “E4S 26.06 release” slides.</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Inside e4s-cpu 26.06: 127 explicit, 685 total packages</a:t>
            </a:r>
            <a:endParaRPr lang="en-US" sz="3400" dirty="0"/>
          </a:p>
        </p:txBody>
      </p:sp>
      <p:sp>
        <p:nvSpPr>
          <p:cNvPr id="3" name="cat-0"/>
          <p:cNvSpPr/>
          <p:nvPr/>
        </p:nvSpPr>
        <p:spPr>
          <a:xfrm>
            <a:off x="548640" y="1371600"/>
            <a:ext cx="5440680" cy="1280160"/>
          </a:xfrm>
          <a:prstGeom prst="roundRect">
            <a:avLst>
              <a:gd name="adj" fmla="val 5714"/>
            </a:avLst>
          </a:prstGeom>
          <a:solidFill>
            <a:schemeClr val="bg2"/>
          </a:solidFill>
          <a:ln/>
        </p:spPr>
      </p:sp>
      <p:sp>
        <p:nvSpPr>
          <p:cNvPr id="4" name="cat-dot-0"/>
          <p:cNvSpPr/>
          <p:nvPr/>
        </p:nvSpPr>
        <p:spPr>
          <a:xfrm>
            <a:off x="777240" y="1600200"/>
            <a:ext cx="274320" cy="274320"/>
          </a:xfrm>
          <a:prstGeom prst="ellipse">
            <a:avLst/>
          </a:prstGeom>
          <a:solidFill>
            <a:srgbClr val="2F6E9E"/>
          </a:solidFill>
          <a:ln/>
        </p:spPr>
      </p:sp>
      <p:sp>
        <p:nvSpPr>
          <p:cNvPr id="5" name="Text 3"/>
          <p:cNvSpPr txBox="1"/>
          <p:nvPr/>
        </p:nvSpPr>
        <p:spPr>
          <a:xfrm>
            <a:off x="1188720" y="1508760"/>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Math libraries</a:t>
            </a:r>
            <a:endParaRPr lang="en-US" sz="1800" dirty="0"/>
          </a:p>
        </p:txBody>
      </p:sp>
      <p:sp>
        <p:nvSpPr>
          <p:cNvPr id="6" name="Text 4"/>
          <p:cNvSpPr txBox="1"/>
          <p:nvPr/>
        </p:nvSpPr>
        <p:spPr>
          <a:xfrm>
            <a:off x="1188720" y="1938528"/>
            <a:ext cx="4617720" cy="640080"/>
          </a:xfrm>
          <a:prstGeom prst="rect">
            <a:avLst/>
          </a:prstGeom>
          <a:noFill/>
          <a:ln/>
        </p:spPr>
        <p:txBody>
          <a:bodyPr wrap="square" lIns="0" tIns="0" rIns="0" bIns="0" rtlCol="0" anchor="t"/>
          <a:lstStyle/>
          <a:p>
            <a:pPr indent="0" marL="0">
              <a:buNone/>
            </a:pPr>
            <a:r>
              <a:rPr lang="en-US" sz="1400" dirty="0">
                <a:solidFill>
                  <a:schemeClr val="tx1"/>
                </a:solidFill>
              </a:rPr>
              <a:t>PETSc · hypre · Trilinos · SUNDIALS · SuperLU-DIST · MFEM · SLEPc · STRUMPACK · Ginkgo · libCEED</a:t>
            </a:r>
            <a:endParaRPr lang="en-US" sz="1400" dirty="0"/>
          </a:p>
        </p:txBody>
      </p:sp>
      <p:sp>
        <p:nvSpPr>
          <p:cNvPr id="7" name="cat-1"/>
          <p:cNvSpPr/>
          <p:nvPr/>
        </p:nvSpPr>
        <p:spPr>
          <a:xfrm>
            <a:off x="6172200" y="1371600"/>
            <a:ext cx="5440680" cy="1280160"/>
          </a:xfrm>
          <a:prstGeom prst="roundRect">
            <a:avLst>
              <a:gd name="adj" fmla="val 5714"/>
            </a:avLst>
          </a:prstGeom>
          <a:solidFill>
            <a:schemeClr val="bg2"/>
          </a:solidFill>
          <a:ln/>
        </p:spPr>
      </p:sp>
      <p:sp>
        <p:nvSpPr>
          <p:cNvPr id="8" name="cat-dot-1"/>
          <p:cNvSpPr/>
          <p:nvPr/>
        </p:nvSpPr>
        <p:spPr>
          <a:xfrm>
            <a:off x="6400800" y="1600200"/>
            <a:ext cx="274320" cy="274320"/>
          </a:xfrm>
          <a:prstGeom prst="ellipse">
            <a:avLst/>
          </a:prstGeom>
          <a:solidFill>
            <a:srgbClr val="4E8A3C"/>
          </a:solidFill>
          <a:ln/>
        </p:spPr>
      </p:sp>
      <p:sp>
        <p:nvSpPr>
          <p:cNvPr id="9" name="Text 7"/>
          <p:cNvSpPr txBox="1"/>
          <p:nvPr/>
        </p:nvSpPr>
        <p:spPr>
          <a:xfrm>
            <a:off x="6812280" y="1508760"/>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Applications</a:t>
            </a:r>
            <a:endParaRPr lang="en-US" sz="1800" dirty="0"/>
          </a:p>
        </p:txBody>
      </p:sp>
      <p:sp>
        <p:nvSpPr>
          <p:cNvPr id="10" name="Text 8"/>
          <p:cNvSpPr txBox="1"/>
          <p:nvPr/>
        </p:nvSpPr>
        <p:spPr>
          <a:xfrm>
            <a:off x="6812280" y="1938528"/>
            <a:ext cx="4617720" cy="640080"/>
          </a:xfrm>
          <a:prstGeom prst="rect">
            <a:avLst/>
          </a:prstGeom>
          <a:noFill/>
          <a:ln/>
        </p:spPr>
        <p:txBody>
          <a:bodyPr wrap="square" lIns="0" tIns="0" rIns="0" bIns="0" rtlCol="0" anchor="t"/>
          <a:lstStyle/>
          <a:p>
            <a:pPr indent="0" marL="0">
              <a:buNone/>
            </a:pPr>
            <a:r>
              <a:rPr lang="en-US" sz="1400" dirty="0">
                <a:solidFill>
                  <a:schemeClr val="tx1"/>
                </a:solidFill>
              </a:rPr>
              <a:t>LAMMPS · GROMACS · OpenFOAM · Quantum ESPRESSO · CP2K · WarpX · WRF · Nek5000 · Xyce · Laghos</a:t>
            </a:r>
            <a:endParaRPr lang="en-US" sz="1400" dirty="0"/>
          </a:p>
        </p:txBody>
      </p:sp>
      <p:sp>
        <p:nvSpPr>
          <p:cNvPr id="11" name="cat-2"/>
          <p:cNvSpPr/>
          <p:nvPr/>
        </p:nvSpPr>
        <p:spPr>
          <a:xfrm>
            <a:off x="548640" y="2834640"/>
            <a:ext cx="5440680" cy="1280160"/>
          </a:xfrm>
          <a:prstGeom prst="roundRect">
            <a:avLst>
              <a:gd name="adj" fmla="val 5714"/>
            </a:avLst>
          </a:prstGeom>
          <a:solidFill>
            <a:schemeClr val="bg2"/>
          </a:solidFill>
          <a:ln/>
        </p:spPr>
      </p:sp>
      <p:sp>
        <p:nvSpPr>
          <p:cNvPr id="12" name="cat-dot-2"/>
          <p:cNvSpPr/>
          <p:nvPr/>
        </p:nvSpPr>
        <p:spPr>
          <a:xfrm>
            <a:off x="777240" y="3063240"/>
            <a:ext cx="274320" cy="274320"/>
          </a:xfrm>
          <a:prstGeom prst="ellipse">
            <a:avLst/>
          </a:prstGeom>
          <a:solidFill>
            <a:srgbClr val="E0731F"/>
          </a:solidFill>
          <a:ln/>
        </p:spPr>
      </p:sp>
      <p:sp>
        <p:nvSpPr>
          <p:cNvPr id="13" name="Text 11"/>
          <p:cNvSpPr txBox="1"/>
          <p:nvPr/>
        </p:nvSpPr>
        <p:spPr>
          <a:xfrm>
            <a:off x="1188720" y="2971800"/>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Data &amp; I/O</a:t>
            </a:r>
            <a:endParaRPr lang="en-US" sz="1800" dirty="0"/>
          </a:p>
        </p:txBody>
      </p:sp>
      <p:sp>
        <p:nvSpPr>
          <p:cNvPr id="14" name="Text 12"/>
          <p:cNvSpPr txBox="1"/>
          <p:nvPr/>
        </p:nvSpPr>
        <p:spPr>
          <a:xfrm>
            <a:off x="1188720" y="3401568"/>
            <a:ext cx="4617720" cy="640080"/>
          </a:xfrm>
          <a:prstGeom prst="rect">
            <a:avLst/>
          </a:prstGeom>
          <a:noFill/>
          <a:ln/>
        </p:spPr>
        <p:txBody>
          <a:bodyPr wrap="square" lIns="0" tIns="0" rIns="0" bIns="0" rtlCol="0" anchor="t"/>
          <a:lstStyle/>
          <a:p>
            <a:pPr indent="0" marL="0">
              <a:buNone/>
            </a:pPr>
            <a:r>
              <a:rPr lang="en-US" sz="1400" dirty="0">
                <a:solidFill>
                  <a:schemeClr val="tx1"/>
                </a:solidFill>
              </a:rPr>
              <a:t>HDF5 · ADIOS2 · NetCDF · PnetCDF · Conduit · Ascent · zfp · SZ3 · Darshan</a:t>
            </a:r>
            <a:endParaRPr lang="en-US" sz="1400" dirty="0"/>
          </a:p>
        </p:txBody>
      </p:sp>
      <p:sp>
        <p:nvSpPr>
          <p:cNvPr id="15" name="cat-3"/>
          <p:cNvSpPr/>
          <p:nvPr/>
        </p:nvSpPr>
        <p:spPr>
          <a:xfrm>
            <a:off x="6172200" y="2834640"/>
            <a:ext cx="5440680" cy="1280160"/>
          </a:xfrm>
          <a:prstGeom prst="roundRect">
            <a:avLst>
              <a:gd name="adj" fmla="val 5714"/>
            </a:avLst>
          </a:prstGeom>
          <a:solidFill>
            <a:schemeClr val="bg2"/>
          </a:solidFill>
          <a:ln/>
        </p:spPr>
      </p:sp>
      <p:sp>
        <p:nvSpPr>
          <p:cNvPr id="16" name="cat-dot-3"/>
          <p:cNvSpPr/>
          <p:nvPr/>
        </p:nvSpPr>
        <p:spPr>
          <a:xfrm>
            <a:off x="6400800" y="3063240"/>
            <a:ext cx="274320" cy="274320"/>
          </a:xfrm>
          <a:prstGeom prst="ellipse">
            <a:avLst/>
          </a:prstGeom>
          <a:solidFill>
            <a:srgbClr val="800000"/>
          </a:solidFill>
          <a:ln/>
        </p:spPr>
      </p:sp>
      <p:sp>
        <p:nvSpPr>
          <p:cNvPr id="17" name="Text 15"/>
          <p:cNvSpPr txBox="1"/>
          <p:nvPr/>
        </p:nvSpPr>
        <p:spPr>
          <a:xfrm>
            <a:off x="6812280" y="2971800"/>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Programming models</a:t>
            </a:r>
            <a:endParaRPr lang="en-US" sz="1800" dirty="0"/>
          </a:p>
        </p:txBody>
      </p:sp>
      <p:sp>
        <p:nvSpPr>
          <p:cNvPr id="18" name="Text 16"/>
          <p:cNvSpPr txBox="1"/>
          <p:nvPr/>
        </p:nvSpPr>
        <p:spPr>
          <a:xfrm>
            <a:off x="6812280" y="3401568"/>
            <a:ext cx="4617720" cy="640080"/>
          </a:xfrm>
          <a:prstGeom prst="rect">
            <a:avLst/>
          </a:prstGeom>
          <a:noFill/>
          <a:ln/>
        </p:spPr>
        <p:txBody>
          <a:bodyPr wrap="square" lIns="0" tIns="0" rIns="0" bIns="0" rtlCol="0" anchor="t"/>
          <a:lstStyle/>
          <a:p>
            <a:pPr indent="0" marL="0">
              <a:buNone/>
            </a:pPr>
            <a:r>
              <a:rPr lang="en-US" sz="1400" dirty="0">
                <a:solidFill>
                  <a:schemeClr val="tx1"/>
                </a:solidFill>
              </a:rPr>
              <a:t>MPICH · Open MPI · Kokkos · RAJA · Umpire · Legion · HPX · UPC++ · Chapel</a:t>
            </a:r>
            <a:endParaRPr lang="en-US" sz="1400" dirty="0"/>
          </a:p>
        </p:txBody>
      </p:sp>
      <p:sp>
        <p:nvSpPr>
          <p:cNvPr id="19" name="cat-4"/>
          <p:cNvSpPr/>
          <p:nvPr/>
        </p:nvSpPr>
        <p:spPr>
          <a:xfrm>
            <a:off x="548640" y="4297680"/>
            <a:ext cx="5440680" cy="1280160"/>
          </a:xfrm>
          <a:prstGeom prst="roundRect">
            <a:avLst>
              <a:gd name="adj" fmla="val 5714"/>
            </a:avLst>
          </a:prstGeom>
          <a:solidFill>
            <a:schemeClr val="bg2"/>
          </a:solidFill>
          <a:ln/>
        </p:spPr>
      </p:sp>
      <p:sp>
        <p:nvSpPr>
          <p:cNvPr id="20" name="cat-dot-4"/>
          <p:cNvSpPr/>
          <p:nvPr/>
        </p:nvSpPr>
        <p:spPr>
          <a:xfrm>
            <a:off x="777240" y="4526280"/>
            <a:ext cx="274320" cy="274320"/>
          </a:xfrm>
          <a:prstGeom prst="ellipse">
            <a:avLst/>
          </a:prstGeom>
          <a:solidFill>
            <a:srgbClr val="8996A3"/>
          </a:solidFill>
          <a:ln/>
        </p:spPr>
      </p:sp>
      <p:sp>
        <p:nvSpPr>
          <p:cNvPr id="21" name="Text 19"/>
          <p:cNvSpPr txBox="1"/>
          <p:nvPr/>
        </p:nvSpPr>
        <p:spPr>
          <a:xfrm>
            <a:off x="1188720" y="4434840"/>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Performance tools</a:t>
            </a:r>
            <a:endParaRPr lang="en-US" sz="1800" dirty="0"/>
          </a:p>
        </p:txBody>
      </p:sp>
      <p:sp>
        <p:nvSpPr>
          <p:cNvPr id="22" name="Text 20"/>
          <p:cNvSpPr txBox="1"/>
          <p:nvPr/>
        </p:nvSpPr>
        <p:spPr>
          <a:xfrm>
            <a:off x="1188720" y="4864608"/>
            <a:ext cx="4617720" cy="640080"/>
          </a:xfrm>
          <a:prstGeom prst="rect">
            <a:avLst/>
          </a:prstGeom>
          <a:noFill/>
          <a:ln/>
        </p:spPr>
        <p:txBody>
          <a:bodyPr wrap="square" lIns="0" tIns="0" rIns="0" bIns="0" rtlCol="0" anchor="t"/>
          <a:lstStyle/>
          <a:p>
            <a:pPr indent="0" marL="0">
              <a:buNone/>
            </a:pPr>
            <a:r>
              <a:rPr lang="en-US" sz="1400" dirty="0">
                <a:solidFill>
                  <a:schemeClr val="tx1"/>
                </a:solidFill>
              </a:rPr>
              <a:t>TAU · HPCToolkit · PAPI · Caliper · Dyninst</a:t>
            </a:r>
            <a:endParaRPr lang="en-US" sz="1400" dirty="0"/>
          </a:p>
        </p:txBody>
      </p:sp>
      <p:sp>
        <p:nvSpPr>
          <p:cNvPr id="23" name="cat-5"/>
          <p:cNvSpPr/>
          <p:nvPr/>
        </p:nvSpPr>
        <p:spPr>
          <a:xfrm>
            <a:off x="6172200" y="4297680"/>
            <a:ext cx="5440680" cy="1280160"/>
          </a:xfrm>
          <a:prstGeom prst="roundRect">
            <a:avLst>
              <a:gd name="adj" fmla="val 5714"/>
            </a:avLst>
          </a:prstGeom>
          <a:solidFill>
            <a:schemeClr val="bg2"/>
          </a:solidFill>
          <a:ln/>
        </p:spPr>
      </p:sp>
      <p:sp>
        <p:nvSpPr>
          <p:cNvPr id="24" name="cat-dot-5"/>
          <p:cNvSpPr/>
          <p:nvPr/>
        </p:nvSpPr>
        <p:spPr>
          <a:xfrm>
            <a:off x="6400800" y="4526280"/>
            <a:ext cx="274320" cy="274320"/>
          </a:xfrm>
          <a:prstGeom prst="ellipse">
            <a:avLst/>
          </a:prstGeom>
          <a:solidFill>
            <a:srgbClr val="F0B429"/>
          </a:solidFill>
          <a:ln/>
        </p:spPr>
      </p:sp>
      <p:sp>
        <p:nvSpPr>
          <p:cNvPr id="25" name="Text 23"/>
          <p:cNvSpPr txBox="1"/>
          <p:nvPr/>
        </p:nvSpPr>
        <p:spPr>
          <a:xfrm>
            <a:off x="6812280" y="4434840"/>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E4S tools</a:t>
            </a:r>
            <a:endParaRPr lang="en-US" sz="1800" dirty="0"/>
          </a:p>
        </p:txBody>
      </p:sp>
      <p:sp>
        <p:nvSpPr>
          <p:cNvPr id="26" name="Text 24"/>
          <p:cNvSpPr txBox="1"/>
          <p:nvPr/>
        </p:nvSpPr>
        <p:spPr>
          <a:xfrm>
            <a:off x="6812280" y="4864608"/>
            <a:ext cx="4617720" cy="640080"/>
          </a:xfrm>
          <a:prstGeom prst="rect">
            <a:avLst/>
          </a:prstGeom>
          <a:noFill/>
          <a:ln/>
        </p:spPr>
        <p:txBody>
          <a:bodyPr wrap="square" lIns="0" tIns="0" rIns="0" bIns="0" rtlCol="0" anchor="t"/>
          <a:lstStyle/>
          <a:p>
            <a:pPr indent="0" marL="0">
              <a:buNone/>
            </a:pPr>
            <a:r>
              <a:rPr lang="en-US" sz="1400" dirty="0">
                <a:solidFill>
                  <a:schemeClr val="tx1"/>
                </a:solidFill>
              </a:rPr>
              <a:t>e4s-cl 1.0.9 · e4s-alc 1.0.3 · Spack 1.1.1</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How to find out what is inside</a:t>
            </a:r>
            <a:endParaRPr lang="en-US" sz="3400" dirty="0"/>
          </a:p>
        </p:txBody>
      </p:sp>
      <p:sp>
        <p:nvSpPr>
          <p:cNvPr id="3" name="terminal"/>
          <p:cNvSpPr/>
          <p:nvPr/>
        </p:nvSpPr>
        <p:spPr>
          <a:xfrm>
            <a:off x="548640" y="1371600"/>
            <a:ext cx="6949440" cy="2476927"/>
          </a:xfrm>
          <a:prstGeom prst="roundRect">
            <a:avLst>
              <a:gd name="adj" fmla="val 2953"/>
            </a:avLst>
          </a:prstGeom>
          <a:solidFill>
            <a:schemeClr val="tx1"/>
          </a:solidFill>
          <a:ln/>
        </p:spPr>
      </p:sp>
      <p:sp>
        <p:nvSpPr>
          <p:cNvPr id="4" name="terminal-text"/>
          <p:cNvSpPr txBox="1"/>
          <p:nvPr/>
        </p:nvSpPr>
        <p:spPr>
          <a:xfrm>
            <a:off x="731520" y="1481328"/>
            <a:ext cx="6583680" cy="2257471"/>
          </a:xfrm>
          <a:prstGeom prst="rect">
            <a:avLst/>
          </a:prstGeom>
          <a:noFill/>
          <a:ln/>
        </p:spPr>
        <p:txBody>
          <a:bodyPr wrap="square" lIns="0" tIns="0" rIns="0" bIns="0" rtlCol="0" anchor="t"/>
          <a:lstStyle/>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apptainer inspect $E4S_IMAGE</a:t>
            </a:r>
            <a:endParaRPr lang="en-US" sz="1400" dirty="0"/>
          </a:p>
          <a:p>
            <a:pPr indent="0" marL="0">
              <a:spcAft>
                <a:spcPts val="200"/>
              </a:spcAft>
              <a:buNone/>
            </a:pPr>
            <a:r>
              <a:rPr lang="en-US" sz="1400" b="1" dirty="0">
                <a:solidFill>
                  <a:schemeClr val="accent1"/>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apptainer shell --writable-tmpfs $E4S_IMAGE</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Apptainer&gt; source /spack/share/spack/setup-env.sh</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Apptainer&gt; spack find -x            # 127 packages</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Apptainer&gt; spack find -v petsc@3.25.1</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petsc@3.25.1 ~cuda+double+fortran~hypre+mpi</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~superlu-dist ...</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Apptainer&gt; spack find -d hypre      # dependencies</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Apptainer&gt; spack location -i lammps</a:t>
            </a:r>
            <a:endParaRPr lang="en-US" sz="1400" dirty="0"/>
          </a:p>
        </p:txBody>
      </p:sp>
      <p:sp>
        <p:nvSpPr>
          <p:cNvPr id="5" name="gotcha-1-circle"/>
          <p:cNvSpPr/>
          <p:nvPr/>
        </p:nvSpPr>
        <p:spPr>
          <a:xfrm>
            <a:off x="7863840" y="1463040"/>
            <a:ext cx="548640" cy="548640"/>
          </a:xfrm>
          <a:prstGeom prst="ellipse">
            <a:avLst/>
          </a:prstGeom>
          <a:solidFill>
            <a:srgbClr val="F0B429"/>
          </a:solidFill>
          <a:ln/>
        </p:spPr>
      </p:sp>
      <p:pic>
        <p:nvPicPr>
          <p:cNvPr id="6" name="gotcha-1-icon" descr="gotcha-1">    </p:cNvPr>
          <p:cNvPicPr>
            <a:picLocks noChangeAspect="1"/>
          </p:cNvPicPr>
          <p:nvPr/>
        </p:nvPicPr>
        <p:blipFill>
          <a:blip r:embed="rId1"/>
          <a:stretch>
            <a:fillRect/>
          </a:stretch>
        </p:blipFill>
        <p:spPr>
          <a:xfrm>
            <a:off x="7995514" y="1594714"/>
            <a:ext cx="285293" cy="285293"/>
          </a:xfrm>
          <a:prstGeom prst="rect">
            <a:avLst/>
          </a:prstGeom>
        </p:spPr>
      </p:pic>
      <p:sp>
        <p:nvSpPr>
          <p:cNvPr id="7" name="Text 4"/>
          <p:cNvSpPr txBox="1"/>
          <p:nvPr/>
        </p:nvSpPr>
        <p:spPr>
          <a:xfrm>
            <a:off x="8595360" y="1371600"/>
            <a:ext cx="3017520" cy="1188720"/>
          </a:xfrm>
          <a:prstGeom prst="rect">
            <a:avLst/>
          </a:prstGeom>
          <a:noFill/>
          <a:ln/>
        </p:spPr>
        <p:txBody>
          <a:bodyPr wrap="square" lIns="0" tIns="0" rIns="0" bIns="0" rtlCol="0" anchor="t"/>
          <a:lstStyle/>
          <a:p>
            <a:pPr indent="0" marL="0">
              <a:buNone/>
            </a:pPr>
            <a:r>
              <a:rPr lang="en-US" sz="1500" b="1" dirty="0">
                <a:solidFill>
                  <a:schemeClr val="tx1"/>
                </a:solidFill>
              </a:rPr>
              <a:t>Spack wants a lock file. </a:t>
            </a:r>
            <a:endParaRPr lang="en-US" sz="1500" dirty="0"/>
          </a:p>
          <a:p>
            <a:pPr indent="0" marL="0">
              <a:buNone/>
            </a:pPr>
            <a:r>
              <a:rPr lang="en-US" sz="1500" dirty="0">
                <a:solidFill>
                  <a:schemeClr val="tx1"/>
                </a:solidFill>
              </a:rPr>
              <a:t>The image is read-only, so add --writable-tmpfs or spack find fails.</a:t>
            </a:r>
            <a:endParaRPr lang="en-US" sz="1500" dirty="0"/>
          </a:p>
        </p:txBody>
      </p:sp>
      <p:sp>
        <p:nvSpPr>
          <p:cNvPr id="8" name="gotcha-2-circle"/>
          <p:cNvSpPr/>
          <p:nvPr/>
        </p:nvSpPr>
        <p:spPr>
          <a:xfrm>
            <a:off x="7863840" y="2834640"/>
            <a:ext cx="548640" cy="548640"/>
          </a:xfrm>
          <a:prstGeom prst="ellipse">
            <a:avLst/>
          </a:prstGeom>
          <a:solidFill>
            <a:srgbClr val="F0B429"/>
          </a:solidFill>
          <a:ln/>
        </p:spPr>
      </p:sp>
      <p:pic>
        <p:nvPicPr>
          <p:cNvPr id="9" name="gotcha-2-icon" descr="gotcha-2">    </p:cNvPr>
          <p:cNvPicPr>
            <a:picLocks noChangeAspect="1"/>
          </p:cNvPicPr>
          <p:nvPr/>
        </p:nvPicPr>
        <p:blipFill>
          <a:blip r:embed="rId2"/>
          <a:stretch>
            <a:fillRect/>
          </a:stretch>
        </p:blipFill>
        <p:spPr>
          <a:xfrm>
            <a:off x="7995514" y="2966314"/>
            <a:ext cx="285293" cy="285293"/>
          </a:xfrm>
          <a:prstGeom prst="rect">
            <a:avLst/>
          </a:prstGeom>
        </p:spPr>
      </p:pic>
      <p:sp>
        <p:nvSpPr>
          <p:cNvPr id="10" name="Text 6"/>
          <p:cNvSpPr txBox="1"/>
          <p:nvPr/>
        </p:nvSpPr>
        <p:spPr>
          <a:xfrm>
            <a:off x="8595360" y="2743200"/>
            <a:ext cx="3017520" cy="1188720"/>
          </a:xfrm>
          <a:prstGeom prst="rect">
            <a:avLst/>
          </a:prstGeom>
          <a:noFill/>
          <a:ln/>
        </p:spPr>
        <p:txBody>
          <a:bodyPr wrap="square" lIns="0" tIns="0" rIns="0" bIns="0" rtlCol="0" anchor="t"/>
          <a:lstStyle/>
          <a:p>
            <a:pPr indent="0" marL="0">
              <a:buNone/>
            </a:pPr>
            <a:r>
              <a:rPr lang="en-US" sz="1500" b="1" dirty="0">
                <a:solidFill>
                  <a:schemeClr val="tx1"/>
                </a:solidFill>
              </a:rPr>
              <a:t>Read the variants. </a:t>
            </a:r>
            <a:endParaRPr lang="en-US" sz="1500" dirty="0"/>
          </a:p>
          <a:p>
            <a:pPr indent="0" marL="0">
              <a:buNone/>
            </a:pPr>
            <a:r>
              <a:rPr lang="en-US" sz="1500" dirty="0">
                <a:solidFill>
                  <a:schemeClr val="tx1"/>
                </a:solidFill>
              </a:rPr>
              <a:t>+ is on, ~ is off. This PETSc has no SuperLU_DIST and no hypre.</a:t>
            </a:r>
            <a:endParaRPr lang="en-US" sz="1500" dirty="0"/>
          </a:p>
        </p:txBody>
      </p:sp>
      <p:sp>
        <p:nvSpPr>
          <p:cNvPr id="11" name="gotcha-3-circle"/>
          <p:cNvSpPr/>
          <p:nvPr/>
        </p:nvSpPr>
        <p:spPr>
          <a:xfrm>
            <a:off x="7863840" y="4206240"/>
            <a:ext cx="548640" cy="548640"/>
          </a:xfrm>
          <a:prstGeom prst="ellipse">
            <a:avLst/>
          </a:prstGeom>
          <a:solidFill>
            <a:srgbClr val="F0B429"/>
          </a:solidFill>
          <a:ln/>
        </p:spPr>
      </p:sp>
      <p:pic>
        <p:nvPicPr>
          <p:cNvPr id="12" name="gotcha-3-icon" descr="gotcha-3">    </p:cNvPr>
          <p:cNvPicPr>
            <a:picLocks noChangeAspect="1"/>
          </p:cNvPicPr>
          <p:nvPr/>
        </p:nvPicPr>
        <p:blipFill>
          <a:blip r:embed="rId3"/>
          <a:stretch>
            <a:fillRect/>
          </a:stretch>
        </p:blipFill>
        <p:spPr>
          <a:xfrm>
            <a:off x="7995514" y="4337914"/>
            <a:ext cx="285293" cy="285293"/>
          </a:xfrm>
          <a:prstGeom prst="rect">
            <a:avLst/>
          </a:prstGeom>
        </p:spPr>
      </p:pic>
      <p:sp>
        <p:nvSpPr>
          <p:cNvPr id="13" name="Text 8"/>
          <p:cNvSpPr txBox="1"/>
          <p:nvPr/>
        </p:nvSpPr>
        <p:spPr>
          <a:xfrm>
            <a:off x="8595360" y="4114800"/>
            <a:ext cx="3017520" cy="1188720"/>
          </a:xfrm>
          <a:prstGeom prst="rect">
            <a:avLst/>
          </a:prstGeom>
          <a:noFill/>
          <a:ln/>
        </p:spPr>
        <p:txBody>
          <a:bodyPr wrap="square" lIns="0" tIns="0" rIns="0" bIns="0" rtlCol="0" anchor="t"/>
          <a:lstStyle/>
          <a:p>
            <a:pPr indent="0" marL="0">
              <a:buNone/>
            </a:pPr>
            <a:r>
              <a:rPr lang="en-US" sz="1500" b="1" dirty="0">
                <a:solidFill>
                  <a:schemeClr val="tx1"/>
                </a:solidFill>
              </a:rPr>
              <a:t>Prefer shell/exec over run. </a:t>
            </a:r>
            <a:endParaRPr lang="en-US" sz="1500" dirty="0"/>
          </a:p>
          <a:p>
            <a:pPr indent="0" marL="0">
              <a:buNone/>
            </a:pPr>
            <a:r>
              <a:rPr lang="en-US" sz="1500" dirty="0">
                <a:solidFill>
                  <a:schemeClr val="tx1"/>
                </a:solidFill>
              </a:rPr>
              <a:t>run sources the image's bashrc, which writes into $HOME.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Running containers under Slurm</a:t>
            </a:r>
            <a:endParaRPr lang="en-US" sz="3400" dirty="0"/>
          </a:p>
        </p:txBody>
      </p:sp>
      <p:sp>
        <p:nvSpPr>
          <p:cNvPr id="3" name="flow-0"/>
          <p:cNvSpPr/>
          <p:nvPr/>
        </p:nvSpPr>
        <p:spPr>
          <a:xfrm>
            <a:off x="548640" y="1417320"/>
            <a:ext cx="3840480" cy="731520"/>
          </a:xfrm>
          <a:prstGeom prst="roundRect">
            <a:avLst>
              <a:gd name="adj" fmla="val 10000"/>
            </a:avLst>
          </a:prstGeom>
          <a:solidFill>
            <a:srgbClr val="1F2D3A"/>
          </a:solidFill>
          <a:ln/>
        </p:spPr>
      </p:sp>
      <p:sp>
        <p:nvSpPr>
          <p:cNvPr id="4" name="Text 2"/>
          <p:cNvSpPr txBox="1"/>
          <p:nvPr/>
        </p:nvSpPr>
        <p:spPr>
          <a:xfrm>
            <a:off x="548640" y="1417320"/>
            <a:ext cx="3840480" cy="731520"/>
          </a:xfrm>
          <a:prstGeom prst="rect">
            <a:avLst/>
          </a:prstGeom>
          <a:noFill/>
          <a:ln/>
        </p:spPr>
        <p:txBody>
          <a:bodyPr wrap="square" lIns="0" tIns="0" rIns="0" bIns="0" rtlCol="0" anchor="ctr"/>
          <a:lstStyle/>
          <a:p>
            <a:pPr algn="ctr" indent="0" marL="0">
              <a:buNone/>
            </a:pPr>
            <a:r>
              <a:rPr lang="en-US" sz="1700" b="1" dirty="0">
                <a:solidFill>
                  <a:schemeClr val="bg1"/>
                </a:solidFill>
              </a:rPr>
              <a:t>sbatch job.sbatch</a:t>
            </a:r>
            <a:endParaRPr lang="en-US" sz="1700" dirty="0"/>
          </a:p>
        </p:txBody>
      </p:sp>
      <p:sp>
        <p:nvSpPr>
          <p:cNvPr id="5" name="flow-arrow-0"/>
          <p:cNvSpPr/>
          <p:nvPr/>
        </p:nvSpPr>
        <p:spPr>
          <a:xfrm>
            <a:off x="2286000" y="2167128"/>
            <a:ext cx="365760" cy="237744"/>
          </a:xfrm>
          <a:prstGeom prst="downArrow">
            <a:avLst/>
          </a:prstGeom>
          <a:solidFill>
            <a:schemeClr val="accent5"/>
          </a:solidFill>
          <a:ln/>
        </p:spPr>
      </p:sp>
      <p:sp>
        <p:nvSpPr>
          <p:cNvPr id="6" name="flow-1"/>
          <p:cNvSpPr/>
          <p:nvPr/>
        </p:nvSpPr>
        <p:spPr>
          <a:xfrm>
            <a:off x="548640" y="2423160"/>
            <a:ext cx="3840480" cy="731520"/>
          </a:xfrm>
          <a:prstGeom prst="roundRect">
            <a:avLst>
              <a:gd name="adj" fmla="val 10000"/>
            </a:avLst>
          </a:prstGeom>
          <a:solidFill>
            <a:srgbClr val="2F6E9E"/>
          </a:solidFill>
          <a:ln/>
        </p:spPr>
      </p:sp>
      <p:sp>
        <p:nvSpPr>
          <p:cNvPr id="7" name="Text 5"/>
          <p:cNvSpPr txBox="1"/>
          <p:nvPr/>
        </p:nvSpPr>
        <p:spPr>
          <a:xfrm>
            <a:off x="548640" y="2423160"/>
            <a:ext cx="3840480" cy="731520"/>
          </a:xfrm>
          <a:prstGeom prst="rect">
            <a:avLst/>
          </a:prstGeom>
          <a:noFill/>
          <a:ln/>
        </p:spPr>
        <p:txBody>
          <a:bodyPr wrap="square" lIns="0" tIns="0" rIns="0" bIns="0" rtlCol="0" anchor="ctr"/>
          <a:lstStyle/>
          <a:p>
            <a:pPr algn="ctr" indent="0" marL="0">
              <a:buNone/>
            </a:pPr>
            <a:r>
              <a:rPr lang="en-US" sz="1700" b="1" dirty="0">
                <a:solidFill>
                  <a:schemeClr val="bg1"/>
                </a:solidFill>
              </a:rPr>
              <a:t>srun --mpi=pmi2</a:t>
            </a:r>
            <a:endParaRPr lang="en-US" sz="1700" dirty="0"/>
          </a:p>
        </p:txBody>
      </p:sp>
      <p:sp>
        <p:nvSpPr>
          <p:cNvPr id="8" name="flow-arrow-1"/>
          <p:cNvSpPr/>
          <p:nvPr/>
        </p:nvSpPr>
        <p:spPr>
          <a:xfrm>
            <a:off x="2286000" y="3172968"/>
            <a:ext cx="365760" cy="237744"/>
          </a:xfrm>
          <a:prstGeom prst="downArrow">
            <a:avLst/>
          </a:prstGeom>
          <a:solidFill>
            <a:schemeClr val="accent5"/>
          </a:solidFill>
          <a:ln/>
        </p:spPr>
      </p:sp>
      <p:sp>
        <p:nvSpPr>
          <p:cNvPr id="9" name="flow-2"/>
          <p:cNvSpPr/>
          <p:nvPr/>
        </p:nvSpPr>
        <p:spPr>
          <a:xfrm>
            <a:off x="548640" y="3429000"/>
            <a:ext cx="3840480" cy="731520"/>
          </a:xfrm>
          <a:prstGeom prst="roundRect">
            <a:avLst>
              <a:gd name="adj" fmla="val 10000"/>
            </a:avLst>
          </a:prstGeom>
          <a:solidFill>
            <a:srgbClr val="4E8A3C"/>
          </a:solidFill>
          <a:ln/>
        </p:spPr>
      </p:sp>
      <p:sp>
        <p:nvSpPr>
          <p:cNvPr id="10" name="Text 8"/>
          <p:cNvSpPr txBox="1"/>
          <p:nvPr/>
        </p:nvSpPr>
        <p:spPr>
          <a:xfrm>
            <a:off x="548640" y="3429000"/>
            <a:ext cx="3840480" cy="731520"/>
          </a:xfrm>
          <a:prstGeom prst="rect">
            <a:avLst/>
          </a:prstGeom>
          <a:noFill/>
          <a:ln/>
        </p:spPr>
        <p:txBody>
          <a:bodyPr wrap="square" lIns="0" tIns="0" rIns="0" bIns="0" rtlCol="0" anchor="ctr"/>
          <a:lstStyle/>
          <a:p>
            <a:pPr algn="ctr" indent="0" marL="0">
              <a:buNone/>
            </a:pPr>
            <a:r>
              <a:rPr lang="en-US" sz="1700" b="1" dirty="0">
                <a:solidFill>
                  <a:schemeClr val="bg1"/>
                </a:solidFill>
              </a:rPr>
              <a:t>one container per rank</a:t>
            </a:r>
            <a:endParaRPr lang="en-US" sz="1700" dirty="0"/>
          </a:p>
        </p:txBody>
      </p:sp>
      <p:sp>
        <p:nvSpPr>
          <p:cNvPr id="11" name="flow-arrow-2"/>
          <p:cNvSpPr/>
          <p:nvPr/>
        </p:nvSpPr>
        <p:spPr>
          <a:xfrm>
            <a:off x="2286000" y="4178808"/>
            <a:ext cx="365760" cy="237744"/>
          </a:xfrm>
          <a:prstGeom prst="downArrow">
            <a:avLst/>
          </a:prstGeom>
          <a:solidFill>
            <a:schemeClr val="accent5"/>
          </a:solidFill>
          <a:ln/>
        </p:spPr>
      </p:sp>
      <p:sp>
        <p:nvSpPr>
          <p:cNvPr id="12" name="flow-3"/>
          <p:cNvSpPr/>
          <p:nvPr/>
        </p:nvSpPr>
        <p:spPr>
          <a:xfrm>
            <a:off x="548640" y="4434840"/>
            <a:ext cx="3840480" cy="731520"/>
          </a:xfrm>
          <a:prstGeom prst="roundRect">
            <a:avLst>
              <a:gd name="adj" fmla="val 10000"/>
            </a:avLst>
          </a:prstGeom>
          <a:solidFill>
            <a:srgbClr val="E0731F"/>
          </a:solidFill>
          <a:ln/>
        </p:spPr>
      </p:sp>
      <p:sp>
        <p:nvSpPr>
          <p:cNvPr id="13" name="Text 11"/>
          <p:cNvSpPr txBox="1"/>
          <p:nvPr/>
        </p:nvSpPr>
        <p:spPr>
          <a:xfrm>
            <a:off x="548640" y="4434840"/>
            <a:ext cx="3840480" cy="731520"/>
          </a:xfrm>
          <a:prstGeom prst="rect">
            <a:avLst/>
          </a:prstGeom>
          <a:noFill/>
          <a:ln/>
        </p:spPr>
        <p:txBody>
          <a:bodyPr wrap="square" lIns="0" tIns="0" rIns="0" bIns="0" rtlCol="0" anchor="ctr"/>
          <a:lstStyle/>
          <a:p>
            <a:pPr algn="ctr" indent="0" marL="0">
              <a:buNone/>
            </a:pPr>
            <a:r>
              <a:rPr lang="en-US" sz="1700" b="1" dirty="0">
                <a:solidFill>
                  <a:schemeClr val="bg1"/>
                </a:solidFill>
              </a:rPr>
              <a:t>container MPICH ↔ Slurm PMI2</a:t>
            </a:r>
            <a:endParaRPr lang="en-US" sz="1700" dirty="0"/>
          </a:p>
        </p:txBody>
      </p:sp>
      <p:sp>
        <p:nvSpPr>
          <p:cNvPr id="14" name="terminal"/>
          <p:cNvSpPr/>
          <p:nvPr/>
        </p:nvSpPr>
        <p:spPr>
          <a:xfrm>
            <a:off x="4846320" y="1371600"/>
            <a:ext cx="6766560" cy="2863718"/>
          </a:xfrm>
          <a:prstGeom prst="roundRect">
            <a:avLst>
              <a:gd name="adj" fmla="val 2554"/>
            </a:avLst>
          </a:prstGeom>
          <a:solidFill>
            <a:schemeClr val="tx1"/>
          </a:solidFill>
          <a:ln/>
        </p:spPr>
      </p:sp>
      <p:sp>
        <p:nvSpPr>
          <p:cNvPr id="15" name="terminal-text"/>
          <p:cNvSpPr txBox="1"/>
          <p:nvPr/>
        </p:nvSpPr>
        <p:spPr>
          <a:xfrm>
            <a:off x="5029200" y="1481328"/>
            <a:ext cx="6400800" cy="2644262"/>
          </a:xfrm>
          <a:prstGeom prst="rect">
            <a:avLst/>
          </a:prstGeom>
          <a:noFill/>
          <a:ln/>
        </p:spPr>
        <p:txBody>
          <a:bodyPr wrap="square" lIns="0" tIns="0" rIns="0" bIns="0" rtlCol="0" anchor="t"/>
          <a:lstStyle/>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#!/bin/bash</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#SBATCH --nodes=1 --ntasks=8</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#SBATCH --time=00:10:00</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source $E4S_WORKSHOP/env.sh</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LMP=$(apptainer exec --writable-tmpfs \</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$E4S_IMAGE bash -c '. /spack/share/spack/\</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setup-env.sh &amp;&amp; spack location -i lammps')/bin/lmp</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srun --mpi=pmi2 apptainer exec $E4S_IMAGE \</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$LMP -in in.lj -var x 2 -var y 2 -var z 2</a:t>
            </a:r>
            <a:endParaRPr lang="en-US" sz="1350" dirty="0"/>
          </a:p>
        </p:txBody>
      </p:sp>
      <p:sp>
        <p:nvSpPr>
          <p:cNvPr id="16" name="Text 14"/>
          <p:cNvSpPr txBox="1"/>
          <p:nvPr/>
        </p:nvSpPr>
        <p:spPr>
          <a:xfrm>
            <a:off x="548640" y="5623560"/>
            <a:ext cx="11064240" cy="365760"/>
          </a:xfrm>
          <a:prstGeom prst="rect">
            <a:avLst/>
          </a:prstGeom>
          <a:noFill/>
          <a:ln/>
        </p:spPr>
        <p:txBody>
          <a:bodyPr wrap="square" lIns="0" tIns="0" rIns="0" bIns="0" rtlCol="0" anchor="ctr"/>
          <a:lstStyle/>
          <a:p>
            <a:pPr indent="0" marL="0">
              <a:buNone/>
            </a:pPr>
            <a:r>
              <a:rPr lang="en-US" sz="1500" i="1" dirty="0">
                <a:solidFill>
                  <a:schemeClr val="accent3"/>
                </a:solidFill>
              </a:rPr>
              <a:t>Don't add --cleanenv here: the ranks find each other through PMI_* variables set by Slurm.</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Hands-on 2: pull, inspect, run LAMMPS</a:t>
            </a:r>
            <a:endParaRPr lang="en-US" sz="3400" dirty="0"/>
          </a:p>
        </p:txBody>
      </p:sp>
      <p:sp>
        <p:nvSpPr>
          <p:cNvPr id="3" name="terminal"/>
          <p:cNvSpPr/>
          <p:nvPr/>
        </p:nvSpPr>
        <p:spPr>
          <a:xfrm>
            <a:off x="548640" y="1371600"/>
            <a:ext cx="6949440" cy="2305020"/>
          </a:xfrm>
          <a:prstGeom prst="roundRect">
            <a:avLst>
              <a:gd name="adj" fmla="val 3174"/>
            </a:avLst>
          </a:prstGeom>
          <a:solidFill>
            <a:schemeClr val="tx1"/>
          </a:solidFill>
          <a:ln/>
        </p:spPr>
      </p:sp>
      <p:sp>
        <p:nvSpPr>
          <p:cNvPr id="4" name="terminal-text"/>
          <p:cNvSpPr txBox="1"/>
          <p:nvPr/>
        </p:nvSpPr>
        <p:spPr>
          <a:xfrm>
            <a:off x="731520" y="1481328"/>
            <a:ext cx="6583680" cy="2085564"/>
          </a:xfrm>
          <a:prstGeom prst="rect">
            <a:avLst/>
          </a:prstGeom>
          <a:noFill/>
          <a:ln/>
        </p:spPr>
        <p:txBody>
          <a:bodyPr wrap="square" lIns="0" tIns="0" rIns="0" bIns="0" rtlCol="0" anchor="t"/>
          <a:lstStyle/>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cd $E4S_SCRATCH/e4s-labs/part2</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apptainer pull e4s-spack-cpu_26.06.sif \</a:t>
            </a:r>
            <a:endParaRPr lang="en-US" sz="1450" dirty="0"/>
          </a:p>
          <a:p>
            <a:pPr indent="0" marL="0">
              <a:spcAft>
                <a:spcPts val="200"/>
              </a:spcAft>
              <a:buNone/>
            </a:pPr>
            <a:r>
              <a:rPr lang="en-US" sz="1450" dirty="0">
                <a:solidFill>
                  <a:srgbClr val="B8C4CE"/>
                </a:solidFill>
                <a:latin typeface="Courier New" pitchFamily="34" charset="0"/>
                <a:ea typeface="Courier New" pitchFamily="34" charset="-122"/>
                <a:cs typeface="Courier New" pitchFamily="34" charset="-120"/>
              </a:rPr>
              <a:t>      docker://ecpe4s/e4s-spack-cpu:26.06</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./inspect.sh                # or explore with shell</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sbatch lammps.sbatch</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cat lammps-&lt;jobid&gt;.out</a:t>
            </a:r>
            <a:endParaRPr lang="en-US" sz="1450" dirty="0"/>
          </a:p>
          <a:p>
            <a:pPr indent="0" marL="0">
              <a:spcAft>
                <a:spcPts val="200"/>
              </a:spcAft>
              <a:buNone/>
            </a:pPr>
            <a:r>
              <a:rPr lang="en-US" sz="1450" dirty="0">
                <a:solidFill>
                  <a:srgbClr val="B8C4CE"/>
                </a:solidFill>
                <a:latin typeface="Courier New" pitchFamily="34" charset="0"/>
                <a:ea typeface="Courier New" pitchFamily="34" charset="-122"/>
                <a:cs typeface="Courier New" pitchFamily="34" charset="-120"/>
              </a:rPr>
              <a:t>Loop time of 1.86 on 8 procs for 100 steps</a:t>
            </a:r>
            <a:endParaRPr lang="en-US" sz="1450" dirty="0"/>
          </a:p>
          <a:p>
            <a:pPr indent="0" marL="0">
              <a:spcAft>
                <a:spcPts val="200"/>
              </a:spcAft>
              <a:buNone/>
            </a:pPr>
            <a:r>
              <a:rPr lang="en-US" sz="1450" dirty="0">
                <a:solidFill>
                  <a:srgbClr val="B8C4CE"/>
                </a:solidFill>
                <a:latin typeface="Courier New" pitchFamily="34" charset="0"/>
                <a:ea typeface="Courier New" pitchFamily="34" charset="-122"/>
                <a:cs typeface="Courier New" pitchFamily="34" charset="-120"/>
              </a:rPr>
              <a:t>Performance: ... 13.8 Matom-step/s</a:t>
            </a:r>
            <a:endParaRPr lang="en-US" sz="1450" dirty="0"/>
          </a:p>
        </p:txBody>
      </p:sp>
      <p:sp>
        <p:nvSpPr>
          <p:cNvPr id="5" name="bullets"/>
          <p:cNvSpPr txBox="1"/>
          <p:nvPr/>
        </p:nvSpPr>
        <p:spPr>
          <a:xfrm>
            <a:off x="7863840" y="1463040"/>
            <a:ext cx="3749040" cy="365760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Is HDF5 in the image? Is GROMACS built with MPI?</a:t>
            </a:r>
            <a:endParaRPr lang="en-US" sz="1700" dirty="0"/>
          </a:p>
          <a:p>
            <a:pPr marL="342900" indent="-342900">
              <a:spcAft>
                <a:spcPts val="1600"/>
              </a:spcAft>
              <a:buSzPct val="100000"/>
              <a:buChar char="•"/>
            </a:pPr>
            <a:r>
              <a:rPr lang="en-US" sz="1700" dirty="0">
                <a:solidFill>
                  <a:schemeClr val="tx1"/>
                </a:solidFill>
              </a:rPr>
              <a:t>Change --ntasks or the box size; compare Performance</a:t>
            </a:r>
            <a:endParaRPr lang="en-US" sz="1700" dirty="0"/>
          </a:p>
          <a:p>
            <a:pPr marL="342900" indent="-342900">
              <a:spcAft>
                <a:spcPts val="1600"/>
              </a:spcAft>
              <a:buSzPct val="100000"/>
              <a:buChar char="•"/>
            </a:pPr>
            <a:r>
              <a:rPr lang="en-US" sz="1700" b="1" dirty="0">
                <a:solidFill>
                  <a:schemeClr val="tx1"/>
                </a:solidFill>
              </a:rPr>
              <a:t>Challenge: </a:t>
            </a:r>
            <a:r>
              <a:rPr lang="en-US" sz="1700" dirty="0">
                <a:solidFill>
                  <a:schemeClr val="tx1"/>
                </a:solidFill>
              </a:rPr>
              <a:t>petsc/ex50.sbatch compiles your own code against the image's PETSc</a:t>
            </a:r>
            <a:endParaRPr lang="en-US" sz="1700" dirty="0"/>
          </a:p>
        </p:txBody>
      </p:sp>
      <p:sp>
        <p:nvSpPr>
          <p:cNvPr id="6" name="hands-on-pill"/>
          <p:cNvSpPr/>
          <p:nvPr/>
        </p:nvSpPr>
        <p:spPr>
          <a:xfrm>
            <a:off x="548640" y="5760720"/>
            <a:ext cx="1600200" cy="420624"/>
          </a:xfrm>
          <a:prstGeom prst="roundRect">
            <a:avLst>
              <a:gd name="adj" fmla="val 50000"/>
            </a:avLst>
          </a:prstGeom>
          <a:solidFill>
            <a:schemeClr val="accent1"/>
          </a:solidFill>
          <a:ln/>
        </p:spPr>
      </p:sp>
      <p:sp>
        <p:nvSpPr>
          <p:cNvPr id="7" name="hands-on-label"/>
          <p:cNvSpPr txBox="1"/>
          <p:nvPr/>
        </p:nvSpPr>
        <p:spPr>
          <a:xfrm>
            <a:off x="548640" y="5760720"/>
            <a:ext cx="1600200" cy="420624"/>
          </a:xfrm>
          <a:prstGeom prst="rect">
            <a:avLst/>
          </a:prstGeom>
          <a:noFill/>
          <a:ln/>
        </p:spPr>
        <p:txBody>
          <a:bodyPr wrap="square" lIns="0" tIns="0" rIns="0" bIns="0" rtlCol="0" anchor="ctr"/>
          <a:lstStyle/>
          <a:p>
            <a:pPr algn="ctr" indent="0" marL="0">
              <a:buNone/>
            </a:pPr>
            <a:r>
              <a:rPr lang="en-US" sz="1400" b="1" dirty="0">
                <a:solidFill>
                  <a:schemeClr val="bg1"/>
                </a:solidFill>
              </a:rPr>
              <a:t>HANDS-ON</a:t>
            </a:r>
            <a:endParaRPr lang="en-US" sz="1400" dirty="0"/>
          </a:p>
        </p:txBody>
      </p:sp>
      <p:sp>
        <p:nvSpPr>
          <p:cNvPr id="8" name="hands-on-where"/>
          <p:cNvSpPr txBox="1"/>
          <p:nvPr/>
        </p:nvSpPr>
        <p:spPr>
          <a:xfrm>
            <a:off x="2331720" y="5760720"/>
            <a:ext cx="7315200" cy="420624"/>
          </a:xfrm>
          <a:prstGeom prst="rect">
            <a:avLst/>
          </a:prstGeom>
          <a:noFill/>
          <a:ln/>
        </p:spPr>
        <p:txBody>
          <a:bodyPr wrap="square" lIns="0" tIns="0" rIns="0" bIns="0" rtlCol="0" anchor="ctr"/>
          <a:lstStyle/>
          <a:p>
            <a:pPr indent="0" marL="0">
              <a:buNone/>
            </a:pPr>
            <a:r>
              <a:rPr lang="en-US" sz="1500" b="1" dirty="0">
                <a:solidFill>
                  <a:schemeClr val="accent1"/>
                </a:solidFill>
              </a:rPr>
              <a:t>LAB_GUIDE.md · Part 2  ·  25 minutes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lIns="0" tIns="0" rIns="0" bIns="0" rtlCol="0"/>
          <a:lstStyle/>
          <a:p>
            <a:pPr indent="0" marL="0">
              <a:buNone/>
            </a:pPr>
            <a:r>
              <a:rPr lang="en-US" sz="2000" b="1" spc="400" kern="0" dirty="0">
                <a:solidFill>
                  <a:schemeClr val="accent1"/>
                </a:solidFill>
              </a:rPr>
              <a:t>PART 3  ·  45 MIN</a:t>
            </a:r>
            <a:endParaRPr lang="en-US" sz="2000" dirty="0"/>
          </a:p>
        </p:txBody>
      </p:sp>
      <p:sp>
        <p:nvSpPr>
          <p:cNvPr id="3" name="Text 0"/>
          <p:cNvSpPr/>
          <p:nvPr>
            <p:ph idx="101" type="title" hasCustomPrompt="1"/>
          </p:nvPr>
        </p:nvSpPr>
        <p:spPr>
          <a:xfrm>
            <a:off x="731520" y="2560320"/>
            <a:ext cx="8412480" cy="1554480"/>
          </a:xfrm>
          <a:prstGeom prst="rect">
            <a:avLst/>
          </a:prstGeom>
          <a:noFill/>
          <a:ln/>
        </p:spPr>
        <p:txBody>
          <a:bodyPr wrap="square" lIns="0" tIns="0" rIns="0" bIns="0" rtlCol="0" anchor="t"/>
          <a:lstStyle/>
          <a:p>
            <a:pPr algn="l" indent="0" marL="0">
              <a:buNone/>
            </a:pPr>
            <a:r>
              <a:rPr lang="en-US" sz="4400" b="1" dirty="0">
                <a:solidFill>
                  <a:schemeClr val="bg1"/>
                </a:solidFill>
              </a:rPr>
              <a:t>Two E4S tools: swap MPI at launch, add software to an image</a:t>
            </a:r>
            <a:endParaRPr lang="en-US" sz="4400" dirty="0"/>
          </a:p>
        </p:txBody>
      </p:sp>
      <p:sp>
        <p:nvSpPr>
          <p:cNvPr id="4" name="Text 0"/>
          <p:cNvSpPr/>
          <p:nvPr>
            <p:ph idx="102" type="body" hasCustomPrompt="1"/>
          </p:nvPr>
        </p:nvSpPr>
        <p:spPr>
          <a:xfrm>
            <a:off x="731520" y="4206240"/>
            <a:ext cx="8412480" cy="1280160"/>
          </a:xfrm>
          <a:prstGeom prst="rect">
            <a:avLst/>
          </a:prstGeom>
          <a:noFill/>
          <a:ln/>
        </p:spPr>
        <p:txBody>
          <a:bodyPr wrap="square" lIns="0" tIns="0" rIns="0" bIns="0" rtlCol="0" anchor="t"/>
          <a:lstStyle/>
          <a:p>
            <a:pPr indent="0" marL="0">
              <a:buNone/>
            </a:pPr>
            <a:r>
              <a:rPr lang="en-US" sz="2000" dirty="0">
                <a:solidFill>
                  <a:schemeClr val="bg2"/>
                </a:solidFill>
              </a:rPr>
              <a:t>e4s-cl runs a container-built MPI program on the host's MPI. e4s-alc turns a short YAML recipe into a new image.</a:t>
            </a:r>
            <a:endParaRPr lang="en-US" sz="2000" dirty="0"/>
          </a:p>
        </p:txBody>
      </p:sp>
      <p:pic>
        <p:nvPicPr>
          <p:cNvPr id="5" name="section-icon" descr="preencoded.png">    </p:cNvPr>
          <p:cNvPicPr>
            <a:picLocks noChangeAspect="1"/>
          </p:cNvPicPr>
          <p:nvPr/>
        </p:nvPicPr>
        <p:blipFill>
          <a:blip r:embed="rId1"/>
          <a:stretch>
            <a:fillRect/>
          </a:stretch>
        </p:blipFill>
        <p:spPr>
          <a:xfrm>
            <a:off x="9509760" y="2377440"/>
            <a:ext cx="1828800" cy="1828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container's MPI does not know Midway3's network</a:t>
            </a:r>
            <a:endParaRPr lang="en-US" sz="3400" dirty="0"/>
          </a:p>
        </p:txBody>
      </p:sp>
      <p:graphicFrame>
        <p:nvGraphicFramePr>
          <p:cNvPr id="3" name="latency-chart" descr=""/>
          <p:cNvGraphicFramePr/>
          <p:nvPr/>
        </p:nvGraphicFramePr>
        <p:xfrm>
          <a:off x="548640" y="1325880"/>
          <a:ext cx="53949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bandwidth-chart" descr=""/>
          <p:cNvGraphicFramePr/>
          <p:nvPr/>
        </p:nvGraphicFramePr>
        <p:xfrm>
          <a:off x="6217920" y="1325880"/>
          <a:ext cx="5394960" cy="41148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623560"/>
            <a:ext cx="11064240" cy="365760"/>
          </a:xfrm>
          <a:prstGeom prst="rect">
            <a:avLst/>
          </a:prstGeom>
          <a:noFill/>
          <a:ln/>
        </p:spPr>
        <p:txBody>
          <a:bodyPr wrap="square" lIns="0" tIns="0" rIns="0" bIns="0" rtlCol="0" anchor="ctr"/>
          <a:lstStyle/>
          <a:p>
            <a:pPr indent="0" marL="0">
              <a:buNone/>
            </a:pPr>
            <a:r>
              <a:rPr lang="en-US" sz="1400" i="1" dirty="0">
                <a:solidFill>
                  <a:schemeClr val="accent5"/>
                </a:solidFill>
              </a:rPr>
              <a:t>Same container-built binary in all three bars. Ping-pong between two caslake nodes, measured Oct 24, 2026.</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Why swapping works: the MPICH ABI</a:t>
            </a:r>
            <a:endParaRPr lang="en-US" sz="3400" dirty="0"/>
          </a:p>
        </p:txBody>
      </p:sp>
      <p:graphicFrame>
        <p:nvGraphicFramePr>
          <p:cNvPr id="22" name="abi-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206240"/>
                <a:gridCol w="2377440"/>
                <a:gridCol w="4480560"/>
              </a:tblGrid>
              <a:tr h="603504">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MPI implementation</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1F2D3A"/>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Library</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1F2D3A"/>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Swap into an MPICH-built container</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solidFill>
                      <a:srgbClr val="1F2D3A"/>
                    </a:solidFill>
                  </a:tcPr>
                </a:tc>
              </a:tr>
              <a:tr h="603504">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MPICH (in the E4S images)</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ourier New" pitchFamily="34" charset="0"/>
                          <a:ea typeface="Courier New" pitchFamily="34" charset="-122"/>
                          <a:cs typeface="Courier New" pitchFamily="34" charset="-120"/>
                        </a:rPr>
                        <a:t>libmpi.so.12</a:t>
                      </a:r>
                      <a:endParaRPr lang="en-US" sz="1700" dirty="0">
                        <a:latin typeface="Courier New" charset="0"/>
                        <a:ea typeface="Courier New" charset="0"/>
                        <a:cs typeface="Courier New"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4E8A3C"/>
                          </a:solidFill>
                          <a:latin typeface="Calibri" pitchFamily="34" charset="0"/>
                          <a:ea typeface="Calibri" pitchFamily="34" charset="-122"/>
                          <a:cs typeface="Calibri" pitchFamily="34" charset="-120"/>
                        </a:rPr>
                        <a:t>directly</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603504">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Intel MPI  (Midway3: intelmpi/2021.5)</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ourier New" pitchFamily="34" charset="0"/>
                          <a:ea typeface="Courier New" pitchFamily="34" charset="-122"/>
                          <a:cs typeface="Courier New" pitchFamily="34" charset="-120"/>
                        </a:rPr>
                        <a:t>libmpi.so.12</a:t>
                      </a:r>
                      <a:endParaRPr lang="en-US" sz="1700" dirty="0">
                        <a:latin typeface="Courier New" charset="0"/>
                        <a:ea typeface="Courier New" charset="0"/>
                        <a:cs typeface="Courier New"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4E8A3C"/>
                          </a:solidFill>
                          <a:latin typeface="Calibri" pitchFamily="34" charset="0"/>
                          <a:ea typeface="Calibri" pitchFamily="34" charset="-122"/>
                          <a:cs typeface="Calibri" pitchFamily="34" charset="-120"/>
                        </a:rPr>
                        <a:t>directly</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603504">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MVAPICH, Cray MPICH</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ourier New" pitchFamily="34" charset="0"/>
                          <a:ea typeface="Courier New" pitchFamily="34" charset="-122"/>
                          <a:cs typeface="Courier New" pitchFamily="34" charset="-120"/>
                        </a:rPr>
                        <a:t>libmpi.so.12</a:t>
                      </a:r>
                      <a:endParaRPr lang="en-US" sz="1700" dirty="0">
                        <a:latin typeface="Courier New" charset="0"/>
                        <a:ea typeface="Courier New" charset="0"/>
                        <a:cs typeface="Courier New"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4E8A3C"/>
                          </a:solidFill>
                          <a:latin typeface="Calibri" pitchFamily="34" charset="0"/>
                          <a:ea typeface="Calibri" pitchFamily="34" charset="-122"/>
                          <a:cs typeface="Calibri" pitchFamily="34" charset="-120"/>
                        </a:rPr>
                        <a:t>directly</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r h="603504">
                <a:tc>
                  <a:txBody>
                    <a:bodyPr/>
                    <a:lstStyle/>
                    <a:p>
                      <a:pPr indent="0" marL="0">
                        <a:buNone/>
                      </a:pPr>
                      <a:r>
                        <a:rPr lang="en-US" sz="1700" dirty="0">
                          <a:solidFill>
                            <a:srgbClr val="1B2631"/>
                          </a:solidFill>
                          <a:latin typeface="Calibri" pitchFamily="34" charset="0"/>
                          <a:ea typeface="Calibri" pitchFamily="34" charset="-122"/>
                          <a:cs typeface="Calibri" pitchFamily="34" charset="-120"/>
                        </a:rPr>
                        <a:t>Open MPI</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dirty="0">
                          <a:solidFill>
                            <a:srgbClr val="1B2631"/>
                          </a:solidFill>
                          <a:latin typeface="Courier New" pitchFamily="34" charset="0"/>
                          <a:ea typeface="Courier New" pitchFamily="34" charset="-122"/>
                          <a:cs typeface="Courier New" pitchFamily="34" charset="-120"/>
                        </a:rPr>
                        <a:t>libmpi.so.40</a:t>
                      </a:r>
                      <a:endParaRPr lang="en-US" sz="1700" dirty="0">
                        <a:latin typeface="Courier New" charset="0"/>
                        <a:ea typeface="Courier New" charset="0"/>
                        <a:cs typeface="Courier New"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c>
                  <a:txBody>
                    <a:bodyPr/>
                    <a:lstStyle/>
                    <a:p>
                      <a:pPr indent="0" marL="0">
                        <a:buNone/>
                      </a:pPr>
                      <a:r>
                        <a:rPr lang="en-US" sz="1700" b="1" dirty="0">
                          <a:solidFill>
                            <a:srgbClr val="E0731F"/>
                          </a:solidFill>
                          <a:latin typeface="Calibri" pitchFamily="34" charset="0"/>
                          <a:ea typeface="Calibri" pitchFamily="34" charset="-122"/>
                          <a:cs typeface="Calibri" pitchFamily="34" charset="-120"/>
                        </a:rPr>
                        <a:t>via Wi4MPI translation (e4s-cl --from mpich)</a:t>
                      </a:r>
                      <a:endParaRPr lang="en-US" sz="1700" dirty="0">
                        <a:latin typeface="Calibri" charset="0"/>
                        <a:ea typeface="Calibri" charset="0"/>
                        <a:cs typeface="Calibri" charset="0"/>
                      </a:endParaRPr>
                    </a:p>
                  </a:txBody>
                  <a:tcPr marL="91440" marR="91440" marT="45720" marB="45720" anchor="ctr">
                    <a:lnL w="12700" cap="flat" cmpd="sng" algn="ctr">
                      <a:solidFill>
                        <a:srgbClr val="D5DCE2"/>
                      </a:solidFill>
                      <a:prstDash val="solid"/>
                      <a:round/>
                      <a:headEnd type="none" w="med" len="med"/>
                      <a:tailEnd type="none" w="med" len="med"/>
                    </a:lnL>
                    <a:lnR w="12700" cap="flat" cmpd="sng" algn="ctr">
                      <a:solidFill>
                        <a:srgbClr val="D5DCE2"/>
                      </a:solidFill>
                      <a:prstDash val="solid"/>
                      <a:round/>
                      <a:headEnd type="none" w="med" len="med"/>
                      <a:tailEnd type="none" w="med" len="med"/>
                    </a:lnR>
                    <a:lnT w="12700" cap="flat" cmpd="sng" algn="ctr">
                      <a:solidFill>
                        <a:srgbClr val="D5DCE2"/>
                      </a:solidFill>
                      <a:prstDash val="solid"/>
                      <a:round/>
                      <a:headEnd type="none" w="med" len="med"/>
                      <a:tailEnd type="none" w="med" len="med"/>
                    </a:lnT>
                    <a:lnB w="12700" cap="flat" cmpd="sng" algn="ctr">
                      <a:solidFill>
                        <a:srgbClr val="D5DCE2"/>
                      </a:solidFill>
                      <a:prstDash val="solid"/>
                      <a:round/>
                      <a:headEnd type="none" w="med" len="med"/>
                      <a:tailEnd type="none" w="med" len="med"/>
                    </a:lnB>
                  </a:tcPr>
                </a:tc>
              </a:tr>
            </a:tbl>
          </a:graphicData>
        </a:graphic>
      </p:graphicFrame>
      <p:sp>
        <p:nvSpPr>
          <p:cNvPr id="4" name="bullets"/>
          <p:cNvSpPr txBox="1"/>
          <p:nvPr/>
        </p:nvSpPr>
        <p:spPr>
          <a:xfrm>
            <a:off x="548640" y="4572000"/>
            <a:ext cx="11064240" cy="1280160"/>
          </a:xfrm>
          <a:prstGeom prst="rect">
            <a:avLst/>
          </a:prstGeom>
          <a:noFill/>
          <a:ln/>
        </p:spPr>
        <p:txBody>
          <a:bodyPr wrap="square" lIns="0" tIns="0" rIns="0" bIns="0" rtlCol="0" anchor="t"/>
          <a:lstStyle/>
          <a:p>
            <a:pPr marL="342900" indent="-342900">
              <a:spcAft>
                <a:spcPts val="1200"/>
              </a:spcAft>
              <a:buSzPct val="100000"/>
              <a:buChar char="•"/>
            </a:pPr>
            <a:r>
              <a:rPr lang="en-US" sz="1800" b="1" dirty="0">
                <a:solidFill>
                  <a:schemeClr val="tx1"/>
                </a:solidFill>
              </a:rPr>
              <a:t>Applications and libraries stay in the container; </a:t>
            </a:r>
            <a:r>
              <a:rPr lang="en-US" sz="1800" dirty="0">
                <a:solidFill>
                  <a:schemeClr val="tx1"/>
                </a:solidFill>
              </a:rPr>
              <a:t>only the MPI library and its network stack come from the host</a:t>
            </a:r>
            <a:endParaRPr lang="en-US" sz="1800" dirty="0"/>
          </a:p>
          <a:p>
            <a:pPr marL="342900" indent="-342900">
              <a:spcAft>
                <a:spcPts val="1200"/>
              </a:spcAft>
              <a:buSzPct val="100000"/>
              <a:buChar char="•"/>
            </a:pPr>
            <a:r>
              <a:rPr lang="en-US" sz="1800" b="1" dirty="0">
                <a:solidFill>
                  <a:schemeClr val="tx1"/>
                </a:solidFill>
              </a:rPr>
              <a:t>Goal: </a:t>
            </a:r>
            <a:r>
              <a:rPr lang="en-US" sz="1800" dirty="0">
                <a:solidFill>
                  <a:schemeClr val="tx1"/>
                </a:solidFill>
              </a:rPr>
              <a:t>build an MPI binary once, run it unmodified on any x86_64 cluster at native speed</a:t>
            </a:r>
            <a:endParaRPr lang="en-US" sz="1800" dirty="0"/>
          </a:p>
        </p:txBody>
      </p:sp>
      <p:sp>
        <p:nvSpPr>
          <p:cNvPr id="5"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After S. Shende, “Running MPI applications on other systems”, E4S at NERSC, 2022; MPICH ABI initiative, mpich.org/abi.</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How e4s-cl works</a:t>
            </a:r>
            <a:endParaRPr lang="en-US" sz="3400" dirty="0"/>
          </a:p>
        </p:txBody>
      </p:sp>
      <p:pic>
        <p:nvPicPr>
          <p:cNvPr id="3" name="e4scl-diagram" descr="e4s-cl architecture: e4s-cl launch on the login host invokes the MPI launcher, which starts e4s-cl execute on each work host; each resolves host libraries and launches a container with host libraries layered over the MPI program">    </p:cNvPr>
          <p:cNvPicPr>
            <a:picLocks noChangeAspect="1"/>
          </p:cNvPicPr>
          <p:nvPr/>
        </p:nvPicPr>
        <p:blipFill>
          <a:blip r:embed="rId1"/>
          <a:stretch>
            <a:fillRect/>
          </a:stretch>
        </p:blipFill>
        <p:spPr>
          <a:xfrm>
            <a:off x="548640" y="1371600"/>
            <a:ext cx="6949440" cy="2923904"/>
          </a:xfrm>
          <a:prstGeom prst="rect">
            <a:avLst/>
          </a:prstGeom>
        </p:spPr>
      </p:pic>
      <p:sp>
        <p:nvSpPr>
          <p:cNvPr id="4" name="step-0"/>
          <p:cNvSpPr/>
          <p:nvPr/>
        </p:nvSpPr>
        <p:spPr>
          <a:xfrm>
            <a:off x="7863840" y="1417320"/>
            <a:ext cx="548640" cy="548640"/>
          </a:xfrm>
          <a:prstGeom prst="ellipse">
            <a:avLst/>
          </a:prstGeom>
          <a:solidFill>
            <a:schemeClr val="accent1"/>
          </a:solidFill>
          <a:ln/>
        </p:spPr>
      </p:sp>
      <p:sp>
        <p:nvSpPr>
          <p:cNvPr id="5" name="Text 2"/>
          <p:cNvSpPr txBox="1"/>
          <p:nvPr/>
        </p:nvSpPr>
        <p:spPr>
          <a:xfrm>
            <a:off x="786384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8549640" y="1344168"/>
            <a:ext cx="3063240" cy="777240"/>
          </a:xfrm>
          <a:prstGeom prst="rect">
            <a:avLst/>
          </a:prstGeom>
          <a:noFill/>
          <a:ln/>
        </p:spPr>
        <p:txBody>
          <a:bodyPr wrap="square" lIns="0" tIns="0" rIns="0" bIns="0" rtlCol="0" anchor="ctr"/>
          <a:lstStyle/>
          <a:p>
            <a:pPr indent="0" marL="0">
              <a:buNone/>
            </a:pPr>
            <a:r>
              <a:rPr lang="en-US" sz="1500" b="1" dirty="0">
                <a:solidFill>
                  <a:schemeClr val="tx1"/>
                </a:solidFill>
              </a:rPr>
              <a:t>Profile: </a:t>
            </a:r>
            <a:r>
              <a:rPr lang="en-US" sz="1500" dirty="0">
                <a:solidFill>
                  <a:schemeClr val="tx1"/>
                </a:solidFill>
              </a:rPr>
              <a:t>which host MPI libraries and files to inject</a:t>
            </a:r>
            <a:endParaRPr lang="en-US" sz="1500" dirty="0"/>
          </a:p>
        </p:txBody>
      </p:sp>
      <p:sp>
        <p:nvSpPr>
          <p:cNvPr id="7" name="step-1"/>
          <p:cNvSpPr/>
          <p:nvPr/>
        </p:nvSpPr>
        <p:spPr>
          <a:xfrm>
            <a:off x="7863840" y="2377440"/>
            <a:ext cx="548640" cy="548640"/>
          </a:xfrm>
          <a:prstGeom prst="ellipse">
            <a:avLst/>
          </a:prstGeom>
          <a:solidFill>
            <a:schemeClr val="accent1"/>
          </a:solidFill>
          <a:ln/>
        </p:spPr>
      </p:sp>
      <p:sp>
        <p:nvSpPr>
          <p:cNvPr id="8" name="Text 5"/>
          <p:cNvSpPr txBox="1"/>
          <p:nvPr/>
        </p:nvSpPr>
        <p:spPr>
          <a:xfrm>
            <a:off x="7863840" y="23774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6"/>
          <p:cNvSpPr txBox="1"/>
          <p:nvPr/>
        </p:nvSpPr>
        <p:spPr>
          <a:xfrm>
            <a:off x="8549640" y="2304288"/>
            <a:ext cx="3063240" cy="777240"/>
          </a:xfrm>
          <a:prstGeom prst="rect">
            <a:avLst/>
          </a:prstGeom>
          <a:noFill/>
          <a:ln/>
        </p:spPr>
        <p:txBody>
          <a:bodyPr wrap="square" lIns="0" tIns="0" rIns="0" bIns="0" rtlCol="0" anchor="ctr"/>
          <a:lstStyle/>
          <a:p>
            <a:pPr indent="0" marL="0">
              <a:buNone/>
            </a:pPr>
            <a:r>
              <a:rPr lang="en-US" sz="1500" b="1" dirty="0">
                <a:solidFill>
                  <a:schemeClr val="tx1"/>
                </a:solidFill>
              </a:rPr>
              <a:t>Launch: </a:t>
            </a:r>
            <a:r>
              <a:rPr lang="en-US" sz="1500" dirty="0">
                <a:solidFill>
                  <a:schemeClr val="tx1"/>
                </a:solidFill>
              </a:rPr>
              <a:t>e4s-cl launch wraps your launcher (mpirun / srun)</a:t>
            </a:r>
            <a:endParaRPr lang="en-US" sz="1500" dirty="0"/>
          </a:p>
        </p:txBody>
      </p:sp>
      <p:sp>
        <p:nvSpPr>
          <p:cNvPr id="10" name="step-2"/>
          <p:cNvSpPr/>
          <p:nvPr/>
        </p:nvSpPr>
        <p:spPr>
          <a:xfrm>
            <a:off x="7863840" y="3337560"/>
            <a:ext cx="548640" cy="548640"/>
          </a:xfrm>
          <a:prstGeom prst="ellipse">
            <a:avLst/>
          </a:prstGeom>
          <a:solidFill>
            <a:schemeClr val="accent1"/>
          </a:solidFill>
          <a:ln/>
        </p:spPr>
      </p:sp>
      <p:sp>
        <p:nvSpPr>
          <p:cNvPr id="11" name="Text 8"/>
          <p:cNvSpPr txBox="1"/>
          <p:nvPr/>
        </p:nvSpPr>
        <p:spPr>
          <a:xfrm>
            <a:off x="786384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9"/>
          <p:cNvSpPr txBox="1"/>
          <p:nvPr/>
        </p:nvSpPr>
        <p:spPr>
          <a:xfrm>
            <a:off x="8549640" y="3264408"/>
            <a:ext cx="3063240" cy="777240"/>
          </a:xfrm>
          <a:prstGeom prst="rect">
            <a:avLst/>
          </a:prstGeom>
          <a:noFill/>
          <a:ln/>
        </p:spPr>
        <p:txBody>
          <a:bodyPr wrap="square" lIns="0" tIns="0" rIns="0" bIns="0" rtlCol="0" anchor="ctr"/>
          <a:lstStyle/>
          <a:p>
            <a:pPr indent="0" marL="0">
              <a:buNone/>
            </a:pPr>
            <a:r>
              <a:rPr lang="en-US" sz="1500" b="1" dirty="0">
                <a:solidFill>
                  <a:schemeClr val="tx1"/>
                </a:solidFill>
              </a:rPr>
              <a:t>Bind: </a:t>
            </a:r>
            <a:r>
              <a:rPr lang="en-US" sz="1500" dirty="0">
                <a:solidFill>
                  <a:schemeClr val="tx1"/>
                </a:solidFill>
              </a:rPr>
              <a:t>on each node, host libraries are mounted at /.e4s-cl/hostlibs</a:t>
            </a:r>
            <a:endParaRPr lang="en-US" sz="1500" dirty="0"/>
          </a:p>
        </p:txBody>
      </p:sp>
      <p:sp>
        <p:nvSpPr>
          <p:cNvPr id="13" name="step-3"/>
          <p:cNvSpPr/>
          <p:nvPr/>
        </p:nvSpPr>
        <p:spPr>
          <a:xfrm>
            <a:off x="7863840" y="4297680"/>
            <a:ext cx="548640" cy="548640"/>
          </a:xfrm>
          <a:prstGeom prst="ellipse">
            <a:avLst/>
          </a:prstGeom>
          <a:solidFill>
            <a:schemeClr val="accent1"/>
          </a:solidFill>
          <a:ln/>
        </p:spPr>
      </p:sp>
      <p:sp>
        <p:nvSpPr>
          <p:cNvPr id="14" name="Text 11"/>
          <p:cNvSpPr txBox="1"/>
          <p:nvPr/>
        </p:nvSpPr>
        <p:spPr>
          <a:xfrm>
            <a:off x="7863840" y="4297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 12"/>
          <p:cNvSpPr txBox="1"/>
          <p:nvPr/>
        </p:nvSpPr>
        <p:spPr>
          <a:xfrm>
            <a:off x="8549640" y="4224528"/>
            <a:ext cx="3063240" cy="777240"/>
          </a:xfrm>
          <a:prstGeom prst="rect">
            <a:avLst/>
          </a:prstGeom>
          <a:noFill/>
          <a:ln/>
        </p:spPr>
        <p:txBody>
          <a:bodyPr wrap="square" lIns="0" tIns="0" rIns="0" bIns="0" rtlCol="0" anchor="ctr"/>
          <a:lstStyle/>
          <a:p>
            <a:pPr indent="0" marL="0">
              <a:buNone/>
            </a:pPr>
            <a:r>
              <a:rPr lang="en-US" sz="1500" b="1" dirty="0">
                <a:solidFill>
                  <a:schemeClr val="tx1"/>
                </a:solidFill>
              </a:rPr>
              <a:t>Preload: </a:t>
            </a:r>
            <a:r>
              <a:rPr lang="en-US" sz="1500" dirty="0">
                <a:solidFill>
                  <a:schemeClr val="tx1"/>
                </a:solidFill>
              </a:rPr>
              <a:t>LD_PRELOAD/LD_LIBRARY_PATH point libmpi.so.12 at the host's</a:t>
            </a:r>
            <a:endParaRPr lang="en-US" sz="1500" dirty="0"/>
          </a:p>
        </p:txBody>
      </p:sp>
      <p:sp>
        <p:nvSpPr>
          <p:cNvPr id="16" name="launch-cmd"/>
          <p:cNvSpPr/>
          <p:nvPr/>
        </p:nvSpPr>
        <p:spPr>
          <a:xfrm>
            <a:off x="548640" y="4572000"/>
            <a:ext cx="6949440" cy="640080"/>
          </a:xfrm>
          <a:prstGeom prst="roundRect">
            <a:avLst>
              <a:gd name="adj" fmla="val 11429"/>
            </a:avLst>
          </a:prstGeom>
          <a:solidFill>
            <a:schemeClr val="tx1"/>
          </a:solidFill>
          <a:ln/>
        </p:spPr>
      </p:sp>
      <p:sp>
        <p:nvSpPr>
          <p:cNvPr id="17" name="launch-cmd-text"/>
          <p:cNvSpPr txBox="1"/>
          <p:nvPr/>
        </p:nvSpPr>
        <p:spPr>
          <a:xfrm>
            <a:off x="731520" y="4681728"/>
            <a:ext cx="6583680" cy="420624"/>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e4s-cl launch mpirun -np 8 -ppn 4 ./hypre_test</a:t>
            </a:r>
            <a:endParaRPr lang="en-US" sz="1500" dirty="0"/>
          </a:p>
        </p:txBody>
      </p:sp>
      <p:sp>
        <p:nvSpPr>
          <p:cNvPr id="18"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Diagram: S. Shende, “e4s-cl Container Launcher”, E4S at NERSC training, Aug 2022.</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e4s-cl on Midway3</a:t>
            </a:r>
            <a:endParaRPr lang="en-US" sz="3400" dirty="0"/>
          </a:p>
        </p:txBody>
      </p:sp>
      <p:sp>
        <p:nvSpPr>
          <p:cNvPr id="3" name="terminal"/>
          <p:cNvSpPr/>
          <p:nvPr/>
        </p:nvSpPr>
        <p:spPr>
          <a:xfrm>
            <a:off x="548640" y="1371600"/>
            <a:ext cx="6949440" cy="3327867"/>
          </a:xfrm>
          <a:prstGeom prst="roundRect">
            <a:avLst>
              <a:gd name="adj" fmla="val 2198"/>
            </a:avLst>
          </a:prstGeom>
          <a:solidFill>
            <a:schemeClr val="tx1"/>
          </a:solidFill>
          <a:ln/>
        </p:spPr>
      </p:sp>
      <p:sp>
        <p:nvSpPr>
          <p:cNvPr id="4" name="terminal-text"/>
          <p:cNvSpPr txBox="1"/>
          <p:nvPr/>
        </p:nvSpPr>
        <p:spPr>
          <a:xfrm>
            <a:off x="731520" y="1481328"/>
            <a:ext cx="6583680" cy="3108411"/>
          </a:xfrm>
          <a:prstGeom prst="rect">
            <a:avLst/>
          </a:prstGeom>
          <a:noFill/>
          <a:ln/>
        </p:spPr>
        <p:txBody>
          <a:bodyPr wrap="square" lIns="0" tIns="0" rIns="0" bIns="0" rtlCol="0" anchor="t"/>
          <a:lstStyle/>
          <a:p>
            <a:pPr indent="0" marL="0">
              <a:spcAft>
                <a:spcPts val="200"/>
              </a:spcAft>
              <a:buNone/>
            </a:pPr>
            <a:r>
              <a:rPr lang="en-US" sz="1350" dirty="0">
                <a:solidFill>
                  <a:schemeClr val="accent5"/>
                </a:solidFill>
                <a:latin typeface="Courier New" pitchFamily="34" charset="0"/>
                <a:ea typeface="Courier New" pitchFamily="34" charset="-122"/>
                <a:cs typeface="Courier New" pitchFamily="34" charset="-120"/>
              </a:rPr>
              <a:t># usual way: trace a test program (uses ptrace)</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module load intelmpi/2021.5</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e4s-cl init --backend apptainer --image $E4S_IMAGE</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chemeClr val="accent5"/>
                </a:solidFill>
                <a:latin typeface="Courier New" pitchFamily="34" charset="0"/>
                <a:ea typeface="Courier New" pitchFamily="34" charset="-122"/>
                <a:cs typeface="Courier New" pitchFamily="34" charset="-120"/>
              </a:rPr>
              <a:t># Midway3 disables ptrace -&gt; build the profile by hand</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e4s-cl profile create midway3-impi \</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--backend apptainer --image $E4S_IMAGE</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e4s-cl profile edit midway3-impi --add-libraries \</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$I_MPI_ROOT/lib/release/libmpi.so.12 ...</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e4s-cl profile edit midway3-impi --add-files ...</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e4s-cl profile select midway3-impi</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b="1" dirty="0">
                <a:solidFill>
                  <a:schemeClr val="accent1"/>
                </a:solidFill>
                <a:latin typeface="Courier New" pitchFamily="34" charset="0"/>
                <a:ea typeface="Courier New" pitchFamily="34" charset="-122"/>
                <a:cs typeface="Courier New" pitchFamily="34" charset="-120"/>
              </a:rPr>
              <a:t>$ </a:t>
            </a:r>
            <a:r>
              <a:rPr lang="en-US" sz="1350" dirty="0">
                <a:solidFill>
                  <a:schemeClr val="bg1"/>
                </a:solidFill>
                <a:latin typeface="Courier New" pitchFamily="34" charset="0"/>
                <a:ea typeface="Courier New" pitchFamily="34" charset="-122"/>
                <a:cs typeface="Courier New" pitchFamily="34" charset="-120"/>
              </a:rPr>
              <a:t>e4s-cl launch mpirun -np 2 -ppn 1 ./pingpong</a:t>
            </a:r>
            <a:endParaRPr lang="en-US" sz="1350" dirty="0"/>
          </a:p>
        </p:txBody>
      </p:sp>
      <p:sp>
        <p:nvSpPr>
          <p:cNvPr id="5" name="bullets"/>
          <p:cNvSpPr txBox="1"/>
          <p:nvPr/>
        </p:nvSpPr>
        <p:spPr>
          <a:xfrm>
            <a:off x="7863840" y="1463040"/>
            <a:ext cx="3749040" cy="4480560"/>
          </a:xfrm>
          <a:prstGeom prst="rect">
            <a:avLst/>
          </a:prstGeom>
          <a:noFill/>
          <a:ln/>
        </p:spPr>
        <p:txBody>
          <a:bodyPr wrap="square" lIns="0" tIns="0" rIns="0" bIns="0" rtlCol="0" anchor="t"/>
          <a:lstStyle/>
          <a:p>
            <a:pPr marL="342900" indent="-342900">
              <a:spcAft>
                <a:spcPts val="1400"/>
              </a:spcAft>
              <a:buSzPct val="100000"/>
              <a:buChar char="•"/>
            </a:pPr>
            <a:r>
              <a:rPr lang="en-US" sz="1550" b="1" dirty="0">
                <a:solidFill>
                  <a:schemeClr val="tx1"/>
                </a:solidFill>
              </a:rPr>
              <a:t>make_e4scl_profile.sh </a:t>
            </a:r>
            <a:r>
              <a:rPr lang="en-US" sz="1550" dirty="0">
                <a:solidFill>
                  <a:schemeClr val="tx1"/>
                </a:solidFill>
              </a:rPr>
              <a:t>does the hand-built profile for you</a:t>
            </a:r>
            <a:endParaRPr lang="en-US" sz="1550" dirty="0"/>
          </a:p>
          <a:p>
            <a:pPr marL="342900" indent="-342900">
              <a:spcAft>
                <a:spcPts val="1400"/>
              </a:spcAft>
              <a:buSzPct val="100000"/>
              <a:buChar char="•"/>
            </a:pPr>
            <a:r>
              <a:rPr lang="en-US" sz="1550" b="1" dirty="0">
                <a:solidFill>
                  <a:schemeClr val="tx1"/>
                </a:solidFill>
              </a:rPr>
              <a:t>Library list </a:t>
            </a:r>
            <a:r>
              <a:rPr lang="en-US" sz="1550" dirty="0">
                <a:solidFill>
                  <a:schemeClr val="tx1"/>
                </a:solidFill>
              </a:rPr>
              <a:t>= what Intel MPI loads on Midway3 (captured with LD_DEBUG): libmpi, libfabric + providers, verbs, mlx5, UCX, Slurm PMI</a:t>
            </a:r>
            <a:endParaRPr lang="en-US" sz="1550" dirty="0"/>
          </a:p>
          <a:p>
            <a:pPr marL="342900" indent="-342900">
              <a:spcAft>
                <a:spcPts val="1400"/>
              </a:spcAft>
              <a:buSzPct val="100000"/>
              <a:buChar char="•"/>
            </a:pPr>
            <a:r>
              <a:rPr lang="en-US" sz="1550" b="1" dirty="0">
                <a:solidFill>
                  <a:schemeClr val="tx1"/>
                </a:solidFill>
              </a:rPr>
              <a:t>Launch with mpirun </a:t>
            </a:r>
            <a:r>
              <a:rPr lang="en-US" sz="1550" dirty="0">
                <a:solidFill>
                  <a:schemeClr val="tx1"/>
                </a:solidFill>
              </a:rPr>
              <a:t>(Intel MPI's hydra). e4s-cl + srun --mpi=pmi2 hung at startup in our tests</a:t>
            </a:r>
            <a:endParaRPr lang="en-US" sz="15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Hands-on 3a: same binary, two MPIs</a:t>
            </a:r>
            <a:endParaRPr lang="en-US" sz="3400" dirty="0"/>
          </a:p>
        </p:txBody>
      </p:sp>
      <p:sp>
        <p:nvSpPr>
          <p:cNvPr id="3" name="terminal"/>
          <p:cNvSpPr/>
          <p:nvPr/>
        </p:nvSpPr>
        <p:spPr>
          <a:xfrm>
            <a:off x="548640" y="1371600"/>
            <a:ext cx="6949440" cy="1858061"/>
          </a:xfrm>
          <a:prstGeom prst="roundRect">
            <a:avLst>
              <a:gd name="adj" fmla="val 3937"/>
            </a:avLst>
          </a:prstGeom>
          <a:solidFill>
            <a:schemeClr val="tx1"/>
          </a:solidFill>
          <a:ln/>
        </p:spPr>
      </p:sp>
      <p:sp>
        <p:nvSpPr>
          <p:cNvPr id="4" name="terminal-text"/>
          <p:cNvSpPr txBox="1"/>
          <p:nvPr/>
        </p:nvSpPr>
        <p:spPr>
          <a:xfrm>
            <a:off x="731520" y="1481328"/>
            <a:ext cx="6583680" cy="1638605"/>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cd $E4S_SCRATCH/e4s-labs/part3-mpi</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./compile.sh                 # inside the container</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sbatch 01_container_mpi.sbatch</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./make_e4scl_profile.sh</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sbatch 02_e4s-cl.sbatch</a:t>
            </a:r>
            <a:endParaRPr lang="en-US" sz="1500" dirty="0"/>
          </a:p>
          <a:p>
            <a:pPr indent="0" marL="0">
              <a:spcAft>
                <a:spcPts val="200"/>
              </a:spcAft>
              <a:buNone/>
            </a:pPr>
            <a:r>
              <a:rPr lang="en-US" sz="1500" b="1" dirty="0">
                <a:solidFill>
                  <a:schemeClr val="accent1"/>
                </a:solidFill>
                <a:latin typeface="Courier New" pitchFamily="34" charset="0"/>
                <a:ea typeface="Courier New" pitchFamily="34" charset="-122"/>
                <a:cs typeface="Courier New" pitchFamily="34" charset="-120"/>
              </a:rPr>
              <a:t>$ </a:t>
            </a:r>
            <a:r>
              <a:rPr lang="en-US" sz="1500" dirty="0">
                <a:solidFill>
                  <a:schemeClr val="bg1"/>
                </a:solidFill>
                <a:latin typeface="Courier New" pitchFamily="34" charset="0"/>
                <a:ea typeface="Courier New" pitchFamily="34" charset="-122"/>
                <a:cs typeface="Courier New" pitchFamily="34" charset="-120"/>
              </a:rPr>
              <a:t>grep -A7 'MPI library' mpi-*.out</a:t>
            </a:r>
            <a:endParaRPr lang="en-US" sz="1500" dirty="0"/>
          </a:p>
        </p:txBody>
      </p:sp>
      <p:sp>
        <p:nvSpPr>
          <p:cNvPr id="5" name="hands-on-pill"/>
          <p:cNvSpPr/>
          <p:nvPr/>
        </p:nvSpPr>
        <p:spPr>
          <a:xfrm>
            <a:off x="548640" y="5760720"/>
            <a:ext cx="1600200" cy="420624"/>
          </a:xfrm>
          <a:prstGeom prst="roundRect">
            <a:avLst>
              <a:gd name="adj" fmla="val 50000"/>
            </a:avLst>
          </a:prstGeom>
          <a:solidFill>
            <a:schemeClr val="accent1"/>
          </a:solidFill>
          <a:ln/>
        </p:spPr>
      </p:sp>
      <p:sp>
        <p:nvSpPr>
          <p:cNvPr id="6" name="hands-on-label"/>
          <p:cNvSpPr txBox="1"/>
          <p:nvPr/>
        </p:nvSpPr>
        <p:spPr>
          <a:xfrm>
            <a:off x="548640" y="5760720"/>
            <a:ext cx="1600200" cy="420624"/>
          </a:xfrm>
          <a:prstGeom prst="rect">
            <a:avLst/>
          </a:prstGeom>
          <a:noFill/>
          <a:ln/>
        </p:spPr>
        <p:txBody>
          <a:bodyPr wrap="square" lIns="0" tIns="0" rIns="0" bIns="0" rtlCol="0" anchor="ctr"/>
          <a:lstStyle/>
          <a:p>
            <a:pPr algn="ctr" indent="0" marL="0">
              <a:buNone/>
            </a:pPr>
            <a:r>
              <a:rPr lang="en-US" sz="1400" b="1" dirty="0">
                <a:solidFill>
                  <a:schemeClr val="bg1"/>
                </a:solidFill>
              </a:rPr>
              <a:t>HANDS-ON</a:t>
            </a:r>
            <a:endParaRPr lang="en-US" sz="1400" dirty="0"/>
          </a:p>
        </p:txBody>
      </p:sp>
      <p:sp>
        <p:nvSpPr>
          <p:cNvPr id="7" name="hands-on-where"/>
          <p:cNvSpPr txBox="1"/>
          <p:nvPr/>
        </p:nvSpPr>
        <p:spPr>
          <a:xfrm>
            <a:off x="2331720" y="5760720"/>
            <a:ext cx="7315200" cy="420624"/>
          </a:xfrm>
          <a:prstGeom prst="rect">
            <a:avLst/>
          </a:prstGeom>
          <a:noFill/>
          <a:ln/>
        </p:spPr>
        <p:txBody>
          <a:bodyPr wrap="square" lIns="0" tIns="0" rIns="0" bIns="0" rtlCol="0" anchor="ctr"/>
          <a:lstStyle/>
          <a:p>
            <a:pPr indent="0" marL="0">
              <a:buNone/>
            </a:pPr>
            <a:r>
              <a:rPr lang="en-US" sz="1500" b="1" dirty="0">
                <a:solidFill>
                  <a:schemeClr val="accent1"/>
                </a:solidFill>
              </a:rPr>
              <a:t>LAB_GUIDE.md · Part 3a  ·  15 minutes</a:t>
            </a:r>
            <a:endParaRPr lang="en-US" sz="1500" dirty="0"/>
          </a:p>
        </p:txBody>
      </p:sp>
      <p:sp>
        <p:nvSpPr>
          <p:cNvPr id="8" name="expected"/>
          <p:cNvSpPr/>
          <p:nvPr/>
        </p:nvSpPr>
        <p:spPr>
          <a:xfrm>
            <a:off x="548640" y="3520440"/>
            <a:ext cx="6949440" cy="1754916"/>
          </a:xfrm>
          <a:prstGeom prst="roundRect">
            <a:avLst>
              <a:gd name="adj" fmla="val 4168"/>
            </a:avLst>
          </a:prstGeom>
          <a:solidFill>
            <a:schemeClr val="tx1"/>
          </a:solidFill>
          <a:ln/>
        </p:spPr>
      </p:sp>
      <p:sp>
        <p:nvSpPr>
          <p:cNvPr id="9" name="expected-text"/>
          <p:cNvSpPr txBox="1"/>
          <p:nvPr/>
        </p:nvSpPr>
        <p:spPr>
          <a:xfrm>
            <a:off x="731520" y="3630168"/>
            <a:ext cx="6583680" cy="1535460"/>
          </a:xfrm>
          <a:prstGeom prst="rect">
            <a:avLst/>
          </a:prstGeom>
          <a:noFill/>
          <a:ln/>
        </p:spPr>
        <p:txBody>
          <a:bodyPr wrap="square" lIns="0" tIns="0" rIns="0" bIns="0" rtlCol="0" anchor="t"/>
          <a:lstStyle/>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MPI library : MPICH Version: 4.3.2</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8     12.39 us       0.6 MB/s</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4194304   1883.41 us    2227.0 MB/s</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MPI library : Intel(R) MPI Library 2021.5</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8      1.61 us       5.0 MB/s</a:t>
            </a:r>
            <a:endParaRPr lang="en-US" sz="1400" dirty="0"/>
          </a:p>
          <a:p>
            <a:pPr indent="0" marL="0">
              <a:spcAft>
                <a:spcPts val="200"/>
              </a:spcAft>
              <a:buNone/>
            </a:pPr>
            <a:r>
              <a:rPr lang="en-US" sz="1400" dirty="0">
                <a:solidFill>
                  <a:srgbClr val="B8C4CE"/>
                </a:solidFill>
                <a:latin typeface="Courier New" pitchFamily="34" charset="0"/>
                <a:ea typeface="Courier New" pitchFamily="34" charset="-122"/>
                <a:cs typeface="Courier New" pitchFamily="34" charset="-120"/>
              </a:rPr>
              <a:t>     4194304    356.68 us   11759.4 MB/s</a:t>
            </a:r>
            <a:endParaRPr lang="en-US" sz="1400" dirty="0"/>
          </a:p>
        </p:txBody>
      </p:sp>
      <p:sp>
        <p:nvSpPr>
          <p:cNvPr id="10" name="bullets"/>
          <p:cNvSpPr txBox="1"/>
          <p:nvPr/>
        </p:nvSpPr>
        <p:spPr>
          <a:xfrm>
            <a:off x="7863840" y="1463040"/>
            <a:ext cx="3749040" cy="438912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The binary never changed — the reported MPI library did</a:t>
            </a:r>
            <a:endParaRPr lang="en-US" sz="1700" dirty="0"/>
          </a:p>
          <a:p>
            <a:pPr marL="342900" indent="-342900">
              <a:spcAft>
                <a:spcPts val="1600"/>
              </a:spcAft>
              <a:buSzPct val="100000"/>
              <a:buChar char="•"/>
            </a:pPr>
            <a:r>
              <a:rPr lang="en-US" sz="1700" dirty="0">
                <a:solidFill>
                  <a:schemeClr val="tx1"/>
                </a:solidFill>
              </a:rPr>
              <a:t>~8× lower latency, ~5× higher bandwidth</a:t>
            </a:r>
            <a:endParaRPr lang="en-US" sz="1700" dirty="0"/>
          </a:p>
          <a:p>
            <a:pPr marL="342900" indent="-342900">
              <a:spcAft>
                <a:spcPts val="1600"/>
              </a:spcAft>
              <a:buSzPct val="100000"/>
              <a:buChar char="•"/>
            </a:pPr>
            <a:r>
              <a:rPr lang="en-US" sz="1700" dirty="0">
                <a:solidFill>
                  <a:schemeClr val="tx1"/>
                </a:solidFill>
              </a:rPr>
              <a:t>02 also runs a hypre AMG solve on 8 ranks across 2 nodes</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Adding software to an existing image: three ways</a:t>
            </a:r>
            <a:endParaRPr lang="en-US" sz="3400" dirty="0"/>
          </a:p>
        </p:txBody>
      </p:sp>
      <p:sp>
        <p:nvSpPr>
          <p:cNvPr id="3" name="way-0"/>
          <p:cNvSpPr/>
          <p:nvPr/>
        </p:nvSpPr>
        <p:spPr>
          <a:xfrm>
            <a:off x="548640" y="1371600"/>
            <a:ext cx="3520440" cy="4480560"/>
          </a:xfrm>
          <a:prstGeom prst="roundRect">
            <a:avLst>
              <a:gd name="adj" fmla="val 2078"/>
            </a:avLst>
          </a:prstGeom>
          <a:solidFill>
            <a:schemeClr val="bg2"/>
          </a:solidFill>
          <a:ln/>
        </p:spPr>
      </p:sp>
      <p:sp>
        <p:nvSpPr>
          <p:cNvPr id="4" name="way-0-circle"/>
          <p:cNvSpPr/>
          <p:nvPr/>
        </p:nvSpPr>
        <p:spPr>
          <a:xfrm>
            <a:off x="822960" y="1645920"/>
            <a:ext cx="777240" cy="777240"/>
          </a:xfrm>
          <a:prstGeom prst="ellipse">
            <a:avLst/>
          </a:prstGeom>
          <a:solidFill>
            <a:srgbClr val="2F6E9E"/>
          </a:solidFill>
          <a:ln/>
        </p:spPr>
      </p:sp>
      <p:pic>
        <p:nvPicPr>
          <p:cNvPr id="5" name="way-0-icon" descr="way-0">    </p:cNvPr>
          <p:cNvPicPr>
            <a:picLocks noChangeAspect="1"/>
          </p:cNvPicPr>
          <p:nvPr/>
        </p:nvPicPr>
        <p:blipFill>
          <a:blip r:embed="rId1"/>
          <a:stretch>
            <a:fillRect/>
          </a:stretch>
        </p:blipFill>
        <p:spPr>
          <a:xfrm>
            <a:off x="1009498" y="1832458"/>
            <a:ext cx="404165" cy="404165"/>
          </a:xfrm>
          <a:prstGeom prst="rect">
            <a:avLst/>
          </a:prstGeom>
        </p:spPr>
      </p:pic>
      <p:sp>
        <p:nvSpPr>
          <p:cNvPr id="6" name="Text 3"/>
          <p:cNvSpPr txBox="1"/>
          <p:nvPr/>
        </p:nvSpPr>
        <p:spPr>
          <a:xfrm>
            <a:off x="1737360" y="1737360"/>
            <a:ext cx="2148840" cy="548640"/>
          </a:xfrm>
          <a:prstGeom prst="rect">
            <a:avLst/>
          </a:prstGeom>
          <a:noFill/>
          <a:ln/>
        </p:spPr>
        <p:txBody>
          <a:bodyPr wrap="square" lIns="0" tIns="0" rIns="0" bIns="0" rtlCol="0" anchor="ctr"/>
          <a:lstStyle/>
          <a:p>
            <a:pPr algn="r" indent="0" marL="0">
              <a:buNone/>
            </a:pPr>
            <a:r>
              <a:rPr lang="en-US" sz="1500" b="1" dirty="0">
                <a:solidFill>
                  <a:schemeClr val="accent5"/>
                </a:solidFill>
              </a:rPr>
              <a:t>No rebuild</a:t>
            </a:r>
            <a:endParaRPr lang="en-US" sz="1500" dirty="0"/>
          </a:p>
        </p:txBody>
      </p:sp>
      <p:sp>
        <p:nvSpPr>
          <p:cNvPr id="7" name="Text 4"/>
          <p:cNvSpPr txBox="1"/>
          <p:nvPr/>
        </p:nvSpPr>
        <p:spPr>
          <a:xfrm>
            <a:off x="822960" y="2606040"/>
            <a:ext cx="3017520" cy="548640"/>
          </a:xfrm>
          <a:prstGeom prst="rect">
            <a:avLst/>
          </a:prstGeom>
          <a:noFill/>
          <a:ln/>
        </p:spPr>
        <p:txBody>
          <a:bodyPr wrap="square" lIns="0" tIns="0" rIns="0" bIns="0" rtlCol="0" anchor="ctr"/>
          <a:lstStyle/>
          <a:p>
            <a:pPr indent="0" marL="0">
              <a:buNone/>
            </a:pPr>
            <a:r>
              <a:rPr lang="en-US" sz="2000" b="1" dirty="0">
                <a:solidFill>
                  <a:schemeClr val="tx1"/>
                </a:solidFill>
              </a:rPr>
              <a:t>e4s-chain-spack.sh</a:t>
            </a:r>
            <a:endParaRPr lang="en-US" sz="2000" dirty="0"/>
          </a:p>
        </p:txBody>
      </p:sp>
      <p:sp>
        <p:nvSpPr>
          <p:cNvPr id="8" name="Text 5"/>
          <p:cNvSpPr txBox="1"/>
          <p:nvPr/>
        </p:nvSpPr>
        <p:spPr>
          <a:xfrm>
            <a:off x="822960" y="3154680"/>
            <a:ext cx="3017520" cy="1737360"/>
          </a:xfrm>
          <a:prstGeom prst="rect">
            <a:avLst/>
          </a:prstGeom>
          <a:noFill/>
          <a:ln/>
        </p:spPr>
        <p:txBody>
          <a:bodyPr wrap="square" lIns="0" tIns="0" rIns="0" bIns="0" rtlCol="0" anchor="t"/>
          <a:lstStyle/>
          <a:p>
            <a:pPr indent="0" marL="0">
              <a:buNone/>
            </a:pPr>
            <a:r>
              <a:rPr lang="en-US" sz="1500" dirty="0">
                <a:solidFill>
                  <a:schemeClr val="tx1"/>
                </a:solidFill>
              </a:rPr>
              <a:t>Chain a Spack in your home directory to the image's Spack; spack install adds packages on top, reusing everything inside.</a:t>
            </a:r>
            <a:endParaRPr lang="en-US" sz="1500" dirty="0"/>
          </a:p>
        </p:txBody>
      </p:sp>
      <p:sp>
        <p:nvSpPr>
          <p:cNvPr id="9" name="Text 6"/>
          <p:cNvSpPr txBox="1"/>
          <p:nvPr/>
        </p:nvSpPr>
        <p:spPr>
          <a:xfrm>
            <a:off x="822960" y="5029200"/>
            <a:ext cx="3017520" cy="548640"/>
          </a:xfrm>
          <a:prstGeom prst="rect">
            <a:avLst/>
          </a:prstGeom>
          <a:noFill/>
          <a:ln/>
        </p:spPr>
        <p:txBody>
          <a:bodyPr wrap="square" lIns="0" tIns="0" rIns="0" bIns="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/etc/e4s/e4s-chain-spack.sh ~/spack</a:t>
            </a:r>
            <a:endParaRPr lang="en-US" sz="1200" dirty="0"/>
          </a:p>
        </p:txBody>
      </p:sp>
      <p:sp>
        <p:nvSpPr>
          <p:cNvPr id="10" name="way-1"/>
          <p:cNvSpPr/>
          <p:nvPr/>
        </p:nvSpPr>
        <p:spPr>
          <a:xfrm>
            <a:off x="4297680" y="1371600"/>
            <a:ext cx="3520440" cy="4480560"/>
          </a:xfrm>
          <a:prstGeom prst="roundRect">
            <a:avLst>
              <a:gd name="adj" fmla="val 2078"/>
            </a:avLst>
          </a:prstGeom>
          <a:solidFill>
            <a:schemeClr val="bg2"/>
          </a:solidFill>
          <a:ln/>
        </p:spPr>
      </p:sp>
      <p:sp>
        <p:nvSpPr>
          <p:cNvPr id="11" name="way-1-circle"/>
          <p:cNvSpPr/>
          <p:nvPr/>
        </p:nvSpPr>
        <p:spPr>
          <a:xfrm>
            <a:off x="4572000" y="1645920"/>
            <a:ext cx="777240" cy="777240"/>
          </a:xfrm>
          <a:prstGeom prst="ellipse">
            <a:avLst/>
          </a:prstGeom>
          <a:solidFill>
            <a:srgbClr val="E0731F"/>
          </a:solidFill>
          <a:ln/>
        </p:spPr>
      </p:sp>
      <p:pic>
        <p:nvPicPr>
          <p:cNvPr id="12" name="way-1-icon" descr="way-1">    </p:cNvPr>
          <p:cNvPicPr>
            <a:picLocks noChangeAspect="1"/>
          </p:cNvPicPr>
          <p:nvPr/>
        </p:nvPicPr>
        <p:blipFill>
          <a:blip r:embed="rId2"/>
          <a:stretch>
            <a:fillRect/>
          </a:stretch>
        </p:blipFill>
        <p:spPr>
          <a:xfrm>
            <a:off x="4758538" y="1832458"/>
            <a:ext cx="404165" cy="404165"/>
          </a:xfrm>
          <a:prstGeom prst="rect">
            <a:avLst/>
          </a:prstGeom>
        </p:spPr>
      </p:pic>
      <p:sp>
        <p:nvSpPr>
          <p:cNvPr id="13" name="Text 9"/>
          <p:cNvSpPr txBox="1"/>
          <p:nvPr/>
        </p:nvSpPr>
        <p:spPr>
          <a:xfrm>
            <a:off x="5486400" y="1737360"/>
            <a:ext cx="2148840" cy="548640"/>
          </a:xfrm>
          <a:prstGeom prst="rect">
            <a:avLst/>
          </a:prstGeom>
          <a:noFill/>
          <a:ln/>
        </p:spPr>
        <p:txBody>
          <a:bodyPr wrap="square" lIns="0" tIns="0" rIns="0" bIns="0" rtlCol="0" anchor="ctr"/>
          <a:lstStyle/>
          <a:p>
            <a:pPr algn="r" indent="0" marL="0">
              <a:buNone/>
            </a:pPr>
            <a:r>
              <a:rPr lang="en-US" sz="1500" b="1" dirty="0">
                <a:solidFill>
                  <a:schemeClr val="accent5"/>
                </a:solidFill>
              </a:rPr>
              <a:t>New image</a:t>
            </a:r>
            <a:endParaRPr lang="en-US" sz="1500" dirty="0"/>
          </a:p>
        </p:txBody>
      </p:sp>
      <p:sp>
        <p:nvSpPr>
          <p:cNvPr id="14" name="Text 10"/>
          <p:cNvSpPr txBox="1"/>
          <p:nvPr/>
        </p:nvSpPr>
        <p:spPr>
          <a:xfrm>
            <a:off x="4572000" y="2606040"/>
            <a:ext cx="3017520" cy="548640"/>
          </a:xfrm>
          <a:prstGeom prst="rect">
            <a:avLst/>
          </a:prstGeom>
          <a:noFill/>
          <a:ln/>
        </p:spPr>
        <p:txBody>
          <a:bodyPr wrap="square" lIns="0" tIns="0" rIns="0" bIns="0" rtlCol="0" anchor="ctr"/>
          <a:lstStyle/>
          <a:p>
            <a:pPr indent="0" marL="0">
              <a:buNone/>
            </a:pPr>
            <a:r>
              <a:rPr lang="en-US" sz="2000" b="1" dirty="0">
                <a:solidFill>
                  <a:schemeClr val="tx1"/>
                </a:solidFill>
              </a:rPr>
              <a:t>e4s-alc</a:t>
            </a:r>
            <a:endParaRPr lang="en-US" sz="2000" dirty="0"/>
          </a:p>
        </p:txBody>
      </p:sp>
      <p:sp>
        <p:nvSpPr>
          <p:cNvPr id="15" name="Text 11"/>
          <p:cNvSpPr txBox="1"/>
          <p:nvPr/>
        </p:nvSpPr>
        <p:spPr>
          <a:xfrm>
            <a:off x="4572000" y="3154680"/>
            <a:ext cx="3017520" cy="1737360"/>
          </a:xfrm>
          <a:prstGeom prst="rect">
            <a:avLst/>
          </a:prstGeom>
          <a:noFill/>
          <a:ln/>
        </p:spPr>
        <p:txBody>
          <a:bodyPr wrap="square" lIns="0" tIns="0" rIns="0" bIns="0" rtlCol="0" anchor="t"/>
          <a:lstStyle/>
          <a:p>
            <a:pPr indent="0" marL="0">
              <a:buNone/>
            </a:pPr>
            <a:r>
              <a:rPr lang="en-US" sz="1500" dirty="0">
                <a:solidFill>
                  <a:schemeClr val="tx1"/>
                </a:solidFill>
              </a:rPr>
              <a:t>A YAML recipe → Apptainer definition file → apptainer build. Reproducible; share or archive the SIF.</a:t>
            </a:r>
            <a:endParaRPr lang="en-US" sz="1500" dirty="0"/>
          </a:p>
        </p:txBody>
      </p:sp>
      <p:sp>
        <p:nvSpPr>
          <p:cNvPr id="16" name="Text 12"/>
          <p:cNvSpPr txBox="1"/>
          <p:nvPr/>
        </p:nvSpPr>
        <p:spPr>
          <a:xfrm>
            <a:off x="4572000" y="5029200"/>
            <a:ext cx="3017520" cy="548640"/>
          </a:xfrm>
          <a:prstGeom prst="rect">
            <a:avLst/>
          </a:prstGeom>
          <a:noFill/>
          <a:ln/>
        </p:spPr>
        <p:txBody>
          <a:bodyPr wrap="square" lIns="0" tIns="0" rIns="0" bIns="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e4s-alc create -f recipe.yaml</a:t>
            </a:r>
            <a:endParaRPr lang="en-US" sz="1200" dirty="0"/>
          </a:p>
        </p:txBody>
      </p:sp>
      <p:sp>
        <p:nvSpPr>
          <p:cNvPr id="17" name="way-2"/>
          <p:cNvSpPr/>
          <p:nvPr/>
        </p:nvSpPr>
        <p:spPr>
          <a:xfrm>
            <a:off x="8046720" y="1371600"/>
            <a:ext cx="3520440" cy="4480560"/>
          </a:xfrm>
          <a:prstGeom prst="roundRect">
            <a:avLst>
              <a:gd name="adj" fmla="val 2078"/>
            </a:avLst>
          </a:prstGeom>
          <a:solidFill>
            <a:schemeClr val="bg2"/>
          </a:solidFill>
          <a:ln/>
        </p:spPr>
      </p:sp>
      <p:sp>
        <p:nvSpPr>
          <p:cNvPr id="18" name="way-2-circle"/>
          <p:cNvSpPr/>
          <p:nvPr/>
        </p:nvSpPr>
        <p:spPr>
          <a:xfrm>
            <a:off x="8321040" y="1645920"/>
            <a:ext cx="777240" cy="777240"/>
          </a:xfrm>
          <a:prstGeom prst="ellipse">
            <a:avLst/>
          </a:prstGeom>
          <a:solidFill>
            <a:srgbClr val="4E8A3C"/>
          </a:solidFill>
          <a:ln/>
        </p:spPr>
      </p:sp>
      <p:pic>
        <p:nvPicPr>
          <p:cNvPr id="19" name="way-2-icon" descr="way-2">    </p:cNvPr>
          <p:cNvPicPr>
            <a:picLocks noChangeAspect="1"/>
          </p:cNvPicPr>
          <p:nvPr/>
        </p:nvPicPr>
        <p:blipFill>
          <a:blip r:embed="rId3"/>
          <a:stretch>
            <a:fillRect/>
          </a:stretch>
        </p:blipFill>
        <p:spPr>
          <a:xfrm>
            <a:off x="8507578" y="1832458"/>
            <a:ext cx="404165" cy="404165"/>
          </a:xfrm>
          <a:prstGeom prst="rect">
            <a:avLst/>
          </a:prstGeom>
        </p:spPr>
      </p:pic>
      <p:sp>
        <p:nvSpPr>
          <p:cNvPr id="20" name="Text 15"/>
          <p:cNvSpPr txBox="1"/>
          <p:nvPr/>
        </p:nvSpPr>
        <p:spPr>
          <a:xfrm>
            <a:off x="9235440" y="1737360"/>
            <a:ext cx="2148840" cy="548640"/>
          </a:xfrm>
          <a:prstGeom prst="rect">
            <a:avLst/>
          </a:prstGeom>
          <a:noFill/>
          <a:ln/>
        </p:spPr>
        <p:txBody>
          <a:bodyPr wrap="square" lIns="0" tIns="0" rIns="0" bIns="0" rtlCol="0" anchor="ctr"/>
          <a:lstStyle/>
          <a:p>
            <a:pPr algn="r" indent="0" marL="0">
              <a:buNone/>
            </a:pPr>
            <a:r>
              <a:rPr lang="en-US" sz="1500" b="1" dirty="0">
                <a:solidFill>
                  <a:schemeClr val="accent5"/>
                </a:solidFill>
              </a:rPr>
              <a:t>New image, big</a:t>
            </a:r>
            <a:endParaRPr lang="en-US" sz="1500" dirty="0"/>
          </a:p>
        </p:txBody>
      </p:sp>
      <p:sp>
        <p:nvSpPr>
          <p:cNvPr id="21" name="Text 16"/>
          <p:cNvSpPr txBox="1"/>
          <p:nvPr/>
        </p:nvSpPr>
        <p:spPr>
          <a:xfrm>
            <a:off x="8321040" y="2606040"/>
            <a:ext cx="3017520" cy="548640"/>
          </a:xfrm>
          <a:prstGeom prst="rect">
            <a:avLst/>
          </a:prstGeom>
          <a:noFill/>
          <a:ln/>
        </p:spPr>
        <p:txBody>
          <a:bodyPr wrap="square" lIns="0" tIns="0" rIns="0" bIns="0" rtlCol="0" anchor="ctr"/>
          <a:lstStyle/>
          <a:p>
            <a:pPr indent="0" marL="0">
              <a:buNone/>
            </a:pPr>
            <a:r>
              <a:rPr lang="en-US" sz="2000" b="1" dirty="0">
                <a:solidFill>
                  <a:schemeClr val="tx1"/>
                </a:solidFill>
              </a:rPr>
              <a:t>Your app in the full image</a:t>
            </a:r>
            <a:endParaRPr lang="en-US" sz="2000" dirty="0"/>
          </a:p>
        </p:txBody>
      </p:sp>
      <p:sp>
        <p:nvSpPr>
          <p:cNvPr id="22" name="Text 17"/>
          <p:cNvSpPr txBox="1"/>
          <p:nvPr/>
        </p:nvSpPr>
        <p:spPr>
          <a:xfrm>
            <a:off x="8321040" y="3154680"/>
            <a:ext cx="3017520" cy="1737360"/>
          </a:xfrm>
          <a:prstGeom prst="rect">
            <a:avLst/>
          </a:prstGeom>
          <a:noFill/>
          <a:ln/>
        </p:spPr>
        <p:txBody>
          <a:bodyPr wrap="square" lIns="0" tIns="0" rIns="0" bIns="0" rtlCol="0" anchor="t"/>
          <a:lstStyle/>
          <a:p>
            <a:pPr indent="0" marL="0">
              <a:buNone/>
            </a:pPr>
            <a:r>
              <a:rPr lang="en-US" sz="1500" dirty="0">
                <a:solidFill>
                  <a:schemeClr val="tx1"/>
                </a:solidFill>
              </a:rPr>
              <a:t>Same e4s-alc recipe with the 25 GB E4S image as the base: your code compiled against the whole stack.</a:t>
            </a:r>
            <a:endParaRPr lang="en-US" sz="1500" dirty="0"/>
          </a:p>
        </p:txBody>
      </p:sp>
      <p:sp>
        <p:nvSpPr>
          <p:cNvPr id="23" name="Text 18"/>
          <p:cNvSpPr txBox="1"/>
          <p:nvPr/>
        </p:nvSpPr>
        <p:spPr>
          <a:xfrm>
            <a:off x="8321040" y="5029200"/>
            <a:ext cx="3017520" cy="548640"/>
          </a:xfrm>
          <a:prstGeom prst="rect">
            <a:avLst/>
          </a:prstGeom>
          <a:noFill/>
          <a:ln/>
        </p:spPr>
        <p:txBody>
          <a:bodyPr wrap="square" lIns="0" tIns="0" rIns="0" bIns="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extras/e4s-plus-app.yaml</a:t>
            </a:r>
            <a:endParaRPr lang="en-US" sz="1200" dirty="0"/>
          </a:p>
        </p:txBody>
      </p:sp>
      <p:sp>
        <p:nvSpPr>
          <p:cNvPr id="24"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e4s-alc and e4s-chain-spack.sh: S. Shende, “E4S Tools”, E4S 25.11 release slides.</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e4s-alc: from YAML to a new image</a:t>
            </a:r>
            <a:endParaRPr lang="en-US" sz="3400" dirty="0"/>
          </a:p>
        </p:txBody>
      </p:sp>
      <p:sp>
        <p:nvSpPr>
          <p:cNvPr id="3" name="terminal"/>
          <p:cNvSpPr/>
          <p:nvPr/>
        </p:nvSpPr>
        <p:spPr>
          <a:xfrm>
            <a:off x="548640" y="1371600"/>
            <a:ext cx="5669280" cy="3327867"/>
          </a:xfrm>
          <a:prstGeom prst="roundRect">
            <a:avLst>
              <a:gd name="adj" fmla="val 2198"/>
            </a:avLst>
          </a:prstGeom>
          <a:solidFill>
            <a:schemeClr val="tx1"/>
          </a:solidFill>
          <a:ln/>
        </p:spPr>
      </p:sp>
      <p:sp>
        <p:nvSpPr>
          <p:cNvPr id="4" name="terminal-text"/>
          <p:cNvSpPr txBox="1"/>
          <p:nvPr/>
        </p:nvSpPr>
        <p:spPr>
          <a:xfrm>
            <a:off x="731520" y="1481328"/>
            <a:ext cx="5303520" cy="3108411"/>
          </a:xfrm>
          <a:prstGeom prst="rect">
            <a:avLst/>
          </a:prstGeom>
          <a:noFill/>
          <a:ln/>
        </p:spPr>
        <p:txBody>
          <a:bodyPr wrap="square" lIns="0" tIns="0" rIns="0" bIns="0" rtlCol="0" anchor="t"/>
          <a:lstStyle/>
          <a:p>
            <a:pPr indent="0" marL="0">
              <a:spcAft>
                <a:spcPts val="200"/>
              </a:spcAft>
              <a:buNone/>
            </a:pPr>
            <a:r>
              <a:rPr lang="en-US" sz="1350" dirty="0">
                <a:solidFill>
                  <a:schemeClr val="accent5"/>
                </a:solidFill>
                <a:latin typeface="Courier New" pitchFamily="34" charset="0"/>
                <a:ea typeface="Courier New" pitchFamily="34" charset="-122"/>
                <a:cs typeface="Courier New" pitchFamily="34" charset="-120"/>
              </a:rPr>
              <a:t># hypre.yaml</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backend: singularity</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bootstrap: localimage</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image: .../ecpe4s-ubuntu24.04.sif</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os-packages:</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nano</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post-system-stage-commands:</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 /spack/share/spack/setup-env.sh</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spack mirror add e4s-alc-example \</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https://cache.e4s.io/e4s-alc-example-1</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spack buildcache keys --install --trust</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spack install hypre</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spack: False</a:t>
            </a:r>
            <a:endParaRPr lang="en-US" sz="1350" dirty="0"/>
          </a:p>
        </p:txBody>
      </p:sp>
      <p:sp>
        <p:nvSpPr>
          <p:cNvPr id="5" name="alc-flow-0"/>
          <p:cNvSpPr/>
          <p:nvPr/>
        </p:nvSpPr>
        <p:spPr>
          <a:xfrm>
            <a:off x="6583680" y="1417320"/>
            <a:ext cx="5029200" cy="1188720"/>
          </a:xfrm>
          <a:prstGeom prst="roundRect">
            <a:avLst>
              <a:gd name="adj" fmla="val 6154"/>
            </a:avLst>
          </a:prstGeom>
          <a:solidFill>
            <a:srgbClr val="2F6E9E"/>
          </a:solidFill>
          <a:ln/>
        </p:spPr>
      </p:sp>
      <p:sp>
        <p:nvSpPr>
          <p:cNvPr id="6" name="Text 4"/>
          <p:cNvSpPr txBox="1"/>
          <p:nvPr/>
        </p:nvSpPr>
        <p:spPr>
          <a:xfrm>
            <a:off x="6812280" y="1417320"/>
            <a:ext cx="4663440" cy="1188720"/>
          </a:xfrm>
          <a:prstGeom prst="rect">
            <a:avLst/>
          </a:prstGeom>
          <a:noFill/>
          <a:ln/>
        </p:spPr>
        <p:txBody>
          <a:bodyPr wrap="square" lIns="0" tIns="0" rIns="0" bIns="0" rtlCol="0" anchor="ctr"/>
          <a:lstStyle/>
          <a:p>
            <a:pPr indent="0" marL="0">
              <a:buNone/>
            </a:pPr>
            <a:r>
              <a:rPr lang="en-US" sz="1800" b="1" dirty="0">
                <a:solidFill>
                  <a:schemeClr val="bg1"/>
                </a:solidFill>
              </a:rPr>
              <a:t>e4s-alc create -f hypre.yaml</a:t>
            </a:r>
            <a:endParaRPr lang="en-US" sz="1800" dirty="0"/>
          </a:p>
          <a:p>
            <a:pPr indent="0" marL="0">
              <a:buNone/>
            </a:pPr>
            <a:r>
              <a:rPr lang="en-US" sz="1500" dirty="0">
                <a:solidFill>
                  <a:schemeClr val="bg1"/>
                </a:solidFill>
              </a:rPr>
              <a:t>writes hypre.def</a:t>
            </a:r>
            <a:endParaRPr lang="en-US" sz="1800" dirty="0"/>
          </a:p>
        </p:txBody>
      </p:sp>
      <p:sp>
        <p:nvSpPr>
          <p:cNvPr id="7" name="alc-arrow-0"/>
          <p:cNvSpPr/>
          <p:nvPr/>
        </p:nvSpPr>
        <p:spPr>
          <a:xfrm>
            <a:off x="8915400" y="2624328"/>
            <a:ext cx="365760" cy="274320"/>
          </a:xfrm>
          <a:prstGeom prst="downArrow">
            <a:avLst/>
          </a:prstGeom>
          <a:solidFill>
            <a:schemeClr val="accent5"/>
          </a:solidFill>
          <a:ln/>
        </p:spPr>
      </p:sp>
      <p:sp>
        <p:nvSpPr>
          <p:cNvPr id="8" name="alc-flow-1"/>
          <p:cNvSpPr/>
          <p:nvPr/>
        </p:nvSpPr>
        <p:spPr>
          <a:xfrm>
            <a:off x="6583680" y="2926080"/>
            <a:ext cx="5029200" cy="1188720"/>
          </a:xfrm>
          <a:prstGeom prst="roundRect">
            <a:avLst>
              <a:gd name="adj" fmla="val 6154"/>
            </a:avLst>
          </a:prstGeom>
          <a:solidFill>
            <a:srgbClr val="E0731F"/>
          </a:solidFill>
          <a:ln/>
        </p:spPr>
      </p:sp>
      <p:sp>
        <p:nvSpPr>
          <p:cNvPr id="9" name="Text 7"/>
          <p:cNvSpPr txBox="1"/>
          <p:nvPr/>
        </p:nvSpPr>
        <p:spPr>
          <a:xfrm>
            <a:off x="6812280" y="2926080"/>
            <a:ext cx="4663440" cy="1188720"/>
          </a:xfrm>
          <a:prstGeom prst="rect">
            <a:avLst/>
          </a:prstGeom>
          <a:noFill/>
          <a:ln/>
        </p:spPr>
        <p:txBody>
          <a:bodyPr wrap="square" lIns="0" tIns="0" rIns="0" bIns="0" rtlCol="0" anchor="ctr"/>
          <a:lstStyle/>
          <a:p>
            <a:pPr indent="0" marL="0">
              <a:buNone/>
            </a:pPr>
            <a:r>
              <a:rPr lang="en-US" sz="1800" b="1" dirty="0">
                <a:solidFill>
                  <a:schemeClr val="bg1"/>
                </a:solidFill>
              </a:rPr>
              <a:t>apptainer build --fakeroot</a:t>
            </a:r>
            <a:endParaRPr lang="en-US" sz="1800" dirty="0"/>
          </a:p>
          <a:p>
            <a:pPr indent="0" marL="0">
              <a:buNone/>
            </a:pPr>
            <a:r>
              <a:rPr lang="en-US" sz="1500" dirty="0">
                <a:solidFill>
                  <a:schemeClr val="bg1"/>
                </a:solidFill>
              </a:rPr>
              <a:t>hypre.sif, 1.2 GB</a:t>
            </a:r>
            <a:endParaRPr lang="en-US" sz="1800" dirty="0"/>
          </a:p>
        </p:txBody>
      </p:sp>
      <p:sp>
        <p:nvSpPr>
          <p:cNvPr id="10" name="alc-arrow-1"/>
          <p:cNvSpPr/>
          <p:nvPr/>
        </p:nvSpPr>
        <p:spPr>
          <a:xfrm>
            <a:off x="8915400" y="4133088"/>
            <a:ext cx="365760" cy="274320"/>
          </a:xfrm>
          <a:prstGeom prst="downArrow">
            <a:avLst/>
          </a:prstGeom>
          <a:solidFill>
            <a:schemeClr val="accent5"/>
          </a:solidFill>
          <a:ln/>
        </p:spPr>
      </p:sp>
      <p:sp>
        <p:nvSpPr>
          <p:cNvPr id="11" name="alc-flow-2"/>
          <p:cNvSpPr/>
          <p:nvPr/>
        </p:nvSpPr>
        <p:spPr>
          <a:xfrm>
            <a:off x="6583680" y="4434840"/>
            <a:ext cx="5029200" cy="1188720"/>
          </a:xfrm>
          <a:prstGeom prst="roundRect">
            <a:avLst>
              <a:gd name="adj" fmla="val 6154"/>
            </a:avLst>
          </a:prstGeom>
          <a:solidFill>
            <a:srgbClr val="4E8A3C"/>
          </a:solidFill>
          <a:ln/>
        </p:spPr>
      </p:sp>
      <p:sp>
        <p:nvSpPr>
          <p:cNvPr id="12" name="Text 10"/>
          <p:cNvSpPr txBox="1"/>
          <p:nvPr/>
        </p:nvSpPr>
        <p:spPr>
          <a:xfrm>
            <a:off x="6812280" y="4434840"/>
            <a:ext cx="4663440" cy="1188720"/>
          </a:xfrm>
          <a:prstGeom prst="rect">
            <a:avLst/>
          </a:prstGeom>
          <a:noFill/>
          <a:ln/>
        </p:spPr>
        <p:txBody>
          <a:bodyPr wrap="square" lIns="0" tIns="0" rIns="0" bIns="0" rtlCol="0" anchor="ctr"/>
          <a:lstStyle/>
          <a:p>
            <a:pPr indent="0" marL="0">
              <a:buNone/>
            </a:pPr>
            <a:r>
              <a:rPr lang="en-US" sz="1800" b="1" dirty="0">
                <a:solidFill>
                  <a:schemeClr val="bg1"/>
                </a:solidFill>
              </a:rPr>
              <a:t>≈ 2 minutes on 8 cores</a:t>
            </a:r>
            <a:endParaRPr lang="en-US" sz="1800" dirty="0"/>
          </a:p>
          <a:p>
            <a:pPr indent="0" marL="0">
              <a:buNone/>
            </a:pPr>
            <a:r>
              <a:rPr lang="en-US" sz="1500" dirty="0">
                <a:solidFill>
                  <a:schemeClr val="bg1"/>
                </a:solidFill>
              </a:rPr>
              <a:t>binaries from the E4S cache, nothing compiled</a:t>
            </a:r>
            <a:endParaRPr lang="en-US" sz="1800" dirty="0"/>
          </a:p>
        </p:txBody>
      </p:sp>
      <p:sp>
        <p:nvSpPr>
          <p:cNvPr id="13" name="caption"/>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chemeClr val="accent5"/>
                </a:solidFill>
              </a:rPr>
              <a:t>Recipe adapted from the E4S/ParaTools tutorial (github.com/ParaToolsInc/e4s-cloud-examples).</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Hands-on 3b: build an image, then run it with e4s-cl</a:t>
            </a:r>
            <a:endParaRPr lang="en-US" sz="3400" dirty="0"/>
          </a:p>
        </p:txBody>
      </p:sp>
      <p:sp>
        <p:nvSpPr>
          <p:cNvPr id="3" name="terminal"/>
          <p:cNvSpPr/>
          <p:nvPr/>
        </p:nvSpPr>
        <p:spPr>
          <a:xfrm>
            <a:off x="548640" y="1371600"/>
            <a:ext cx="6949440" cy="2305020"/>
          </a:xfrm>
          <a:prstGeom prst="roundRect">
            <a:avLst>
              <a:gd name="adj" fmla="val 3174"/>
            </a:avLst>
          </a:prstGeom>
          <a:solidFill>
            <a:schemeClr val="tx1"/>
          </a:solidFill>
          <a:ln/>
        </p:spPr>
      </p:sp>
      <p:sp>
        <p:nvSpPr>
          <p:cNvPr id="4" name="terminal-text"/>
          <p:cNvSpPr txBox="1"/>
          <p:nvPr/>
        </p:nvSpPr>
        <p:spPr>
          <a:xfrm>
            <a:off x="731520" y="1481328"/>
            <a:ext cx="6583680" cy="2085564"/>
          </a:xfrm>
          <a:prstGeom prst="rect">
            <a:avLst/>
          </a:prstGeom>
          <a:noFill/>
          <a:ln/>
        </p:spPr>
        <p:txBody>
          <a:bodyPr wrap="square" lIns="0" tIns="0" rIns="0" bIns="0" rtlCol="0" anchor="t"/>
          <a:lstStyle/>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cd $E4S_SCRATCH/e4s-labs/part3-alc</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e4s-alc create -f hypre.yaml</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less hypre.def</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sbatch build.sbatch           # ~2 min</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sbatch 03_run_custom.sbatch   # 2 nodes, e4s-cl</a:t>
            </a:r>
            <a:endParaRPr lang="en-US" sz="1450" dirty="0"/>
          </a:p>
          <a:p>
            <a:pPr indent="0" marL="0">
              <a:spcAft>
                <a:spcPts val="200"/>
              </a:spcAft>
              <a:buNone/>
            </a:pPr>
            <a:r>
              <a:rPr lang="en-US" sz="1450" b="1" dirty="0">
                <a:solidFill>
                  <a:schemeClr val="accent1"/>
                </a:solidFill>
                <a:latin typeface="Courier New" pitchFamily="34" charset="0"/>
                <a:ea typeface="Courier New" pitchFamily="34" charset="-122"/>
                <a:cs typeface="Courier New" pitchFamily="34" charset="-120"/>
              </a:rPr>
              <a:t>$ </a:t>
            </a:r>
            <a:r>
              <a:rPr lang="en-US" sz="1450" dirty="0">
                <a:solidFill>
                  <a:schemeClr val="bg1"/>
                </a:solidFill>
                <a:latin typeface="Courier New" pitchFamily="34" charset="0"/>
                <a:ea typeface="Courier New" pitchFamily="34" charset="-122"/>
                <a:cs typeface="Courier New" pitchFamily="34" charset="-120"/>
              </a:rPr>
              <a:t>tail -3 alc-run-&lt;jobid&gt;.out</a:t>
            </a:r>
            <a:endParaRPr lang="en-US" sz="1450" dirty="0"/>
          </a:p>
          <a:p>
            <a:pPr indent="0" marL="0">
              <a:spcAft>
                <a:spcPts val="200"/>
              </a:spcAft>
              <a:buNone/>
            </a:pPr>
            <a:r>
              <a:rPr lang="en-US" sz="1450" dirty="0">
                <a:solidFill>
                  <a:srgbClr val="B8C4CE"/>
                </a:solidFill>
                <a:latin typeface="Courier New" pitchFamily="34" charset="0"/>
                <a:ea typeface="Courier New" pitchFamily="34" charset="-122"/>
                <a:cs typeface="Courier New" pitchFamily="34" charset="-120"/>
              </a:rPr>
              <a:t>Iterations = 30</a:t>
            </a:r>
            <a:endParaRPr lang="en-US" sz="1450" dirty="0"/>
          </a:p>
          <a:p>
            <a:pPr indent="0" marL="0">
              <a:spcAft>
                <a:spcPts val="200"/>
              </a:spcAft>
              <a:buNone/>
            </a:pPr>
            <a:r>
              <a:rPr lang="en-US" sz="1450" dirty="0">
                <a:solidFill>
                  <a:srgbClr val="B8C4CE"/>
                </a:solidFill>
                <a:latin typeface="Courier New" pitchFamily="34" charset="0"/>
                <a:ea typeface="Courier New" pitchFamily="34" charset="-122"/>
                <a:cs typeface="Courier New" pitchFamily="34" charset="-120"/>
              </a:rPr>
              <a:t>Final Relative Residual Norm = 9.525616e-09</a:t>
            </a:r>
            <a:endParaRPr lang="en-US" sz="1450" dirty="0"/>
          </a:p>
        </p:txBody>
      </p:sp>
      <p:sp>
        <p:nvSpPr>
          <p:cNvPr id="5" name="bullets"/>
          <p:cNvSpPr txBox="1"/>
          <p:nvPr/>
        </p:nvSpPr>
        <p:spPr>
          <a:xfrm>
            <a:off x="7863840" y="1463040"/>
            <a:ext cx="3749040" cy="40233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Read the generated hypre.def: which parts came from your YAML?</a:t>
            </a:r>
            <a:endParaRPr lang="en-US" sz="1600" dirty="0"/>
          </a:p>
          <a:p>
            <a:pPr marL="342900" indent="-342900">
              <a:spcAft>
                <a:spcPts val="1400"/>
              </a:spcAft>
              <a:buSzPct val="100000"/>
              <a:buChar char="•"/>
            </a:pPr>
            <a:r>
              <a:rPr lang="en-US" sz="1600" b="1" dirty="0">
                <a:solidFill>
                  <a:schemeClr val="tx1"/>
                </a:solidFill>
              </a:rPr>
              <a:t>Try: </a:t>
            </a:r>
            <a:r>
              <a:rPr lang="en-US" sz="1600" dirty="0">
                <a:solidFill>
                  <a:schemeClr val="tx1"/>
                </a:solidFill>
              </a:rPr>
              <a:t>add htop to os-packages, or spack install sundials; rebuild</a:t>
            </a:r>
            <a:endParaRPr lang="en-US" sz="1600" dirty="0"/>
          </a:p>
          <a:p>
            <a:pPr marL="342900" indent="-342900">
              <a:spcAft>
                <a:spcPts val="1400"/>
              </a:spcAft>
              <a:buSzPct val="100000"/>
              <a:buChar char="•"/>
            </a:pPr>
            <a:r>
              <a:rPr lang="en-US" sz="1600" b="1" dirty="0">
                <a:solidFill>
                  <a:schemeClr val="tx1"/>
                </a:solidFill>
              </a:rPr>
              <a:t>Note: </a:t>
            </a:r>
            <a:r>
              <a:rPr lang="en-US" sz="1600" dirty="0">
                <a:solidFill>
                  <a:schemeClr val="tx1"/>
                </a:solidFill>
              </a:rPr>
              <a:t>e4s-cl launch --image hypre.sif reuses the same host-MPI profile with a different image</a:t>
            </a:r>
            <a:endParaRPr lang="en-US" sz="1600" dirty="0"/>
          </a:p>
        </p:txBody>
      </p:sp>
      <p:sp>
        <p:nvSpPr>
          <p:cNvPr id="6" name="hands-on-pill"/>
          <p:cNvSpPr/>
          <p:nvPr/>
        </p:nvSpPr>
        <p:spPr>
          <a:xfrm>
            <a:off x="548640" y="5760720"/>
            <a:ext cx="1600200" cy="420624"/>
          </a:xfrm>
          <a:prstGeom prst="roundRect">
            <a:avLst>
              <a:gd name="adj" fmla="val 50000"/>
            </a:avLst>
          </a:prstGeom>
          <a:solidFill>
            <a:schemeClr val="accent1"/>
          </a:solidFill>
          <a:ln/>
        </p:spPr>
      </p:sp>
      <p:sp>
        <p:nvSpPr>
          <p:cNvPr id="7" name="hands-on-label"/>
          <p:cNvSpPr txBox="1"/>
          <p:nvPr/>
        </p:nvSpPr>
        <p:spPr>
          <a:xfrm>
            <a:off x="548640" y="5760720"/>
            <a:ext cx="1600200" cy="420624"/>
          </a:xfrm>
          <a:prstGeom prst="rect">
            <a:avLst/>
          </a:prstGeom>
          <a:noFill/>
          <a:ln/>
        </p:spPr>
        <p:txBody>
          <a:bodyPr wrap="square" lIns="0" tIns="0" rIns="0" bIns="0" rtlCol="0" anchor="ctr"/>
          <a:lstStyle/>
          <a:p>
            <a:pPr algn="ctr" indent="0" marL="0">
              <a:buNone/>
            </a:pPr>
            <a:r>
              <a:rPr lang="en-US" sz="1400" b="1" dirty="0">
                <a:solidFill>
                  <a:schemeClr val="bg1"/>
                </a:solidFill>
              </a:rPr>
              <a:t>HANDS-ON</a:t>
            </a:r>
            <a:endParaRPr lang="en-US" sz="1400" dirty="0"/>
          </a:p>
        </p:txBody>
      </p:sp>
      <p:sp>
        <p:nvSpPr>
          <p:cNvPr id="8" name="hands-on-where"/>
          <p:cNvSpPr txBox="1"/>
          <p:nvPr/>
        </p:nvSpPr>
        <p:spPr>
          <a:xfrm>
            <a:off x="2331720" y="5760720"/>
            <a:ext cx="7315200" cy="420624"/>
          </a:xfrm>
          <a:prstGeom prst="rect">
            <a:avLst/>
          </a:prstGeom>
          <a:noFill/>
          <a:ln/>
        </p:spPr>
        <p:txBody>
          <a:bodyPr wrap="square" lIns="0" tIns="0" rIns="0" bIns="0" rtlCol="0" anchor="ctr"/>
          <a:lstStyle/>
          <a:p>
            <a:pPr indent="0" marL="0">
              <a:buNone/>
            </a:pPr>
            <a:r>
              <a:rPr lang="en-US" sz="1500" b="1" dirty="0">
                <a:solidFill>
                  <a:schemeClr val="accent1"/>
                </a:solidFill>
              </a:rPr>
              <a:t>LAB_GUIDE.md · Part 3b  ·  15 minutes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Customizing the full 25 GB E4S image (demo)</a:t>
            </a:r>
            <a:endParaRPr lang="en-US" sz="3400" dirty="0"/>
          </a:p>
        </p:txBody>
      </p:sp>
      <p:sp>
        <p:nvSpPr>
          <p:cNvPr id="3" name="terminal"/>
          <p:cNvSpPr/>
          <p:nvPr/>
        </p:nvSpPr>
        <p:spPr>
          <a:xfrm>
            <a:off x="548640" y="1371600"/>
            <a:ext cx="5669280" cy="2863718"/>
          </a:xfrm>
          <a:prstGeom prst="roundRect">
            <a:avLst>
              <a:gd name="adj" fmla="val 2554"/>
            </a:avLst>
          </a:prstGeom>
          <a:solidFill>
            <a:schemeClr val="tx1"/>
          </a:solidFill>
          <a:ln/>
        </p:spPr>
      </p:sp>
      <p:sp>
        <p:nvSpPr>
          <p:cNvPr id="4" name="terminal-text"/>
          <p:cNvSpPr txBox="1"/>
          <p:nvPr/>
        </p:nvSpPr>
        <p:spPr>
          <a:xfrm>
            <a:off x="731520" y="1481328"/>
            <a:ext cx="5303520" cy="2644262"/>
          </a:xfrm>
          <a:prstGeom prst="rect">
            <a:avLst/>
          </a:prstGeom>
          <a:noFill/>
          <a:ln/>
        </p:spPr>
        <p:txBody>
          <a:bodyPr wrap="square" lIns="0" tIns="0" rIns="0" bIns="0" rtlCol="0" anchor="t"/>
          <a:lstStyle/>
          <a:p>
            <a:pPr indent="0" marL="0">
              <a:spcAft>
                <a:spcPts val="200"/>
              </a:spcAft>
              <a:buNone/>
            </a:pPr>
            <a:r>
              <a:rPr lang="en-US" sz="1350" dirty="0">
                <a:solidFill>
                  <a:schemeClr val="accent5"/>
                </a:solidFill>
                <a:latin typeface="Courier New" pitchFamily="34" charset="0"/>
                <a:ea typeface="Courier New" pitchFamily="34" charset="-122"/>
                <a:cs typeface="Courier New" pitchFamily="34" charset="-120"/>
              </a:rPr>
              <a:t># extras/e4s-plus-app.yaml (excerpt)</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bootstrap: localimage</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image: .../e4s-cpu-x86_64-26.06.sif</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add-files:</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hypre_test.c /opt/app/</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os-packages:</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htop</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post-system-stage-commands:</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spack load mpich hypre</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  - cd /opt/app &amp;&amp; mpicc ... -lHYPRE</a:t>
            </a:r>
            <a:endParaRPr lang="en-US" sz="1350" dirty="0"/>
          </a:p>
          <a:p>
            <a:pPr indent="0" marL="0">
              <a:spcAft>
                <a:spcPts val="200"/>
              </a:spcAft>
              <a:buNone/>
            </a:pPr>
            <a:r>
              <a:rPr lang="en-US" sz="1350" dirty="0">
                <a:solidFill>
                  <a:srgbClr val="B8C4CE"/>
                </a:solidFill>
                <a:latin typeface="Courier New" pitchFamily="34" charset="0"/>
                <a:ea typeface="Courier New" pitchFamily="34" charset="-122"/>
                <a:cs typeface="Courier New" pitchFamily="34" charset="-120"/>
              </a:rPr>
              <a:t>spack: False   # keep the image's Spack</a:t>
            </a:r>
            <a:endParaRPr lang="en-US" sz="1350" dirty="0"/>
          </a:p>
        </p:txBody>
      </p:sp>
      <p:sp>
        <p:nvSpPr>
          <p:cNvPr id="5" name="bullets"/>
          <p:cNvSpPr txBox="1"/>
          <p:nvPr/>
        </p:nvSpPr>
        <p:spPr>
          <a:xfrm>
            <a:off x="6583680" y="1463040"/>
            <a:ext cx="5029200" cy="43891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rPr>
              <a:t>Same tool, same recipe format: </a:t>
            </a:r>
            <a:r>
              <a:rPr lang="en-US" sz="1600" dirty="0">
                <a:solidFill>
                  <a:schemeClr val="tx1"/>
                </a:solidFill>
              </a:rPr>
              <a:t>your application baked into the full stack</a:t>
            </a:r>
            <a:endParaRPr lang="en-US" sz="1600" dirty="0"/>
          </a:p>
          <a:p>
            <a:pPr marL="342900" indent="-342900">
              <a:spcAft>
                <a:spcPts val="1200"/>
              </a:spcAft>
              <a:buSzPct val="100000"/>
              <a:buChar char="•"/>
            </a:pPr>
            <a:r>
              <a:rPr lang="en-US" sz="1600" b="1" dirty="0">
                <a:solidFill>
                  <a:schemeClr val="tx1"/>
                </a:solidFill>
              </a:rPr>
              <a:t>Cost: </a:t>
            </a:r>
            <a:r>
              <a:rPr lang="en-US" sz="1600" dirty="0">
                <a:solidFill>
                  <a:schemeClr val="tx1"/>
                </a:solidFill>
              </a:rPr>
              <a:t>measured ~15 min on 32 cores (2 min unpack, 12 min build) and ~160 GB of node-local disk; result 25.6 GB</a:t>
            </a:r>
            <a:endParaRPr lang="en-US" sz="1600" dirty="0"/>
          </a:p>
          <a:p>
            <a:pPr marL="342900" indent="-342900">
              <a:spcAft>
                <a:spcPts val="1200"/>
              </a:spcAft>
              <a:buSzPct val="100000"/>
              <a:buChar char="•"/>
            </a:pPr>
            <a:r>
              <a:rPr lang="en-US" sz="1600" b="1" dirty="0">
                <a:solidFill>
                  <a:schemeClr val="tx1"/>
                </a:solidFill>
              </a:rPr>
              <a:t>Midway3 detail: </a:t>
            </a:r>
            <a:r>
              <a:rPr lang="en-US" sz="1600" dirty="0">
                <a:solidFill>
                  <a:schemeClr val="tx1"/>
                </a:solidFill>
              </a:rPr>
              <a:t>no /etc/subuid, so --fakeroot can't unpack files owned by other users. Unpack to a sandbox first, then build from the sandbox</a:t>
            </a:r>
            <a:endParaRPr lang="en-US" sz="1600" dirty="0"/>
          </a:p>
          <a:p>
            <a:pPr marL="342900" indent="-342900">
              <a:spcAft>
                <a:spcPts val="1200"/>
              </a:spcAft>
              <a:buSzPct val="100000"/>
              <a:buChar char="•"/>
            </a:pPr>
            <a:r>
              <a:rPr lang="en-US" sz="1600" b="1" dirty="0">
                <a:solidFill>
                  <a:schemeClr val="tx1"/>
                </a:solidFill>
              </a:rPr>
              <a:t>For one-off additions, </a:t>
            </a:r>
            <a:r>
              <a:rPr lang="en-US" sz="1600" dirty="0">
                <a:solidFill>
                  <a:schemeClr val="tx1"/>
                </a:solidFill>
              </a:rPr>
              <a:t>e4s-chain-spack.sh avoids the rebuild entirely</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What's next: layered E4S</a:t>
            </a:r>
            <a:endParaRPr lang="en-US" sz="3400" dirty="0"/>
          </a:p>
        </p:txBody>
      </p:sp>
      <p:sp>
        <p:nvSpPr>
          <p:cNvPr id="3" name="optional-tag"/>
          <p:cNvSpPr/>
          <p:nvPr/>
        </p:nvSpPr>
        <p:spPr>
          <a:xfrm>
            <a:off x="10332720" y="502920"/>
            <a:ext cx="1280160" cy="384048"/>
          </a:xfrm>
          <a:prstGeom prst="roundRect">
            <a:avLst>
              <a:gd name="adj" fmla="val 50000"/>
            </a:avLst>
          </a:prstGeom>
          <a:solidFill>
            <a:schemeClr val="accent5"/>
          </a:solidFill>
          <a:ln/>
        </p:spPr>
      </p:sp>
      <p:sp>
        <p:nvSpPr>
          <p:cNvPr id="4" name="optional-tag-text"/>
          <p:cNvSpPr txBox="1"/>
          <p:nvPr/>
        </p:nvSpPr>
        <p:spPr>
          <a:xfrm>
            <a:off x="10332720" y="502920"/>
            <a:ext cx="1280160" cy="384048"/>
          </a:xfrm>
          <a:prstGeom prst="rect">
            <a:avLst/>
          </a:prstGeom>
          <a:noFill/>
          <a:ln/>
        </p:spPr>
        <p:txBody>
          <a:bodyPr wrap="square" lIns="0" tIns="0" rIns="0" bIns="0" rtlCol="0" anchor="ctr"/>
          <a:lstStyle/>
          <a:p>
            <a:pPr algn="ctr" indent="0" marL="0">
              <a:buNone/>
            </a:pPr>
            <a:r>
              <a:rPr lang="en-US" sz="1200" b="1" dirty="0">
                <a:solidFill>
                  <a:schemeClr val="bg1"/>
                </a:solidFill>
              </a:rPr>
              <a:t>OPTIONAL</a:t>
            </a:r>
            <a:endParaRPr lang="en-US" sz="1200" dirty="0"/>
          </a:p>
        </p:txBody>
      </p:sp>
      <p:sp>
        <p:nvSpPr>
          <p:cNvPr id="5" name="spec-layer-0"/>
          <p:cNvSpPr/>
          <p:nvPr/>
        </p:nvSpPr>
        <p:spPr>
          <a:xfrm>
            <a:off x="548640" y="1463040"/>
            <a:ext cx="1645920" cy="731520"/>
          </a:xfrm>
          <a:prstGeom prst="roundRect">
            <a:avLst>
              <a:gd name="adj" fmla="val 10000"/>
            </a:avLst>
          </a:prstGeom>
          <a:solidFill>
            <a:schemeClr val="accent1"/>
          </a:solidFill>
          <a:ln/>
        </p:spPr>
      </p:sp>
      <p:sp>
        <p:nvSpPr>
          <p:cNvPr id="6" name="Text 4"/>
          <p:cNvSpPr txBox="1"/>
          <p:nvPr/>
        </p:nvSpPr>
        <p:spPr>
          <a:xfrm>
            <a:off x="548640" y="1463040"/>
            <a:ext cx="1645920" cy="731520"/>
          </a:xfrm>
          <a:prstGeom prst="rect">
            <a:avLst/>
          </a:prstGeom>
          <a:noFill/>
          <a:ln/>
        </p:spPr>
        <p:txBody>
          <a:bodyPr wrap="square" lIns="0" tIns="0" rIns="0" bIns="0" rtlCol="0" anchor="ctr"/>
          <a:lstStyle/>
          <a:p>
            <a:pPr algn="ctr" indent="0" marL="0">
              <a:buNone/>
            </a:pPr>
            <a:r>
              <a:rPr lang="en-US" sz="1500" b="1" dirty="0">
                <a:solidFill>
                  <a:schemeClr val="bg1"/>
                </a:solidFill>
              </a:rPr>
              <a:t>AMReX sm_80</a:t>
            </a:r>
            <a:endParaRPr lang="en-US" sz="1500" dirty="0"/>
          </a:p>
        </p:txBody>
      </p:sp>
      <p:sp>
        <p:nvSpPr>
          <p:cNvPr id="7" name="spec-layer-1"/>
          <p:cNvSpPr/>
          <p:nvPr/>
        </p:nvSpPr>
        <p:spPr>
          <a:xfrm>
            <a:off x="2331720" y="1463040"/>
            <a:ext cx="1645920" cy="731520"/>
          </a:xfrm>
          <a:prstGeom prst="roundRect">
            <a:avLst>
              <a:gd name="adj" fmla="val 10000"/>
            </a:avLst>
          </a:prstGeom>
          <a:solidFill>
            <a:schemeClr val="accent1"/>
          </a:solidFill>
          <a:ln/>
        </p:spPr>
      </p:sp>
      <p:sp>
        <p:nvSpPr>
          <p:cNvPr id="8" name="Text 6"/>
          <p:cNvSpPr txBox="1"/>
          <p:nvPr/>
        </p:nvSpPr>
        <p:spPr>
          <a:xfrm>
            <a:off x="2331720" y="1463040"/>
            <a:ext cx="1645920" cy="731520"/>
          </a:xfrm>
          <a:prstGeom prst="rect">
            <a:avLst/>
          </a:prstGeom>
          <a:noFill/>
          <a:ln/>
        </p:spPr>
        <p:txBody>
          <a:bodyPr wrap="square" lIns="0" tIns="0" rIns="0" bIns="0" rtlCol="0" anchor="ctr"/>
          <a:lstStyle/>
          <a:p>
            <a:pPr algn="ctr" indent="0" marL="0">
              <a:buNone/>
            </a:pPr>
            <a:r>
              <a:rPr lang="en-US" sz="1500" b="1" dirty="0">
                <a:solidFill>
                  <a:schemeClr val="bg1"/>
                </a:solidFill>
              </a:rPr>
              <a:t>AMReX sm_90</a:t>
            </a:r>
            <a:endParaRPr lang="en-US" sz="1500" dirty="0"/>
          </a:p>
        </p:txBody>
      </p:sp>
      <p:sp>
        <p:nvSpPr>
          <p:cNvPr id="9" name="spec-layer-2"/>
          <p:cNvSpPr/>
          <p:nvPr/>
        </p:nvSpPr>
        <p:spPr>
          <a:xfrm>
            <a:off x="4114800" y="1463040"/>
            <a:ext cx="1645920" cy="731520"/>
          </a:xfrm>
          <a:prstGeom prst="roundRect">
            <a:avLst>
              <a:gd name="adj" fmla="val 10000"/>
            </a:avLst>
          </a:prstGeom>
          <a:solidFill>
            <a:schemeClr val="accent1"/>
          </a:solidFill>
          <a:ln/>
        </p:spPr>
      </p:sp>
      <p:sp>
        <p:nvSpPr>
          <p:cNvPr id="10" name="Text 8"/>
          <p:cNvSpPr txBox="1"/>
          <p:nvPr/>
        </p:nvSpPr>
        <p:spPr>
          <a:xfrm>
            <a:off x="4114800" y="1463040"/>
            <a:ext cx="1645920" cy="731520"/>
          </a:xfrm>
          <a:prstGeom prst="rect">
            <a:avLst/>
          </a:prstGeom>
          <a:noFill/>
          <a:ln/>
        </p:spPr>
        <p:txBody>
          <a:bodyPr wrap="square" lIns="0" tIns="0" rIns="0" bIns="0" rtlCol="0" anchor="ctr"/>
          <a:lstStyle/>
          <a:p>
            <a:pPr algn="ctr" indent="0" marL="0">
              <a:buNone/>
            </a:pPr>
            <a:r>
              <a:rPr lang="en-US" sz="1500" b="1" dirty="0">
                <a:solidFill>
                  <a:schemeClr val="bg1"/>
                </a:solidFill>
              </a:rPr>
              <a:t>heFFTe</a:t>
            </a:r>
            <a:endParaRPr lang="en-US" sz="1500" dirty="0"/>
          </a:p>
        </p:txBody>
      </p:sp>
      <p:sp>
        <p:nvSpPr>
          <p:cNvPr id="11" name="Text 9"/>
          <p:cNvSpPr txBox="1"/>
          <p:nvPr/>
        </p:nvSpPr>
        <p:spPr>
          <a:xfrm>
            <a:off x="548640" y="2240280"/>
            <a:ext cx="5212080" cy="365760"/>
          </a:xfrm>
          <a:prstGeom prst="rect">
            <a:avLst/>
          </a:prstGeom>
          <a:noFill/>
          <a:ln/>
        </p:spPr>
        <p:txBody>
          <a:bodyPr wrap="square" lIns="0" tIns="0" rIns="0" bIns="0" rtlCol="0" anchor="ctr"/>
          <a:lstStyle/>
          <a:p>
            <a:pPr indent="0" marL="0">
              <a:buNone/>
            </a:pPr>
            <a:r>
              <a:rPr lang="en-US" sz="1300" i="1" dirty="0">
                <a:solidFill>
                  <a:schemeClr val="tx1"/>
                </a:solidFill>
              </a:rPr>
              <a:t>Specialized layers: only the GPU-compiled packages, one per target</a:t>
            </a:r>
            <a:endParaRPr lang="en-US" sz="1300" dirty="0"/>
          </a:p>
        </p:txBody>
      </p:sp>
      <p:sp>
        <p:nvSpPr>
          <p:cNvPr id="12" name="provider-layer"/>
          <p:cNvSpPr/>
          <p:nvPr/>
        </p:nvSpPr>
        <p:spPr>
          <a:xfrm>
            <a:off x="548640" y="2697480"/>
            <a:ext cx="5212080" cy="960120"/>
          </a:xfrm>
          <a:prstGeom prst="roundRect">
            <a:avLst>
              <a:gd name="adj" fmla="val 7619"/>
            </a:avLst>
          </a:prstGeom>
          <a:solidFill>
            <a:schemeClr val="accent2"/>
          </a:solidFill>
          <a:ln/>
        </p:spPr>
      </p:sp>
      <p:sp>
        <p:nvSpPr>
          <p:cNvPr id="13" name="Text 11"/>
          <p:cNvSpPr txBox="1"/>
          <p:nvPr/>
        </p:nvSpPr>
        <p:spPr>
          <a:xfrm>
            <a:off x="777240" y="2697480"/>
            <a:ext cx="4846320" cy="960120"/>
          </a:xfrm>
          <a:prstGeom prst="rect">
            <a:avLst/>
          </a:prstGeom>
          <a:noFill/>
          <a:ln/>
        </p:spPr>
        <p:txBody>
          <a:bodyPr wrap="square" lIns="0" tIns="0" rIns="0" bIns="0" rtlCol="0" anchor="ctr"/>
          <a:lstStyle/>
          <a:p>
            <a:pPr indent="0" marL="0">
              <a:buNone/>
            </a:pPr>
            <a:r>
              <a:rPr lang="en-US" sz="1700" b="1" dirty="0">
                <a:solidFill>
                  <a:schemeClr val="bg1"/>
                </a:solidFill>
              </a:rPr>
              <a:t>Shared provider</a:t>
            </a:r>
            <a:endParaRPr lang="en-US" sz="1700" dirty="0"/>
          </a:p>
          <a:p>
            <a:pPr indent="0" marL="0">
              <a:buNone/>
            </a:pPr>
            <a:r>
              <a:rPr lang="en-US" sz="1400" dirty="0">
                <a:solidFill>
                  <a:schemeClr val="bg1"/>
                </a:solidFill>
              </a:rPr>
              <a:t>architecture-generic dependencies, built once</a:t>
            </a:r>
            <a:endParaRPr lang="en-US" sz="1700" dirty="0"/>
          </a:p>
        </p:txBody>
      </p:sp>
      <p:sp>
        <p:nvSpPr>
          <p:cNvPr id="14" name="base-layer"/>
          <p:cNvSpPr/>
          <p:nvPr/>
        </p:nvSpPr>
        <p:spPr>
          <a:xfrm>
            <a:off x="548640" y="3794760"/>
            <a:ext cx="5212080" cy="777240"/>
          </a:xfrm>
          <a:prstGeom prst="roundRect">
            <a:avLst>
              <a:gd name="adj" fmla="val 9412"/>
            </a:avLst>
          </a:prstGeom>
          <a:solidFill>
            <a:schemeClr val="tx2"/>
          </a:solidFill>
          <a:ln/>
        </p:spPr>
      </p:sp>
      <p:sp>
        <p:nvSpPr>
          <p:cNvPr id="15" name="Text 13"/>
          <p:cNvSpPr txBox="1"/>
          <p:nvPr/>
        </p:nvSpPr>
        <p:spPr>
          <a:xfrm>
            <a:off x="777240" y="3794760"/>
            <a:ext cx="4846320" cy="777240"/>
          </a:xfrm>
          <a:prstGeom prst="rect">
            <a:avLst/>
          </a:prstGeom>
          <a:noFill/>
          <a:ln/>
        </p:spPr>
        <p:txBody>
          <a:bodyPr wrap="square" lIns="0" tIns="0" rIns="0" bIns="0" rtlCol="0" anchor="ctr"/>
          <a:lstStyle/>
          <a:p>
            <a:pPr indent="0" marL="0">
              <a:buNone/>
            </a:pPr>
            <a:r>
              <a:rPr lang="en-US" sz="1700" b="1" dirty="0">
                <a:solidFill>
                  <a:schemeClr val="bg1"/>
                </a:solidFill>
              </a:rPr>
              <a:t>Base image</a:t>
            </a:r>
            <a:endParaRPr lang="en-US" sz="1700" dirty="0"/>
          </a:p>
          <a:p>
            <a:pPr indent="0" marL="0">
              <a:buNone/>
            </a:pPr>
            <a:r>
              <a:rPr lang="en-US" sz="1400" dirty="0">
                <a:solidFill>
                  <a:schemeClr val="bg1"/>
                </a:solidFill>
              </a:rPr>
              <a:t>OS, compiler, MPI, CUDA</a:t>
            </a:r>
            <a:endParaRPr lang="en-US" sz="1700" dirty="0"/>
          </a:p>
        </p:txBody>
      </p:sp>
      <p:sp>
        <p:nvSpPr>
          <p:cNvPr id="16" name="Text 14"/>
          <p:cNvSpPr txBox="1"/>
          <p:nvPr/>
        </p:nvSpPr>
        <p:spPr>
          <a:xfrm>
            <a:off x="548640" y="4709160"/>
            <a:ext cx="5212080" cy="914400"/>
          </a:xfrm>
          <a:prstGeom prst="rect">
            <a:avLst/>
          </a:prstGeom>
          <a:noFill/>
          <a:ln/>
        </p:spPr>
        <p:txBody>
          <a:bodyPr wrap="square" lIns="0" tIns="0" rIns="0" bIns="0" rtlCol="0" anchor="t"/>
          <a:lstStyle/>
          <a:p>
            <a:pPr indent="0" marL="0">
              <a:buNone/>
            </a:pPr>
            <a:r>
              <a:rPr lang="en-US" sz="1400" dirty="0">
                <a:solidFill>
                  <a:schemeClr val="tx1"/>
                </a:solidFill>
              </a:rPr>
              <a:t>Layers compose at run time through absolute RPATHs under fixed paths, with no search-path setup. e4s-alc repacks a whole image; layering rebuilds only the layer that changed.</a:t>
            </a:r>
            <a:endParaRPr lang="en-US" sz="1400" dirty="0"/>
          </a:p>
        </p:txBody>
      </p:sp>
      <p:sp>
        <p:nvSpPr>
          <p:cNvPr id="17" name="layered-result-0"/>
          <p:cNvSpPr/>
          <p:nvPr/>
        </p:nvSpPr>
        <p:spPr>
          <a:xfrm>
            <a:off x="6263640" y="1371600"/>
            <a:ext cx="5349240" cy="2011680"/>
          </a:xfrm>
          <a:prstGeom prst="roundRect">
            <a:avLst>
              <a:gd name="adj" fmla="val 3636"/>
            </a:avLst>
          </a:prstGeom>
          <a:solidFill>
            <a:schemeClr val="bg2"/>
          </a:solidFill>
          <a:ln/>
        </p:spPr>
      </p:sp>
      <p:sp>
        <p:nvSpPr>
          <p:cNvPr id="18" name="Text 16"/>
          <p:cNvSpPr txBox="1"/>
          <p:nvPr/>
        </p:nvSpPr>
        <p:spPr>
          <a:xfrm>
            <a:off x="6537960" y="1536192"/>
            <a:ext cx="4846320" cy="320040"/>
          </a:xfrm>
          <a:prstGeom prst="rect">
            <a:avLst/>
          </a:prstGeom>
          <a:noFill/>
          <a:ln/>
        </p:spPr>
        <p:txBody>
          <a:bodyPr wrap="square" lIns="0" tIns="0" rIns="0" bIns="0" rtlCol="0" anchor="ctr"/>
          <a:lstStyle/>
          <a:p>
            <a:pPr indent="0" marL="0">
              <a:buNone/>
            </a:pPr>
            <a:r>
              <a:rPr lang="en-US" sz="1300" b="1" dirty="0">
                <a:solidFill>
                  <a:schemeClr val="accent5"/>
                </a:solidFill>
              </a:rPr>
              <a:t>Midway3 and NSF ACCESS Anvil</a:t>
            </a:r>
            <a:endParaRPr lang="en-US" sz="1300" dirty="0"/>
          </a:p>
        </p:txBody>
      </p:sp>
      <p:sp>
        <p:nvSpPr>
          <p:cNvPr id="19" name="Text 17"/>
          <p:cNvSpPr txBox="1"/>
          <p:nvPr/>
        </p:nvSpPr>
        <p:spPr>
          <a:xfrm>
            <a:off x="6537960" y="1874520"/>
            <a:ext cx="2286000" cy="777240"/>
          </a:xfrm>
          <a:prstGeom prst="rect">
            <a:avLst/>
          </a:prstGeom>
          <a:noFill/>
          <a:ln/>
        </p:spPr>
        <p:txBody>
          <a:bodyPr wrap="square" lIns="0" tIns="0" rIns="0" bIns="0" rtlCol="0" anchor="ctr"/>
          <a:lstStyle/>
          <a:p>
            <a:pPr indent="0" marL="0">
              <a:buNone/>
            </a:pPr>
            <a:r>
              <a:rPr lang="en-US" sz="4000" b="1" dirty="0">
                <a:solidFill>
                  <a:schemeClr val="accent1"/>
                </a:solidFill>
              </a:rPr>
              <a:t>1 of 20</a:t>
            </a:r>
            <a:endParaRPr lang="en-US" sz="4000" dirty="0"/>
          </a:p>
        </p:txBody>
      </p:sp>
      <p:sp>
        <p:nvSpPr>
          <p:cNvPr id="20" name="Text 18"/>
          <p:cNvSpPr txBox="1"/>
          <p:nvPr/>
        </p:nvSpPr>
        <p:spPr>
          <a:xfrm>
            <a:off x="8869680" y="1874520"/>
            <a:ext cx="2560320" cy="777240"/>
          </a:xfrm>
          <a:prstGeom prst="rect">
            <a:avLst/>
          </a:prstGeom>
          <a:noFill/>
          <a:ln/>
        </p:spPr>
        <p:txBody>
          <a:bodyPr wrap="square" lIns="0" tIns="0" rIns="0" bIns="0" rtlCol="0" anchor="ctr"/>
          <a:lstStyle/>
          <a:p>
            <a:pPr indent="0" marL="0">
              <a:buNone/>
            </a:pPr>
            <a:r>
              <a:rPr lang="en-US" sz="1500" dirty="0">
                <a:solidFill>
                  <a:schemeClr val="tx1"/>
                </a:solidFill>
              </a:rPr>
              <a:t>buildable packages compiled per specialized layer</a:t>
            </a:r>
            <a:endParaRPr lang="en-US" sz="1500" dirty="0"/>
          </a:p>
        </p:txBody>
      </p:sp>
      <p:sp>
        <p:nvSpPr>
          <p:cNvPr id="21" name="Text 19"/>
          <p:cNvSpPr txBox="1"/>
          <p:nvPr/>
        </p:nvSpPr>
        <p:spPr>
          <a:xfrm>
            <a:off x="6537960" y="2697480"/>
            <a:ext cx="4892040" cy="594360"/>
          </a:xfrm>
          <a:prstGeom prst="rect">
            <a:avLst/>
          </a:prstGeom>
          <a:noFill/>
          <a:ln/>
        </p:spPr>
        <p:txBody>
          <a:bodyPr wrap="square" lIns="0" tIns="0" rIns="0" bIns="0" rtlCol="0" anchor="t"/>
          <a:lstStyle/>
          <a:p>
            <a:pPr indent="0" marL="0">
              <a:buNone/>
            </a:pPr>
            <a:r>
              <a:rPr lang="en-US" sz="1400" dirty="0">
                <a:solidFill>
                  <a:schemeClr val="tx1"/>
                </a:solidFill>
              </a:rPr>
              <a:t>The rest are reused from the shared provider; the same trees run under Apptainer and Charliecloud</a:t>
            </a:r>
            <a:endParaRPr lang="en-US" sz="1400" dirty="0"/>
          </a:p>
        </p:txBody>
      </p:sp>
      <p:sp>
        <p:nvSpPr>
          <p:cNvPr id="22" name="layered-result-1"/>
          <p:cNvSpPr/>
          <p:nvPr/>
        </p:nvSpPr>
        <p:spPr>
          <a:xfrm>
            <a:off x="6263640" y="3566160"/>
            <a:ext cx="5349240" cy="2011680"/>
          </a:xfrm>
          <a:prstGeom prst="roundRect">
            <a:avLst>
              <a:gd name="adj" fmla="val 3636"/>
            </a:avLst>
          </a:prstGeom>
          <a:solidFill>
            <a:schemeClr val="bg2"/>
          </a:solidFill>
          <a:ln/>
        </p:spPr>
      </p:sp>
      <p:sp>
        <p:nvSpPr>
          <p:cNvPr id="23" name="Text 21"/>
          <p:cNvSpPr txBox="1"/>
          <p:nvPr/>
        </p:nvSpPr>
        <p:spPr>
          <a:xfrm>
            <a:off x="6537960" y="3730752"/>
            <a:ext cx="4846320" cy="320040"/>
          </a:xfrm>
          <a:prstGeom prst="rect">
            <a:avLst/>
          </a:prstGeom>
          <a:noFill/>
          <a:ln/>
        </p:spPr>
        <p:txBody>
          <a:bodyPr wrap="square" lIns="0" tIns="0" rIns="0" bIns="0" rtlCol="0" anchor="ctr"/>
          <a:lstStyle/>
          <a:p>
            <a:pPr indent="0" marL="0">
              <a:buNone/>
            </a:pPr>
            <a:r>
              <a:rPr lang="en-US" sz="1300" b="1" dirty="0">
                <a:solidFill>
                  <a:schemeClr val="accent5"/>
                </a:solidFill>
              </a:rPr>
              <a:t>Each extra GPU target (Anvil)</a:t>
            </a:r>
            <a:endParaRPr lang="en-US" sz="1300" dirty="0"/>
          </a:p>
        </p:txBody>
      </p:sp>
      <p:sp>
        <p:nvSpPr>
          <p:cNvPr id="24" name="Text 22"/>
          <p:cNvSpPr txBox="1"/>
          <p:nvPr/>
        </p:nvSpPr>
        <p:spPr>
          <a:xfrm>
            <a:off x="6537960" y="4069080"/>
            <a:ext cx="2286000" cy="777240"/>
          </a:xfrm>
          <a:prstGeom prst="rect">
            <a:avLst/>
          </a:prstGeom>
          <a:noFill/>
          <a:ln/>
        </p:spPr>
        <p:txBody>
          <a:bodyPr wrap="square" lIns="0" tIns="0" rIns="0" bIns="0" rtlCol="0" anchor="ctr"/>
          <a:lstStyle/>
          <a:p>
            <a:pPr indent="0" marL="0">
              <a:buNone/>
            </a:pPr>
            <a:r>
              <a:rPr lang="en-US" sz="4000" b="1" dirty="0">
                <a:solidFill>
                  <a:schemeClr val="accent1"/>
                </a:solidFill>
              </a:rPr>
              <a:t>1,412</a:t>
            </a:r>
            <a:endParaRPr lang="en-US" sz="4000" dirty="0"/>
          </a:p>
        </p:txBody>
      </p:sp>
      <p:sp>
        <p:nvSpPr>
          <p:cNvPr id="25" name="Text 23"/>
          <p:cNvSpPr txBox="1"/>
          <p:nvPr/>
        </p:nvSpPr>
        <p:spPr>
          <a:xfrm>
            <a:off x="8869680" y="4069080"/>
            <a:ext cx="2560320" cy="777240"/>
          </a:xfrm>
          <a:prstGeom prst="rect">
            <a:avLst/>
          </a:prstGeom>
          <a:noFill/>
          <a:ln/>
        </p:spPr>
        <p:txBody>
          <a:bodyPr wrap="square" lIns="0" tIns="0" rIns="0" bIns="0" rtlCol="0" anchor="ctr"/>
          <a:lstStyle/>
          <a:p>
            <a:pPr indent="0" marL="0">
              <a:buNone/>
            </a:pPr>
            <a:r>
              <a:rPr lang="en-US" sz="1500" dirty="0">
                <a:solidFill>
                  <a:schemeClr val="tx1"/>
                </a:solidFill>
              </a:rPr>
              <a:t>files added, vs. 10,772 for a monolithic build</a:t>
            </a:r>
            <a:endParaRPr lang="en-US" sz="1500" dirty="0"/>
          </a:p>
        </p:txBody>
      </p:sp>
      <p:sp>
        <p:nvSpPr>
          <p:cNvPr id="26" name="Text 24"/>
          <p:cNvSpPr txBox="1"/>
          <p:nvPr/>
        </p:nvSpPr>
        <p:spPr>
          <a:xfrm>
            <a:off x="6537960" y="4892040"/>
            <a:ext cx="4892040" cy="594360"/>
          </a:xfrm>
          <a:prstGeom prst="rect">
            <a:avLst/>
          </a:prstGeom>
          <a:noFill/>
          <a:ln/>
        </p:spPr>
        <p:txBody>
          <a:bodyPr wrap="square" lIns="0" tIns="0" rIns="0" bIns="0" rtlCol="0" anchor="t"/>
          <a:lstStyle/>
          <a:p>
            <a:pPr indent="0" marL="0">
              <a:buNone/>
            </a:pPr>
            <a:r>
              <a:rPr lang="en-US" sz="1400" dirty="0">
                <a:solidFill>
                  <a:schemeClr val="tx1"/>
                </a:solidFill>
              </a:rPr>
              <a:t>Rebuilding a layer is 1.8–2.8× faster; application performance unchanged on A100 and H100</a:t>
            </a:r>
            <a:endParaRPr lang="en-US" sz="1400" dirty="0"/>
          </a:p>
        </p:txBody>
      </p:sp>
      <p:sp>
        <p:nvSpPr>
          <p:cNvPr id="27" name="poster-citation"/>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100" i="1" dirty="0">
                <a:solidFill>
                  <a:schemeClr val="accent5"/>
                </a:solidFill>
              </a:rPr>
              <a:t>P. Sinha, “Union of Containers: Layered Software Stacks with Cross-Container Dependency Reuse for HPC,” SC26 research poster, Tue Nov 17, 2026. Manuscript in preparation with S. Shende. Not part of the hands-on.</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Takeaways</a:t>
            </a:r>
            <a:endParaRPr lang="en-US" sz="3400" dirty="0"/>
          </a:p>
        </p:txBody>
      </p:sp>
      <p:sp>
        <p:nvSpPr>
          <p:cNvPr id="3" name="take-0"/>
          <p:cNvSpPr/>
          <p:nvPr/>
        </p:nvSpPr>
        <p:spPr>
          <a:xfrm>
            <a:off x="548640" y="1417320"/>
            <a:ext cx="5440680" cy="1965960"/>
          </a:xfrm>
          <a:prstGeom prst="roundRect">
            <a:avLst>
              <a:gd name="adj" fmla="val 3721"/>
            </a:avLst>
          </a:prstGeom>
          <a:solidFill>
            <a:schemeClr val="bg2"/>
          </a:solidFill>
          <a:ln/>
        </p:spPr>
      </p:sp>
      <p:sp>
        <p:nvSpPr>
          <p:cNvPr id="4" name="take-0-circle"/>
          <p:cNvSpPr/>
          <p:nvPr/>
        </p:nvSpPr>
        <p:spPr>
          <a:xfrm>
            <a:off x="822960" y="1737360"/>
            <a:ext cx="822960" cy="822960"/>
          </a:xfrm>
          <a:prstGeom prst="ellipse">
            <a:avLst/>
          </a:prstGeom>
          <a:solidFill>
            <a:srgbClr val="2F6E9E"/>
          </a:solidFill>
          <a:ln/>
        </p:spPr>
      </p:sp>
      <p:pic>
        <p:nvPicPr>
          <p:cNvPr id="5" name="take-0-icon" descr="take-0">    </p:cNvPr>
          <p:cNvPicPr>
            <a:picLocks noChangeAspect="1"/>
          </p:cNvPicPr>
          <p:nvPr/>
        </p:nvPicPr>
        <p:blipFill>
          <a:blip r:embed="rId1"/>
          <a:stretch>
            <a:fillRect/>
          </a:stretch>
        </p:blipFill>
        <p:spPr>
          <a:xfrm>
            <a:off x="1020470" y="1934870"/>
            <a:ext cx="427939" cy="427939"/>
          </a:xfrm>
          <a:prstGeom prst="rect">
            <a:avLst/>
          </a:prstGeom>
        </p:spPr>
      </p:pic>
      <p:sp>
        <p:nvSpPr>
          <p:cNvPr id="6" name="Text 3"/>
          <p:cNvSpPr txBox="1"/>
          <p:nvPr/>
        </p:nvSpPr>
        <p:spPr>
          <a:xfrm>
            <a:off x="1874520" y="1691640"/>
            <a:ext cx="3931920" cy="822960"/>
          </a:xfrm>
          <a:prstGeom prst="rect">
            <a:avLst/>
          </a:prstGeom>
          <a:noFill/>
          <a:ln/>
        </p:spPr>
        <p:txBody>
          <a:bodyPr wrap="square" lIns="0" tIns="0" rIns="0" bIns="0" rtlCol="0" anchor="ctr"/>
          <a:lstStyle/>
          <a:p>
            <a:pPr indent="0" marL="0">
              <a:buNone/>
            </a:pPr>
            <a:r>
              <a:rPr lang="en-US" sz="1900" b="1" dirty="0">
                <a:solidFill>
                  <a:schemeClr val="tx1"/>
                </a:solidFill>
              </a:rPr>
              <a:t>Apptainer runs containers as you</a:t>
            </a:r>
            <a:endParaRPr lang="en-US" sz="1900" dirty="0"/>
          </a:p>
        </p:txBody>
      </p:sp>
      <p:sp>
        <p:nvSpPr>
          <p:cNvPr id="7" name="Text 4"/>
          <p:cNvSpPr txBox="1"/>
          <p:nvPr/>
        </p:nvSpPr>
        <p:spPr>
          <a:xfrm>
            <a:off x="1874520" y="2514600"/>
            <a:ext cx="3931920" cy="731520"/>
          </a:xfrm>
          <a:prstGeom prst="rect">
            <a:avLst/>
          </a:prstGeom>
          <a:noFill/>
          <a:ln/>
        </p:spPr>
        <p:txBody>
          <a:bodyPr wrap="square" lIns="0" tIns="0" rIns="0" bIns="0" rtlCol="0" anchor="t"/>
          <a:lstStyle/>
          <a:p>
            <a:pPr indent="0" marL="0">
              <a:buNone/>
            </a:pPr>
            <a:r>
              <a:rPr lang="en-US" sz="1500" dirty="0">
                <a:solidFill>
                  <a:schemeClr val="tx1"/>
                </a:solidFill>
              </a:rPr>
              <a:t>No daemon, no root, one SIF file, works with Slurm.</a:t>
            </a:r>
            <a:endParaRPr lang="en-US" sz="1500" dirty="0"/>
          </a:p>
        </p:txBody>
      </p:sp>
      <p:sp>
        <p:nvSpPr>
          <p:cNvPr id="8" name="take-1"/>
          <p:cNvSpPr/>
          <p:nvPr/>
        </p:nvSpPr>
        <p:spPr>
          <a:xfrm>
            <a:off x="6172200" y="1417320"/>
            <a:ext cx="5440680" cy="1965960"/>
          </a:xfrm>
          <a:prstGeom prst="roundRect">
            <a:avLst>
              <a:gd name="adj" fmla="val 3721"/>
            </a:avLst>
          </a:prstGeom>
          <a:solidFill>
            <a:schemeClr val="bg2"/>
          </a:solidFill>
          <a:ln/>
        </p:spPr>
      </p:sp>
      <p:sp>
        <p:nvSpPr>
          <p:cNvPr id="9" name="take-1-circle"/>
          <p:cNvSpPr/>
          <p:nvPr/>
        </p:nvSpPr>
        <p:spPr>
          <a:xfrm>
            <a:off x="6446520" y="1737360"/>
            <a:ext cx="822960" cy="822960"/>
          </a:xfrm>
          <a:prstGeom prst="ellipse">
            <a:avLst/>
          </a:prstGeom>
          <a:solidFill>
            <a:srgbClr val="4E8A3C"/>
          </a:solidFill>
          <a:ln/>
        </p:spPr>
      </p:sp>
      <p:pic>
        <p:nvPicPr>
          <p:cNvPr id="10" name="take-1-icon" descr="take-1">    </p:cNvPr>
          <p:cNvPicPr>
            <a:picLocks noChangeAspect="1"/>
          </p:cNvPicPr>
          <p:nvPr/>
        </p:nvPicPr>
        <p:blipFill>
          <a:blip r:embed="rId2"/>
          <a:stretch>
            <a:fillRect/>
          </a:stretch>
        </p:blipFill>
        <p:spPr>
          <a:xfrm>
            <a:off x="6644030" y="1934870"/>
            <a:ext cx="427939" cy="427939"/>
          </a:xfrm>
          <a:prstGeom prst="rect">
            <a:avLst/>
          </a:prstGeom>
        </p:spPr>
      </p:pic>
      <p:sp>
        <p:nvSpPr>
          <p:cNvPr id="11" name="Text 7"/>
          <p:cNvSpPr txBox="1"/>
          <p:nvPr/>
        </p:nvSpPr>
        <p:spPr>
          <a:xfrm>
            <a:off x="7498080" y="1691640"/>
            <a:ext cx="3931920" cy="822960"/>
          </a:xfrm>
          <a:prstGeom prst="rect">
            <a:avLst/>
          </a:prstGeom>
          <a:noFill/>
          <a:ln/>
        </p:spPr>
        <p:txBody>
          <a:bodyPr wrap="square" lIns="0" tIns="0" rIns="0" bIns="0" rtlCol="0" anchor="ctr"/>
          <a:lstStyle/>
          <a:p>
            <a:pPr indent="0" marL="0">
              <a:buNone/>
            </a:pPr>
            <a:r>
              <a:rPr lang="en-US" sz="1900" b="1" dirty="0">
                <a:solidFill>
                  <a:schemeClr val="tx1"/>
                </a:solidFill>
              </a:rPr>
              <a:t>E4S images replace installs</a:t>
            </a:r>
            <a:endParaRPr lang="en-US" sz="1900" dirty="0"/>
          </a:p>
        </p:txBody>
      </p:sp>
      <p:sp>
        <p:nvSpPr>
          <p:cNvPr id="12" name="Text 8"/>
          <p:cNvSpPr txBox="1"/>
          <p:nvPr/>
        </p:nvSpPr>
        <p:spPr>
          <a:xfrm>
            <a:off x="7498080" y="2514600"/>
            <a:ext cx="3931920" cy="731520"/>
          </a:xfrm>
          <a:prstGeom prst="rect">
            <a:avLst/>
          </a:prstGeom>
          <a:noFill/>
          <a:ln/>
        </p:spPr>
        <p:txBody>
          <a:bodyPr wrap="square" lIns="0" tIns="0" rIns="0" bIns="0" rtlCol="0" anchor="t"/>
          <a:lstStyle/>
          <a:p>
            <a:pPr indent="0" marL="0">
              <a:buNone/>
            </a:pPr>
            <a:r>
              <a:rPr lang="en-US" sz="1500" dirty="0">
                <a:solidFill>
                  <a:schemeClr val="tx1"/>
                </a:solidFill>
              </a:rPr>
              <a:t>600+ co-tested packages; inspect variants before relying on them.</a:t>
            </a:r>
            <a:endParaRPr lang="en-US" sz="1500" dirty="0"/>
          </a:p>
        </p:txBody>
      </p:sp>
      <p:sp>
        <p:nvSpPr>
          <p:cNvPr id="13" name="take-2"/>
          <p:cNvSpPr/>
          <p:nvPr/>
        </p:nvSpPr>
        <p:spPr>
          <a:xfrm>
            <a:off x="548640" y="3611880"/>
            <a:ext cx="5440680" cy="1965960"/>
          </a:xfrm>
          <a:prstGeom prst="roundRect">
            <a:avLst>
              <a:gd name="adj" fmla="val 3721"/>
            </a:avLst>
          </a:prstGeom>
          <a:solidFill>
            <a:schemeClr val="bg2"/>
          </a:solidFill>
          <a:ln/>
        </p:spPr>
      </p:sp>
      <p:sp>
        <p:nvSpPr>
          <p:cNvPr id="14" name="take-2-circle"/>
          <p:cNvSpPr/>
          <p:nvPr/>
        </p:nvSpPr>
        <p:spPr>
          <a:xfrm>
            <a:off x="822960" y="3931920"/>
            <a:ext cx="822960" cy="822960"/>
          </a:xfrm>
          <a:prstGeom prst="ellipse">
            <a:avLst/>
          </a:prstGeom>
          <a:solidFill>
            <a:srgbClr val="E0731F"/>
          </a:solidFill>
          <a:ln/>
        </p:spPr>
      </p:sp>
      <p:pic>
        <p:nvPicPr>
          <p:cNvPr id="15" name="take-2-icon" descr="take-2">    </p:cNvPr>
          <p:cNvPicPr>
            <a:picLocks noChangeAspect="1"/>
          </p:cNvPicPr>
          <p:nvPr/>
        </p:nvPicPr>
        <p:blipFill>
          <a:blip r:embed="rId3"/>
          <a:stretch>
            <a:fillRect/>
          </a:stretch>
        </p:blipFill>
        <p:spPr>
          <a:xfrm>
            <a:off x="1020470" y="4129430"/>
            <a:ext cx="427939" cy="427939"/>
          </a:xfrm>
          <a:prstGeom prst="rect">
            <a:avLst/>
          </a:prstGeom>
        </p:spPr>
      </p:pic>
      <p:sp>
        <p:nvSpPr>
          <p:cNvPr id="16" name="Text 11"/>
          <p:cNvSpPr txBox="1"/>
          <p:nvPr/>
        </p:nvSpPr>
        <p:spPr>
          <a:xfrm>
            <a:off x="1874520" y="3886200"/>
            <a:ext cx="3931920" cy="822960"/>
          </a:xfrm>
          <a:prstGeom prst="rect">
            <a:avLst/>
          </a:prstGeom>
          <a:noFill/>
          <a:ln/>
        </p:spPr>
        <p:txBody>
          <a:bodyPr wrap="square" lIns="0" tIns="0" rIns="0" bIns="0" rtlCol="0" anchor="ctr"/>
          <a:lstStyle/>
          <a:p>
            <a:pPr indent="0" marL="0">
              <a:buNone/>
            </a:pPr>
            <a:r>
              <a:rPr lang="en-US" sz="1900" b="1" dirty="0">
                <a:solidFill>
                  <a:schemeClr val="tx1"/>
                </a:solidFill>
              </a:rPr>
              <a:t>e4s-cl gives container MPI native speed</a:t>
            </a:r>
            <a:endParaRPr lang="en-US" sz="1900" dirty="0"/>
          </a:p>
        </p:txBody>
      </p:sp>
      <p:sp>
        <p:nvSpPr>
          <p:cNvPr id="17" name="Text 12"/>
          <p:cNvSpPr txBox="1"/>
          <p:nvPr/>
        </p:nvSpPr>
        <p:spPr>
          <a:xfrm>
            <a:off x="1874520" y="4709160"/>
            <a:ext cx="3931920" cy="731520"/>
          </a:xfrm>
          <a:prstGeom prst="rect">
            <a:avLst/>
          </a:prstGeom>
          <a:noFill/>
          <a:ln/>
        </p:spPr>
        <p:txBody>
          <a:bodyPr wrap="square" lIns="0" tIns="0" rIns="0" bIns="0" rtlCol="0" anchor="t"/>
          <a:lstStyle/>
          <a:p>
            <a:pPr indent="0" marL="0">
              <a:buNone/>
            </a:pPr>
            <a:r>
              <a:rPr lang="en-US" sz="1500" dirty="0">
                <a:solidFill>
                  <a:schemeClr val="tx1"/>
                </a:solidFill>
              </a:rPr>
              <a:t>Same binary, host MPI: 1.6 µs and 11.8 GB/s across nodes.</a:t>
            </a:r>
            <a:endParaRPr lang="en-US" sz="1500" dirty="0"/>
          </a:p>
        </p:txBody>
      </p:sp>
      <p:sp>
        <p:nvSpPr>
          <p:cNvPr id="18" name="take-3"/>
          <p:cNvSpPr/>
          <p:nvPr/>
        </p:nvSpPr>
        <p:spPr>
          <a:xfrm>
            <a:off x="6172200" y="3611880"/>
            <a:ext cx="5440680" cy="1965960"/>
          </a:xfrm>
          <a:prstGeom prst="roundRect">
            <a:avLst>
              <a:gd name="adj" fmla="val 3721"/>
            </a:avLst>
          </a:prstGeom>
          <a:solidFill>
            <a:schemeClr val="bg2"/>
          </a:solidFill>
          <a:ln/>
        </p:spPr>
      </p:sp>
      <p:sp>
        <p:nvSpPr>
          <p:cNvPr id="19" name="take-3-circle"/>
          <p:cNvSpPr/>
          <p:nvPr/>
        </p:nvSpPr>
        <p:spPr>
          <a:xfrm>
            <a:off x="6446520" y="3931920"/>
            <a:ext cx="822960" cy="822960"/>
          </a:xfrm>
          <a:prstGeom prst="ellipse">
            <a:avLst/>
          </a:prstGeom>
          <a:solidFill>
            <a:srgbClr val="800000"/>
          </a:solidFill>
          <a:ln/>
        </p:spPr>
      </p:sp>
      <p:pic>
        <p:nvPicPr>
          <p:cNvPr id="20" name="take-3-icon" descr="take-3">    </p:cNvPr>
          <p:cNvPicPr>
            <a:picLocks noChangeAspect="1"/>
          </p:cNvPicPr>
          <p:nvPr/>
        </p:nvPicPr>
        <p:blipFill>
          <a:blip r:embed="rId4"/>
          <a:stretch>
            <a:fillRect/>
          </a:stretch>
        </p:blipFill>
        <p:spPr>
          <a:xfrm>
            <a:off x="6644030" y="4129430"/>
            <a:ext cx="427939" cy="427939"/>
          </a:xfrm>
          <a:prstGeom prst="rect">
            <a:avLst/>
          </a:prstGeom>
        </p:spPr>
      </p:pic>
      <p:sp>
        <p:nvSpPr>
          <p:cNvPr id="21" name="Text 15"/>
          <p:cNvSpPr txBox="1"/>
          <p:nvPr/>
        </p:nvSpPr>
        <p:spPr>
          <a:xfrm>
            <a:off x="7498080" y="3886200"/>
            <a:ext cx="3931920" cy="822960"/>
          </a:xfrm>
          <a:prstGeom prst="rect">
            <a:avLst/>
          </a:prstGeom>
          <a:noFill/>
          <a:ln/>
        </p:spPr>
        <p:txBody>
          <a:bodyPr wrap="square" lIns="0" tIns="0" rIns="0" bIns="0" rtlCol="0" anchor="ctr"/>
          <a:lstStyle/>
          <a:p>
            <a:pPr indent="0" marL="0">
              <a:buNone/>
            </a:pPr>
            <a:r>
              <a:rPr lang="en-US" sz="1900" b="1" dirty="0">
                <a:solidFill>
                  <a:schemeClr val="tx1"/>
                </a:solidFill>
              </a:rPr>
              <a:t>e4s-alc customizes images</a:t>
            </a:r>
            <a:endParaRPr lang="en-US" sz="1900" dirty="0"/>
          </a:p>
        </p:txBody>
      </p:sp>
      <p:sp>
        <p:nvSpPr>
          <p:cNvPr id="22" name="Text 16"/>
          <p:cNvSpPr txBox="1"/>
          <p:nvPr/>
        </p:nvSpPr>
        <p:spPr>
          <a:xfrm>
            <a:off x="7498080" y="4709160"/>
            <a:ext cx="3931920" cy="731520"/>
          </a:xfrm>
          <a:prstGeom prst="rect">
            <a:avLst/>
          </a:prstGeom>
          <a:noFill/>
          <a:ln/>
        </p:spPr>
        <p:txBody>
          <a:bodyPr wrap="square" lIns="0" tIns="0" rIns="0" bIns="0" rtlCol="0" anchor="t"/>
          <a:lstStyle/>
          <a:p>
            <a:pPr indent="0" marL="0">
              <a:buNone/>
            </a:pPr>
            <a:r>
              <a:rPr lang="en-US" sz="1500" dirty="0">
                <a:solidFill>
                  <a:schemeClr val="tx1"/>
                </a:solidFill>
              </a:rPr>
              <a:t>YAML recipe, binaries from the E4S cache, a new image in minutes.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Keep going</a:t>
            </a:r>
            <a:endParaRPr lang="en-US" sz="3400" dirty="0"/>
          </a:p>
        </p:txBody>
      </p:sp>
      <p:sp>
        <p:nvSpPr>
          <p:cNvPr id="3" name="Text 1"/>
          <p:cNvSpPr txBox="1"/>
          <p:nvPr/>
        </p:nvSpPr>
        <p:spPr>
          <a:xfrm>
            <a:off x="548640" y="1325880"/>
            <a:ext cx="2194560" cy="457200"/>
          </a:xfrm>
          <a:prstGeom prst="rect">
            <a:avLst/>
          </a:prstGeom>
          <a:noFill/>
          <a:ln/>
        </p:spPr>
        <p:txBody>
          <a:bodyPr wrap="square" lIns="0" tIns="0" rIns="0" bIns="0" rtlCol="0" anchor="ctr"/>
          <a:lstStyle/>
          <a:p>
            <a:pPr indent="0" marL="0">
              <a:buNone/>
            </a:pPr>
            <a:r>
              <a:rPr lang="en-US" sz="1800" b="1" dirty="0">
                <a:solidFill>
                  <a:schemeClr val="accent1"/>
                </a:solidFill>
              </a:rPr>
              <a:t>E4S</a:t>
            </a:r>
            <a:endParaRPr lang="en-US" sz="1800" dirty="0"/>
          </a:p>
        </p:txBody>
      </p:sp>
      <p:sp>
        <p:nvSpPr>
          <p:cNvPr id="4" name="Text 2"/>
          <p:cNvSpPr txBox="1"/>
          <p:nvPr/>
        </p:nvSpPr>
        <p:spPr>
          <a:xfrm>
            <a:off x="2743200" y="1325880"/>
            <a:ext cx="8869680" cy="457200"/>
          </a:xfrm>
          <a:prstGeom prst="rect">
            <a:avLst/>
          </a:prstGeom>
          <a:noFill/>
          <a:ln/>
        </p:spPr>
        <p:txBody>
          <a:bodyPr wrap="square" lIns="0" tIns="0" rIns="0" bIns="0" rtlCol="0" anchor="ctr"/>
          <a:lstStyle/>
          <a:p>
            <a:pPr indent="0" marL="0">
              <a:buNone/>
            </a:pPr>
            <a:r>
              <a:rPr lang="en-US" sz="1700" dirty="0">
                <a:solidFill>
                  <a:schemeClr val="tx1"/>
                </a:solidFill>
              </a:rPr>
              <a:t>e4s.io  ·  e4s.io/container-download  ·  e4s.io/e4s-buildcache</a:t>
            </a:r>
            <a:endParaRPr lang="en-US" sz="1700" dirty="0"/>
          </a:p>
        </p:txBody>
      </p:sp>
      <p:sp>
        <p:nvSpPr>
          <p:cNvPr id="5" name="Text 3"/>
          <p:cNvSpPr txBox="1"/>
          <p:nvPr/>
        </p:nvSpPr>
        <p:spPr>
          <a:xfrm>
            <a:off x="548640" y="1874520"/>
            <a:ext cx="2194560" cy="457200"/>
          </a:xfrm>
          <a:prstGeom prst="rect">
            <a:avLst/>
          </a:prstGeom>
          <a:noFill/>
          <a:ln/>
        </p:spPr>
        <p:txBody>
          <a:bodyPr wrap="square" lIns="0" tIns="0" rIns="0" bIns="0" rtlCol="0" anchor="ctr"/>
          <a:lstStyle/>
          <a:p>
            <a:pPr indent="0" marL="0">
              <a:buNone/>
            </a:pPr>
            <a:r>
              <a:rPr lang="en-US" sz="1800" b="1" dirty="0">
                <a:solidFill>
                  <a:schemeClr val="accent1"/>
                </a:solidFill>
              </a:rPr>
              <a:t>E4S tools</a:t>
            </a:r>
            <a:endParaRPr lang="en-US" sz="1800" dirty="0"/>
          </a:p>
        </p:txBody>
      </p:sp>
      <p:sp>
        <p:nvSpPr>
          <p:cNvPr id="6" name="Text 4"/>
          <p:cNvSpPr txBox="1"/>
          <p:nvPr/>
        </p:nvSpPr>
        <p:spPr>
          <a:xfrm>
            <a:off x="2743200" y="1874520"/>
            <a:ext cx="8869680" cy="457200"/>
          </a:xfrm>
          <a:prstGeom prst="rect">
            <a:avLst/>
          </a:prstGeom>
          <a:noFill/>
          <a:ln/>
        </p:spPr>
        <p:txBody>
          <a:bodyPr wrap="square" lIns="0" tIns="0" rIns="0" bIns="0" rtlCol="0" anchor="ctr"/>
          <a:lstStyle/>
          <a:p>
            <a:pPr indent="0" marL="0">
              <a:buNone/>
            </a:pPr>
            <a:r>
              <a:rPr lang="en-US" sz="1700" dirty="0">
                <a:solidFill>
                  <a:schemeClr val="tx1"/>
                </a:solidFill>
              </a:rPr>
              <a:t>e4s-cl.readthedocs.io  ·  e4s-alc.readthedocs.io  ·  github.com/E4S-Project</a:t>
            </a:r>
            <a:endParaRPr lang="en-US" sz="1700" dirty="0"/>
          </a:p>
        </p:txBody>
      </p:sp>
      <p:sp>
        <p:nvSpPr>
          <p:cNvPr id="7" name="Text 5"/>
          <p:cNvSpPr txBox="1"/>
          <p:nvPr/>
        </p:nvSpPr>
        <p:spPr>
          <a:xfrm>
            <a:off x="548640" y="2423160"/>
            <a:ext cx="2194560" cy="457200"/>
          </a:xfrm>
          <a:prstGeom prst="rect">
            <a:avLst/>
          </a:prstGeom>
          <a:noFill/>
          <a:ln/>
        </p:spPr>
        <p:txBody>
          <a:bodyPr wrap="square" lIns="0" tIns="0" rIns="0" bIns="0" rtlCol="0" anchor="ctr"/>
          <a:lstStyle/>
          <a:p>
            <a:pPr indent="0" marL="0">
              <a:buNone/>
            </a:pPr>
            <a:r>
              <a:rPr lang="en-US" sz="1800" b="1" dirty="0">
                <a:solidFill>
                  <a:schemeClr val="accent1"/>
                </a:solidFill>
              </a:rPr>
              <a:t>Examples</a:t>
            </a:r>
            <a:endParaRPr lang="en-US" sz="1800" dirty="0"/>
          </a:p>
        </p:txBody>
      </p:sp>
      <p:sp>
        <p:nvSpPr>
          <p:cNvPr id="8" name="Text 6"/>
          <p:cNvSpPr txBox="1"/>
          <p:nvPr/>
        </p:nvSpPr>
        <p:spPr>
          <a:xfrm>
            <a:off x="2743200" y="2423160"/>
            <a:ext cx="8869680" cy="457200"/>
          </a:xfrm>
          <a:prstGeom prst="rect">
            <a:avLst/>
          </a:prstGeom>
          <a:noFill/>
          <a:ln/>
        </p:spPr>
        <p:txBody>
          <a:bodyPr wrap="square" lIns="0" tIns="0" rIns="0" bIns="0" rtlCol="0" anchor="ctr"/>
          <a:lstStyle/>
          <a:p>
            <a:pPr indent="0" marL="0">
              <a:buNone/>
            </a:pPr>
            <a:r>
              <a:rPr lang="en-US" sz="1700" dirty="0">
                <a:solidFill>
                  <a:schemeClr val="tx1"/>
                </a:solidFill>
              </a:rPr>
              <a:t>github.com/ParaToolsInc/e4s-cloud-examples (LAMMPS, PETSc, OSU, hypre, …)</a:t>
            </a:r>
            <a:endParaRPr lang="en-US" sz="1700" dirty="0"/>
          </a:p>
        </p:txBody>
      </p:sp>
      <p:sp>
        <p:nvSpPr>
          <p:cNvPr id="9" name="Text 7"/>
          <p:cNvSpPr txBox="1"/>
          <p:nvPr/>
        </p:nvSpPr>
        <p:spPr>
          <a:xfrm>
            <a:off x="548640" y="2971800"/>
            <a:ext cx="2194560" cy="457200"/>
          </a:xfrm>
          <a:prstGeom prst="rect">
            <a:avLst/>
          </a:prstGeom>
          <a:noFill/>
          <a:ln/>
        </p:spPr>
        <p:txBody>
          <a:bodyPr wrap="square" lIns="0" tIns="0" rIns="0" bIns="0" rtlCol="0" anchor="ctr"/>
          <a:lstStyle/>
          <a:p>
            <a:pPr indent="0" marL="0">
              <a:buNone/>
            </a:pPr>
            <a:r>
              <a:rPr lang="en-US" sz="1800" b="1" dirty="0">
                <a:solidFill>
                  <a:schemeClr val="accent1"/>
                </a:solidFill>
              </a:rPr>
              <a:t>Apptainer</a:t>
            </a:r>
            <a:endParaRPr lang="en-US" sz="1800" dirty="0"/>
          </a:p>
        </p:txBody>
      </p:sp>
      <p:sp>
        <p:nvSpPr>
          <p:cNvPr id="10" name="Text 8"/>
          <p:cNvSpPr txBox="1"/>
          <p:nvPr/>
        </p:nvSpPr>
        <p:spPr>
          <a:xfrm>
            <a:off x="2743200" y="2971800"/>
            <a:ext cx="8869680" cy="457200"/>
          </a:xfrm>
          <a:prstGeom prst="rect">
            <a:avLst/>
          </a:prstGeom>
          <a:noFill/>
          <a:ln/>
        </p:spPr>
        <p:txBody>
          <a:bodyPr wrap="square" lIns="0" tIns="0" rIns="0" bIns="0" rtlCol="0" anchor="ctr"/>
          <a:lstStyle/>
          <a:p>
            <a:pPr indent="0" marL="0">
              <a:buNone/>
            </a:pPr>
            <a:r>
              <a:rPr lang="en-US" sz="1700" dirty="0">
                <a:solidFill>
                  <a:schemeClr val="tx1"/>
                </a:solidFill>
              </a:rPr>
              <a:t>apptainer.org/docs/user/latest</a:t>
            </a:r>
            <a:endParaRPr lang="en-US" sz="1700" dirty="0"/>
          </a:p>
        </p:txBody>
      </p:sp>
      <p:sp>
        <p:nvSpPr>
          <p:cNvPr id="11" name="Text 9"/>
          <p:cNvSpPr txBox="1"/>
          <p:nvPr/>
        </p:nvSpPr>
        <p:spPr>
          <a:xfrm>
            <a:off x="548640" y="3520440"/>
            <a:ext cx="2194560" cy="457200"/>
          </a:xfrm>
          <a:prstGeom prst="rect">
            <a:avLst/>
          </a:prstGeom>
          <a:noFill/>
          <a:ln/>
        </p:spPr>
        <p:txBody>
          <a:bodyPr wrap="square" lIns="0" tIns="0" rIns="0" bIns="0" rtlCol="0" anchor="ctr"/>
          <a:lstStyle/>
          <a:p>
            <a:pPr indent="0" marL="0">
              <a:buNone/>
            </a:pPr>
            <a:r>
              <a:rPr lang="en-US" sz="1800" b="1" dirty="0">
                <a:solidFill>
                  <a:schemeClr val="accent1"/>
                </a:solidFill>
              </a:rPr>
              <a:t>Today's labs</a:t>
            </a:r>
            <a:endParaRPr lang="en-US" sz="1800" dirty="0"/>
          </a:p>
        </p:txBody>
      </p:sp>
      <p:sp>
        <p:nvSpPr>
          <p:cNvPr id="12" name="Text 10"/>
          <p:cNvSpPr txBox="1"/>
          <p:nvPr/>
        </p:nvSpPr>
        <p:spPr>
          <a:xfrm>
            <a:off x="2743200" y="3520440"/>
            <a:ext cx="8869680" cy="457200"/>
          </a:xfrm>
          <a:prstGeom prst="rect">
            <a:avLst/>
          </a:prstGeom>
          <a:noFill/>
          <a:ln/>
        </p:spPr>
        <p:txBody>
          <a:bodyPr wrap="square" lIns="0" tIns="0" rIns="0" bIns="0" rtlCol="0" anchor="ctr"/>
          <a:lstStyle/>
          <a:p>
            <a:pPr indent="0" marL="0">
              <a:buNone/>
            </a:pPr>
            <a:r>
              <a:rPr lang="en-US" sz="1700" dirty="0">
                <a:solidFill>
                  <a:schemeClr val="tx1"/>
                </a:solidFill>
              </a:rPr>
              <a:t>/project/rcc/workshops/e4s/labs  ·  LAB_GUIDE.md</a:t>
            </a:r>
            <a:endParaRPr lang="en-US" sz="1700" dirty="0"/>
          </a:p>
        </p:txBody>
      </p:sp>
      <p:sp>
        <p:nvSpPr>
          <p:cNvPr id="13" name="Text 11"/>
          <p:cNvSpPr txBox="1"/>
          <p:nvPr/>
        </p:nvSpPr>
        <p:spPr>
          <a:xfrm>
            <a:off x="548640" y="4069080"/>
            <a:ext cx="2194560" cy="457200"/>
          </a:xfrm>
          <a:prstGeom prst="rect">
            <a:avLst/>
          </a:prstGeom>
          <a:noFill/>
          <a:ln/>
        </p:spPr>
        <p:txBody>
          <a:bodyPr wrap="square" lIns="0" tIns="0" rIns="0" bIns="0" rtlCol="0" anchor="ctr"/>
          <a:lstStyle/>
          <a:p>
            <a:pPr indent="0" marL="0">
              <a:buNone/>
            </a:pPr>
            <a:r>
              <a:rPr lang="en-US" sz="1800" b="1" dirty="0">
                <a:solidFill>
                  <a:schemeClr val="accent1"/>
                </a:solidFill>
              </a:rPr>
              <a:t>RCC help</a:t>
            </a:r>
            <a:endParaRPr lang="en-US" sz="1800" dirty="0"/>
          </a:p>
        </p:txBody>
      </p:sp>
      <p:sp>
        <p:nvSpPr>
          <p:cNvPr id="14" name="Text 12"/>
          <p:cNvSpPr txBox="1"/>
          <p:nvPr/>
        </p:nvSpPr>
        <p:spPr>
          <a:xfrm>
            <a:off x="2743200" y="4069080"/>
            <a:ext cx="8869680" cy="457200"/>
          </a:xfrm>
          <a:prstGeom prst="rect">
            <a:avLst/>
          </a:prstGeom>
          <a:noFill/>
          <a:ln/>
        </p:spPr>
        <p:txBody>
          <a:bodyPr wrap="square" lIns="0" tIns="0" rIns="0" bIns="0" rtlCol="0" anchor="ctr"/>
          <a:lstStyle/>
          <a:p>
            <a:pPr indent="0" marL="0">
              <a:buNone/>
            </a:pPr>
            <a:r>
              <a:rPr lang="en-US" sz="1700" dirty="0">
                <a:solidFill>
                  <a:schemeClr val="tx1"/>
                </a:solidFill>
              </a:rPr>
              <a:t>help@rcc.uchicago.edu  ·  RCC container workshops for building images</a:t>
            </a:r>
            <a:endParaRPr lang="en-US" sz="1700" dirty="0"/>
          </a:p>
        </p:txBody>
      </p:sp>
      <p:sp>
        <p:nvSpPr>
          <p:cNvPr id="15" name="sc26-card"/>
          <p:cNvSpPr/>
          <p:nvPr/>
        </p:nvSpPr>
        <p:spPr>
          <a:xfrm>
            <a:off x="548640" y="4663440"/>
            <a:ext cx="11064240" cy="1417320"/>
          </a:xfrm>
          <a:prstGeom prst="roundRect">
            <a:avLst>
              <a:gd name="adj" fmla="val 5161"/>
            </a:avLst>
          </a:prstGeom>
          <a:solidFill>
            <a:schemeClr val="bg2"/>
          </a:solidFill>
          <a:ln/>
        </p:spPr>
      </p:sp>
      <p:sp>
        <p:nvSpPr>
          <p:cNvPr id="16" name="sc26-circle"/>
          <p:cNvSpPr/>
          <p:nvPr/>
        </p:nvSpPr>
        <p:spPr>
          <a:xfrm>
            <a:off x="822960" y="4956048"/>
            <a:ext cx="822960" cy="822960"/>
          </a:xfrm>
          <a:prstGeom prst="ellipse">
            <a:avLst/>
          </a:prstGeom>
          <a:solidFill>
            <a:srgbClr val="2F6E9E"/>
          </a:solidFill>
          <a:ln/>
        </p:spPr>
      </p:sp>
      <p:pic>
        <p:nvPicPr>
          <p:cNvPr id="17" name="sc26-icon" descr="sc26">    </p:cNvPr>
          <p:cNvPicPr>
            <a:picLocks noChangeAspect="1"/>
          </p:cNvPicPr>
          <p:nvPr/>
        </p:nvPicPr>
        <p:blipFill>
          <a:blip r:embed="rId1"/>
          <a:stretch>
            <a:fillRect/>
          </a:stretch>
        </p:blipFill>
        <p:spPr>
          <a:xfrm>
            <a:off x="1020470" y="5153558"/>
            <a:ext cx="427939" cy="427939"/>
          </a:xfrm>
          <a:prstGeom prst="rect">
            <a:avLst/>
          </a:prstGeom>
        </p:spPr>
      </p:pic>
      <p:sp>
        <p:nvSpPr>
          <p:cNvPr id="18" name="Text 15"/>
          <p:cNvSpPr txBox="1"/>
          <p:nvPr/>
        </p:nvSpPr>
        <p:spPr>
          <a:xfrm>
            <a:off x="1874520" y="4773168"/>
            <a:ext cx="9509760" cy="365760"/>
          </a:xfrm>
          <a:prstGeom prst="rect">
            <a:avLst/>
          </a:prstGeom>
          <a:noFill/>
          <a:ln/>
        </p:spPr>
        <p:txBody>
          <a:bodyPr wrap="square" lIns="0" tIns="0" rIns="0" bIns="0" rtlCol="0" anchor="ctr"/>
          <a:lstStyle/>
          <a:p>
            <a:pPr indent="0" marL="0">
              <a:buNone/>
            </a:pPr>
            <a:r>
              <a:rPr lang="en-US" sz="1800" b="1" dirty="0">
                <a:solidFill>
                  <a:schemeClr val="tx1"/>
                </a:solidFill>
              </a:rPr>
              <a:t>Continue at SC26</a:t>
            </a:r>
            <a:endParaRPr lang="en-US" sz="1800" dirty="0"/>
          </a:p>
        </p:txBody>
      </p:sp>
      <p:sp>
        <p:nvSpPr>
          <p:cNvPr id="19" name="sc26-sessions"/>
          <p:cNvSpPr txBox="1"/>
          <p:nvPr/>
        </p:nvSpPr>
        <p:spPr>
          <a:xfrm>
            <a:off x="1874520" y="5193792"/>
            <a:ext cx="9601200" cy="7772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Mon Nov 16, 9:00 AM, W175a: </a:t>
            </a:r>
            <a:r>
              <a:rPr lang="en-US" sz="1500" dirty="0">
                <a:solidFill>
                  <a:schemeClr val="tx1"/>
                </a:solidFill>
              </a:rPr>
              <a:t>S. Shende, “E4S: An HPC-AI Software Ecosystem for Science”</a:t>
            </a:r>
            <a:endParaRPr lang="en-US" sz="1500" dirty="0"/>
          </a:p>
          <a:p>
            <a:pPr indent="0" marL="0">
              <a:spcAft>
                <a:spcPts val="400"/>
              </a:spcAft>
              <a:buNone/>
            </a:pPr>
            <a:r>
              <a:rPr lang="en-US" sz="1500" b="1" dirty="0">
                <a:solidFill>
                  <a:schemeClr val="tx1"/>
                </a:solidFill>
              </a:rPr>
              <a:t>Tue Nov 17, poster session: </a:t>
            </a:r>
            <a:r>
              <a:rPr lang="en-US" sz="1500" dirty="0">
                <a:solidFill>
                  <a:schemeClr val="tx1"/>
                </a:solidFill>
              </a:rPr>
              <a:t>P. Sinha, “Union of Containers” (the layered E4S work on slide 29)</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3749040"/>
            <a:ext cx="10698480" cy="731520"/>
          </a:xfrm>
          <a:prstGeom prst="rect">
            <a:avLst/>
          </a:prstGeom>
          <a:noFill/>
          <a:ln/>
        </p:spPr>
        <p:txBody>
          <a:bodyPr wrap="square" lIns="0" tIns="0" rIns="0" bIns="0" rtlCol="0"/>
          <a:lstStyle/>
          <a:p>
            <a:pPr indent="0" marL="0">
              <a:buNone/>
            </a:pPr>
            <a:r>
              <a:rPr lang="en-US" sz="2200" dirty="0">
                <a:solidFill>
                  <a:schemeClr val="accent1"/>
                </a:solidFill>
              </a:rPr>
              <a:t>Questions?</a:t>
            </a:r>
            <a:endParaRPr lang="en-US" sz="2200" dirty="0"/>
          </a:p>
        </p:txBody>
      </p:sp>
      <p:sp>
        <p:nvSpPr>
          <p:cNvPr id="4" name="Text 0"/>
          <p:cNvSpPr/>
          <p:nvPr>
            <p:ph idx="102" type="body" hasCustomPrompt="1"/>
          </p:nvPr>
        </p:nvSpPr>
        <p:spPr>
          <a:xfrm>
            <a:off x="731520" y="4846320"/>
            <a:ext cx="10698480" cy="1280160"/>
          </a:xfrm>
          <a:prstGeom prst="rect">
            <a:avLst/>
          </a:prstGeom>
          <a:noFill/>
          <a:ln/>
        </p:spPr>
        <p:txBody>
          <a:bodyPr wrap="square" lIns="0" tIns="0" rIns="0" bIns="0" rtlCol="0" anchor="t"/>
          <a:lstStyle/>
          <a:p>
            <a:pPr indent="0" marL="0">
              <a:buNone/>
            </a:pPr>
            <a:r>
              <a:rPr lang="en-US" sz="1600" dirty="0">
                <a:solidFill>
                  <a:schemeClr val="bg2"/>
                </a:solidFill>
              </a:rPr>
              <a:t>Portions of this workshop are adapted from E4S tutorials by Sameer Shende (University of Oregon / ParaTools, Inc.) and the ParaTools e4s-cloud-examples, used with permission.</a:t>
            </a:r>
            <a:endParaRPr lang="en-US" sz="1600" dirty="0"/>
          </a:p>
          <a:p>
            <a:pPr indent="0" marL="0">
              <a:buNone/>
            </a:pPr>
            <a:r>
              <a:rPr lang="en-US" sz="1600" dirty="0">
                <a:solidFill>
                  <a:schemeClr val="bg2"/>
                </a:solidFill>
              </a:rPr>
              <a:t>E4S is supported by DOE ASCR and the High Performance Software Foundation. Measurements: RCC Midway3, October 2026.</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Questions? Your own case after today</a:t>
            </a:r>
            <a:endParaRPr lang="en-US" sz="3400" dirty="0"/>
          </a:p>
        </p:txBody>
      </p:sp>
      <p:sp>
        <p:nvSpPr>
          <p:cNvPr id="3" name="followup-email"/>
          <p:cNvSpPr/>
          <p:nvPr/>
        </p:nvSpPr>
        <p:spPr>
          <a:xfrm>
            <a:off x="548640" y="1371600"/>
            <a:ext cx="6675120" cy="2373782"/>
          </a:xfrm>
          <a:prstGeom prst="roundRect">
            <a:avLst>
              <a:gd name="adj" fmla="val 3082"/>
            </a:avLst>
          </a:prstGeom>
          <a:solidFill>
            <a:schemeClr val="tx1"/>
          </a:solidFill>
          <a:ln/>
        </p:spPr>
      </p:sp>
      <p:sp>
        <p:nvSpPr>
          <p:cNvPr id="4" name="followup-email-text"/>
          <p:cNvSpPr txBox="1"/>
          <p:nvPr/>
        </p:nvSpPr>
        <p:spPr>
          <a:xfrm>
            <a:off x="731520" y="1481328"/>
            <a:ext cx="6309360" cy="2154326"/>
          </a:xfrm>
          <a:prstGeom prst="rect">
            <a:avLst/>
          </a:prstGeom>
          <a:noFill/>
          <a:ln/>
        </p:spPr>
        <p:txBody>
          <a:bodyPr wrap="square" lIns="0" tIns="0" rIns="0" bIns="0" rtlCol="0" anchor="t"/>
          <a:lstStyle/>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To:      help@rcc.uchicago.edu</a:t>
            </a:r>
            <a:endParaRPr lang="en-US" sz="1500" dirty="0"/>
          </a:p>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Subject: [E4S workshop] &lt;software&gt;: &lt;one-line problem&gt;</a:t>
            </a:r>
            <a:endParaRPr lang="en-US" sz="1500" dirty="0"/>
          </a:p>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CNetID and PI account:</a:t>
            </a:r>
            <a:endParaRPr lang="en-US" sz="1500" dirty="0"/>
          </a:p>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Software and version:</a:t>
            </a:r>
            <a:endParaRPr lang="en-US" sz="1500" dirty="0"/>
          </a:p>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What you ran (command or sbatch script):</a:t>
            </a:r>
            <a:endParaRPr lang="en-US" sz="1500" dirty="0"/>
          </a:p>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Full error text (copied, not a screenshot):</a:t>
            </a:r>
            <a:endParaRPr lang="en-US" sz="1500" dirty="0"/>
          </a:p>
          <a:p>
            <a:pPr indent="0" marL="0">
              <a:spcAft>
                <a:spcPts val="200"/>
              </a:spcAft>
              <a:buNone/>
            </a:pPr>
            <a:r>
              <a:rPr lang="en-US" sz="1500" dirty="0">
                <a:solidFill>
                  <a:srgbClr val="B8C4CE"/>
                </a:solidFill>
                <a:latin typeface="Courier New" pitchFamily="34" charset="0"/>
                <a:ea typeface="Courier New" pitchFamily="34" charset="-122"/>
                <a:cs typeface="Courier New" pitchFamily="34" charset="-120"/>
              </a:rPr>
              <a:t>Image you used, if any:</a:t>
            </a:r>
            <a:endParaRPr lang="en-US" sz="1500" dirty="0"/>
          </a:p>
        </p:txBody>
      </p:sp>
      <p:sp>
        <p:nvSpPr>
          <p:cNvPr id="5" name="followup-0-circle"/>
          <p:cNvSpPr/>
          <p:nvPr/>
        </p:nvSpPr>
        <p:spPr>
          <a:xfrm>
            <a:off x="7589520" y="1417320"/>
            <a:ext cx="685800" cy="685800"/>
          </a:xfrm>
          <a:prstGeom prst="ellipse">
            <a:avLst/>
          </a:prstGeom>
          <a:solidFill>
            <a:srgbClr val="2F6E9E"/>
          </a:solidFill>
          <a:ln/>
        </p:spPr>
      </p:sp>
      <p:pic>
        <p:nvPicPr>
          <p:cNvPr id="6" name="followup-0-icon" descr="followup-0">    </p:cNvPr>
          <p:cNvPicPr>
            <a:picLocks noChangeAspect="1"/>
          </p:cNvPicPr>
          <p:nvPr/>
        </p:nvPicPr>
        <p:blipFill>
          <a:blip r:embed="rId1"/>
          <a:stretch>
            <a:fillRect/>
          </a:stretch>
        </p:blipFill>
        <p:spPr>
          <a:xfrm>
            <a:off x="7754112" y="1581912"/>
            <a:ext cx="356616" cy="356616"/>
          </a:xfrm>
          <a:prstGeom prst="rect">
            <a:avLst/>
          </a:prstGeom>
        </p:spPr>
      </p:pic>
      <p:sp>
        <p:nvSpPr>
          <p:cNvPr id="7" name="Text 4"/>
          <p:cNvSpPr txBox="1"/>
          <p:nvPr/>
        </p:nvSpPr>
        <p:spPr>
          <a:xfrm>
            <a:off x="8458200" y="1371600"/>
            <a:ext cx="3154680" cy="411480"/>
          </a:xfrm>
          <a:prstGeom prst="rect">
            <a:avLst/>
          </a:prstGeom>
          <a:noFill/>
          <a:ln/>
        </p:spPr>
        <p:txBody>
          <a:bodyPr wrap="square" lIns="0" tIns="0" rIns="0" bIns="0" rtlCol="0" anchor="ctr"/>
          <a:lstStyle/>
          <a:p>
            <a:pPr indent="0" marL="0">
              <a:buNone/>
            </a:pPr>
            <a:r>
              <a:rPr lang="en-US" sz="1800" b="1" dirty="0">
                <a:solidFill>
                  <a:schemeClr val="tx1"/>
                </a:solidFill>
              </a:rPr>
              <a:t>Becomes an RCC ticket</a:t>
            </a:r>
            <a:endParaRPr lang="en-US" sz="1800" dirty="0"/>
          </a:p>
        </p:txBody>
      </p:sp>
      <p:sp>
        <p:nvSpPr>
          <p:cNvPr id="8" name="Text 5"/>
          <p:cNvSpPr txBox="1"/>
          <p:nvPr/>
        </p:nvSpPr>
        <p:spPr>
          <a:xfrm>
            <a:off x="8458200" y="1783080"/>
            <a:ext cx="3154680" cy="685800"/>
          </a:xfrm>
          <a:prstGeom prst="rect">
            <a:avLst/>
          </a:prstGeom>
          <a:noFill/>
          <a:ln/>
        </p:spPr>
        <p:txBody>
          <a:bodyPr wrap="square" lIns="0" tIns="0" rIns="0" bIns="0" rtlCol="0" anchor="t"/>
          <a:lstStyle/>
          <a:p>
            <a:pPr indent="0" marL="0">
              <a:buNone/>
            </a:pPr>
            <a:r>
              <a:rPr lang="en-US" sz="1500" dirty="0">
                <a:solidFill>
                  <a:schemeClr val="tx1"/>
                </a:solidFill>
              </a:rPr>
              <a:t>Nothing gets lost, and other RCC staff can pick it up.</a:t>
            </a:r>
            <a:endParaRPr lang="en-US" sz="1500" dirty="0"/>
          </a:p>
        </p:txBody>
      </p:sp>
      <p:sp>
        <p:nvSpPr>
          <p:cNvPr id="9" name="followup-1-circle"/>
          <p:cNvSpPr/>
          <p:nvPr/>
        </p:nvSpPr>
        <p:spPr>
          <a:xfrm>
            <a:off x="7589520" y="2606040"/>
            <a:ext cx="685800" cy="685800"/>
          </a:xfrm>
          <a:prstGeom prst="ellipse">
            <a:avLst/>
          </a:prstGeom>
          <a:solidFill>
            <a:srgbClr val="4E8A3C"/>
          </a:solidFill>
          <a:ln/>
        </p:spPr>
      </p:sp>
      <p:pic>
        <p:nvPicPr>
          <p:cNvPr id="10" name="followup-1-icon" descr="followup-1">    </p:cNvPr>
          <p:cNvPicPr>
            <a:picLocks noChangeAspect="1"/>
          </p:cNvPicPr>
          <p:nvPr/>
        </p:nvPicPr>
        <p:blipFill>
          <a:blip r:embed="rId2"/>
          <a:stretch>
            <a:fillRect/>
          </a:stretch>
        </p:blipFill>
        <p:spPr>
          <a:xfrm>
            <a:off x="7754112" y="2770632"/>
            <a:ext cx="356616" cy="356616"/>
          </a:xfrm>
          <a:prstGeom prst="rect">
            <a:avLst/>
          </a:prstGeom>
        </p:spPr>
      </p:pic>
      <p:sp>
        <p:nvSpPr>
          <p:cNvPr id="11" name="Text 7"/>
          <p:cNvSpPr txBox="1"/>
          <p:nvPr/>
        </p:nvSpPr>
        <p:spPr>
          <a:xfrm>
            <a:off x="8458200" y="2560320"/>
            <a:ext cx="3154680" cy="411480"/>
          </a:xfrm>
          <a:prstGeom prst="rect">
            <a:avLst/>
          </a:prstGeom>
          <a:noFill/>
          <a:ln/>
        </p:spPr>
        <p:txBody>
          <a:bodyPr wrap="square" lIns="0" tIns="0" rIns="0" bIns="0" rtlCol="0" anchor="ctr"/>
          <a:lstStyle/>
          <a:p>
            <a:pPr indent="0" marL="0">
              <a:buNone/>
            </a:pPr>
            <a:r>
              <a:rPr lang="en-US" sz="1800" b="1" dirty="0">
                <a:solidFill>
                  <a:schemeClr val="tx1"/>
                </a:solidFill>
              </a:rPr>
              <a:t>Follow-up this week</a:t>
            </a:r>
            <a:endParaRPr lang="en-US" sz="1800" dirty="0"/>
          </a:p>
        </p:txBody>
      </p:sp>
      <p:sp>
        <p:nvSpPr>
          <p:cNvPr id="12" name="Text 8"/>
          <p:cNvSpPr txBox="1"/>
          <p:nvPr/>
        </p:nvSpPr>
        <p:spPr>
          <a:xfrm>
            <a:off x="8458200" y="2971800"/>
            <a:ext cx="3154680" cy="685800"/>
          </a:xfrm>
          <a:prstGeom prst="rect">
            <a:avLst/>
          </a:prstGeom>
          <a:noFill/>
          <a:ln/>
        </p:spPr>
        <p:txBody>
          <a:bodyPr wrap="square" lIns="0" tIns="0" rIns="0" bIns="0" rtlCol="0" anchor="t"/>
          <a:lstStyle/>
          <a:p>
            <a:pPr indent="0" marL="0">
              <a:buNone/>
            </a:pPr>
            <a:r>
              <a:rPr lang="en-US" sz="1500" dirty="0">
                <a:solidFill>
                  <a:schemeClr val="tx1"/>
                </a:solidFill>
              </a:rPr>
              <a:t>Similar cases get one shared answer or a short clinic.</a:t>
            </a:r>
            <a:endParaRPr lang="en-US" sz="1500" dirty="0"/>
          </a:p>
        </p:txBody>
      </p:sp>
      <p:sp>
        <p:nvSpPr>
          <p:cNvPr id="13" name="followup-2-circle"/>
          <p:cNvSpPr/>
          <p:nvPr/>
        </p:nvSpPr>
        <p:spPr>
          <a:xfrm>
            <a:off x="7589520" y="3794760"/>
            <a:ext cx="685800" cy="685800"/>
          </a:xfrm>
          <a:prstGeom prst="ellipse">
            <a:avLst/>
          </a:prstGeom>
          <a:solidFill>
            <a:srgbClr val="E0731F"/>
          </a:solidFill>
          <a:ln/>
        </p:spPr>
      </p:sp>
      <p:pic>
        <p:nvPicPr>
          <p:cNvPr id="14" name="followup-2-icon" descr="followup-2">    </p:cNvPr>
          <p:cNvPicPr>
            <a:picLocks noChangeAspect="1"/>
          </p:cNvPicPr>
          <p:nvPr/>
        </p:nvPicPr>
        <p:blipFill>
          <a:blip r:embed="rId3"/>
          <a:stretch>
            <a:fillRect/>
          </a:stretch>
        </p:blipFill>
        <p:spPr>
          <a:xfrm>
            <a:off x="7754112" y="3959352"/>
            <a:ext cx="356616" cy="356616"/>
          </a:xfrm>
          <a:prstGeom prst="rect">
            <a:avLst/>
          </a:prstGeom>
        </p:spPr>
      </p:pic>
      <p:sp>
        <p:nvSpPr>
          <p:cNvPr id="15" name="Text 10"/>
          <p:cNvSpPr txBox="1"/>
          <p:nvPr/>
        </p:nvSpPr>
        <p:spPr>
          <a:xfrm>
            <a:off x="8458200" y="3749040"/>
            <a:ext cx="3154680" cy="411480"/>
          </a:xfrm>
          <a:prstGeom prst="rect">
            <a:avLst/>
          </a:prstGeom>
          <a:noFill/>
          <a:ln/>
        </p:spPr>
        <p:txBody>
          <a:bodyPr wrap="square" lIns="0" tIns="0" rIns="0" bIns="0" rtlCol="0" anchor="ctr"/>
          <a:lstStyle/>
          <a:p>
            <a:pPr indent="0" marL="0">
              <a:buNone/>
            </a:pPr>
            <a:r>
              <a:rPr lang="en-US" sz="1800" b="1" dirty="0">
                <a:solidFill>
                  <a:schemeClr val="tx1"/>
                </a:solidFill>
              </a:rPr>
              <a:t>Quick ones at the break</a:t>
            </a:r>
            <a:endParaRPr lang="en-US" sz="1800" dirty="0"/>
          </a:p>
        </p:txBody>
      </p:sp>
      <p:sp>
        <p:nvSpPr>
          <p:cNvPr id="16" name="Text 11"/>
          <p:cNvSpPr txBox="1"/>
          <p:nvPr/>
        </p:nvSpPr>
        <p:spPr>
          <a:xfrm>
            <a:off x="8458200" y="4160520"/>
            <a:ext cx="3154680" cy="685800"/>
          </a:xfrm>
          <a:prstGeom prst="rect">
            <a:avLst/>
          </a:prstGeom>
          <a:noFill/>
          <a:ln/>
        </p:spPr>
        <p:txBody>
          <a:bodyPr wrap="square" lIns="0" tIns="0" rIns="0" bIns="0" rtlCol="0" anchor="t"/>
          <a:lstStyle/>
          <a:p>
            <a:pPr indent="0" marL="0">
              <a:buNone/>
            </a:pPr>
            <a:r>
              <a:rPr lang="en-US" sz="1500" dirty="0">
                <a:solidFill>
                  <a:schemeClr val="tx1"/>
                </a:solidFill>
              </a:rPr>
              <a:t>If it takes under two minutes, ask me in person.</a:t>
            </a:r>
            <a:endParaRPr lang="en-US" sz="1500" dirty="0"/>
          </a:p>
        </p:txBody>
      </p:sp>
      <p:sp>
        <p:nvSpPr>
          <p:cNvPr id="17" name="followup-address"/>
          <p:cNvSpPr txBox="1"/>
          <p:nvPr/>
        </p:nvSpPr>
        <p:spPr>
          <a:xfrm>
            <a:off x="548640" y="5074920"/>
            <a:ext cx="11064240" cy="640080"/>
          </a:xfrm>
          <a:prstGeom prst="rect">
            <a:avLst/>
          </a:prstGeom>
          <a:noFill/>
          <a:ln/>
        </p:spPr>
        <p:txBody>
          <a:bodyPr wrap="square" lIns="0" tIns="0" rIns="0" bIns="0" rtlCol="0" anchor="ctr"/>
          <a:lstStyle/>
          <a:p>
            <a:pPr indent="0" marL="0">
              <a:buNone/>
            </a:pPr>
            <a:r>
              <a:rPr lang="en-US" sz="2800" b="1" dirty="0">
                <a:solidFill>
                  <a:schemeClr val="accent1"/>
                </a:solidFill>
              </a:rPr>
              <a:t>help@rcc.uchicago.edu</a:t>
            </a:r>
            <a:r>
              <a:rPr lang="en-US" sz="2800" dirty="0">
                <a:solidFill>
                  <a:schemeClr val="tx1"/>
                </a:solidFill>
              </a:rPr>
              <a:t>   ·   subject: </a:t>
            </a:r>
            <a:r>
              <a:rPr lang="en-US" sz="2800" b="1" dirty="0">
                <a:solidFill>
                  <a:schemeClr val="accent1"/>
                </a:solidFill>
              </a:rPr>
              <a:t>[E4S workshop] …</a:t>
            </a:r>
            <a:endParaRPr lang="en-US" sz="2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96A3"/>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E4S Workshop">
  <a:themeElements>
    <a:clrScheme name="E4S Workshop">
      <a:dk1>
        <a:srgbClr val="1B2631"/>
      </a:dk1>
      <a:lt1>
        <a:srgbClr val="FFFFFF"/>
      </a:lt1>
      <a:dk2>
        <a:srgbClr val="1F2D3A"/>
      </a:dk2>
      <a:lt2>
        <a:srgbClr val="EEF2F5"/>
      </a:lt2>
      <a:accent1>
        <a:srgbClr val="E0731F"/>
      </a:accent1>
      <a:accent2>
        <a:srgbClr val="4E8A3C"/>
      </a:accent2>
      <a:accent3>
        <a:srgbClr val="800000"/>
      </a:accent3>
      <a:accent4>
        <a:srgbClr val="2F6E9E"/>
      </a:accent4>
      <a:accent5>
        <a:srgbClr val="8996A3"/>
      </a:accent5>
      <a:accent6>
        <a:srgbClr val="F0B429"/>
      </a:accent6>
      <a:hlink>
        <a:srgbClr val="2F6E9E"/>
      </a:hlink>
      <a:folHlink>
        <a:srgbClr val="6B4E9B"/>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Containers for HPC: Pre-built Scientific Software with E4S</dc:title>
  <dc:subject>PptxGenJS Presentation</dc:subject>
  <dc:creator>Research Computing Center, University of Chicago</dc:creator>
  <cp:lastModifiedBy>Research Computing Center, University of Chicago</cp:lastModifiedBy>
  <cp:revision>1</cp:revision>
  <dcterms:created xsi:type="dcterms:W3CDTF">2026-10-28T21:57:05Z</dcterms:created>
  <dcterms:modified xsi:type="dcterms:W3CDTF">2026-10-28T21:57:05Z</dcterms:modified>
</cp:coreProperties>
</file>